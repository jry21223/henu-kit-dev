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Lst>
  <p:notesMasterIdLst>
    <p:notesMasterId r:id="rId118"/>
  </p:notesMasterIdLst>
  <p:sldIdLst>
    <p:sldId id="580" r:id="rId3"/>
    <p:sldId id="472" r:id="rId4"/>
    <p:sldId id="474" r:id="rId5"/>
    <p:sldId id="473" r:id="rId6"/>
    <p:sldId id="614" r:id="rId7"/>
    <p:sldId id="475" r:id="rId8"/>
    <p:sldId id="476" r:id="rId9"/>
    <p:sldId id="477" r:id="rId10"/>
    <p:sldId id="478" r:id="rId11"/>
    <p:sldId id="479" r:id="rId12"/>
    <p:sldId id="480" r:id="rId13"/>
    <p:sldId id="481" r:id="rId14"/>
    <p:sldId id="482" r:id="rId15"/>
    <p:sldId id="483" r:id="rId16"/>
    <p:sldId id="484" r:id="rId17"/>
    <p:sldId id="485" r:id="rId18"/>
    <p:sldId id="486" r:id="rId19"/>
    <p:sldId id="487" r:id="rId20"/>
    <p:sldId id="488" r:id="rId21"/>
    <p:sldId id="489" r:id="rId22"/>
    <p:sldId id="490" r:id="rId23"/>
    <p:sldId id="493" r:id="rId24"/>
    <p:sldId id="494" r:id="rId25"/>
    <p:sldId id="496" r:id="rId26"/>
    <p:sldId id="498" r:id="rId27"/>
    <p:sldId id="499" r:id="rId28"/>
    <p:sldId id="500" r:id="rId29"/>
    <p:sldId id="501" r:id="rId30"/>
    <p:sldId id="502" r:id="rId31"/>
    <p:sldId id="503" r:id="rId32"/>
    <p:sldId id="504" r:id="rId33"/>
    <p:sldId id="505" r:id="rId34"/>
    <p:sldId id="506" r:id="rId35"/>
    <p:sldId id="507" r:id="rId36"/>
    <p:sldId id="508" r:id="rId37"/>
    <p:sldId id="509" r:id="rId38"/>
    <p:sldId id="510" r:id="rId39"/>
    <p:sldId id="512" r:id="rId40"/>
    <p:sldId id="513" r:id="rId41"/>
    <p:sldId id="515" r:id="rId42"/>
    <p:sldId id="516" r:id="rId43"/>
    <p:sldId id="517" r:id="rId44"/>
    <p:sldId id="575" r:id="rId45"/>
    <p:sldId id="518" r:id="rId46"/>
    <p:sldId id="576" r:id="rId47"/>
    <p:sldId id="519" r:id="rId48"/>
    <p:sldId id="577" r:id="rId49"/>
    <p:sldId id="578" r:id="rId50"/>
    <p:sldId id="520" r:id="rId51"/>
    <p:sldId id="579" r:id="rId52"/>
    <p:sldId id="521" r:id="rId53"/>
    <p:sldId id="522" r:id="rId54"/>
    <p:sldId id="527" r:id="rId55"/>
    <p:sldId id="626" r:id="rId56"/>
    <p:sldId id="637" r:id="rId57"/>
    <p:sldId id="638" r:id="rId58"/>
    <p:sldId id="639" r:id="rId59"/>
    <p:sldId id="640" r:id="rId60"/>
    <p:sldId id="641" r:id="rId61"/>
    <p:sldId id="642" r:id="rId62"/>
    <p:sldId id="643" r:id="rId63"/>
    <p:sldId id="644" r:id="rId64"/>
    <p:sldId id="645" r:id="rId65"/>
    <p:sldId id="646" r:id="rId66"/>
    <p:sldId id="647" r:id="rId67"/>
    <p:sldId id="648" r:id="rId68"/>
    <p:sldId id="649" r:id="rId69"/>
    <p:sldId id="650" r:id="rId70"/>
    <p:sldId id="651" r:id="rId71"/>
    <p:sldId id="652" r:id="rId72"/>
    <p:sldId id="653" r:id="rId73"/>
    <p:sldId id="654" r:id="rId74"/>
    <p:sldId id="655" r:id="rId75"/>
    <p:sldId id="656" r:id="rId76"/>
    <p:sldId id="657" r:id="rId77"/>
    <p:sldId id="658" r:id="rId78"/>
    <p:sldId id="659" r:id="rId79"/>
    <p:sldId id="660" r:id="rId80"/>
    <p:sldId id="528" r:id="rId81"/>
    <p:sldId id="529" r:id="rId82"/>
    <p:sldId id="530" r:id="rId83"/>
    <p:sldId id="567" r:id="rId84"/>
    <p:sldId id="561" r:id="rId85"/>
    <p:sldId id="562" r:id="rId86"/>
    <p:sldId id="563" r:id="rId87"/>
    <p:sldId id="564" r:id="rId88"/>
    <p:sldId id="565" r:id="rId89"/>
    <p:sldId id="628" r:id="rId90"/>
    <p:sldId id="566" r:id="rId91"/>
    <p:sldId id="568" r:id="rId92"/>
    <p:sldId id="569" r:id="rId93"/>
    <p:sldId id="570" r:id="rId94"/>
    <p:sldId id="571" r:id="rId95"/>
    <p:sldId id="629" r:id="rId96"/>
    <p:sldId id="573" r:id="rId97"/>
    <p:sldId id="630" r:id="rId98"/>
    <p:sldId id="631" r:id="rId99"/>
    <p:sldId id="632" r:id="rId100"/>
    <p:sldId id="574" r:id="rId101"/>
    <p:sldId id="634" r:id="rId102"/>
    <p:sldId id="633" r:id="rId103"/>
    <p:sldId id="635" r:id="rId104"/>
    <p:sldId id="636" r:id="rId105"/>
    <p:sldId id="661" r:id="rId106"/>
    <p:sldId id="604" r:id="rId107"/>
    <p:sldId id="605" r:id="rId108"/>
    <p:sldId id="606" r:id="rId109"/>
    <p:sldId id="607" r:id="rId110"/>
    <p:sldId id="608" r:id="rId111"/>
    <p:sldId id="609" r:id="rId112"/>
    <p:sldId id="610" r:id="rId113"/>
    <p:sldId id="623" r:id="rId114"/>
    <p:sldId id="612" r:id="rId115"/>
    <p:sldId id="613" r:id="rId116"/>
    <p:sldId id="611" r:id="rId117"/>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xmlns="">
        <p15:guide id="1" orient="horz" pos="217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63"/>
    <p:restoredTop sz="88740"/>
  </p:normalViewPr>
  <p:slideViewPr>
    <p:cSldViewPr showGuides="1">
      <p:cViewPr varScale="1">
        <p:scale>
          <a:sx n="79" d="100"/>
          <a:sy n="79" d="100"/>
        </p:scale>
        <p:origin x="-1068" y="-84"/>
      </p:cViewPr>
      <p:guideLst>
        <p:guide orient="horz" pos="2172"/>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24FF1101-EAE4-462A-A8A0-103B325BF8A0}" type="datetimeFigureOut">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2026/6/3</a:t>
            </a:fld>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4C878C65-35A1-4F70-B928-DB5821400C07}" type="slidenum">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321033905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solidFill>
                  <a:srgbClr val="000000"/>
                </a:solidFill>
                <a:latin typeface="Arial" panose="020B0604020202020204" pitchFamily="34" charset="0"/>
              </a:rPr>
              <a:t>2</a:t>
            </a:fld>
            <a:endParaRPr lang="en-US" altLang="zh-CN" sz="1200" dirty="0">
              <a:solidFill>
                <a:srgbClr val="000000"/>
              </a:solidFill>
              <a:latin typeface="Arial" panose="020B0604020202020204" pitchFamily="34" charset="0"/>
            </a:endParaRPr>
          </a:p>
        </p:txBody>
      </p:sp>
      <p:sp>
        <p:nvSpPr>
          <p:cNvPr id="10242" name="Rectangle 2"/>
          <p:cNvSpPr>
            <a:spLocks noGrp="1" noRot="1" noChangeAspect="1" noTextEdit="1"/>
          </p:cNvSpPr>
          <p:nvPr>
            <p:ph type="sldImg"/>
          </p:nvPr>
        </p:nvSpPr>
        <p:spPr>
          <a:ln>
            <a:solidFill>
              <a:srgbClr val="000000"/>
            </a:solidFill>
            <a:miter/>
          </a:ln>
        </p:spPr>
      </p:sp>
      <p:sp>
        <p:nvSpPr>
          <p:cNvPr id="10243" name="Rectangle 3"/>
          <p:cNvSpPr>
            <a:spLocks noGrp="1"/>
          </p:cNvSpPr>
          <p:nvPr>
            <p:ph type="body"/>
          </p:nvPr>
        </p:nvSpPr>
        <p:spPr>
          <a:noFill/>
          <a:ln>
            <a:noFill/>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幻灯片图像占位符 1"/>
          <p:cNvSpPr>
            <a:spLocks noGrp="1" noRot="1" noChangeAspect="1" noTextEdit="1"/>
          </p:cNvSpPr>
          <p:nvPr>
            <p:ph type="sldImg"/>
          </p:nvPr>
        </p:nvSpPr>
        <p:spPr>
          <a:ln>
            <a:solidFill>
              <a:srgbClr val="000000"/>
            </a:solidFill>
            <a:miter/>
          </a:ln>
        </p:spPr>
      </p:sp>
      <p:sp>
        <p:nvSpPr>
          <p:cNvPr id="26626" name="备注占位符 2"/>
          <p:cNvSpPr>
            <a:spLocks noGrp="1"/>
          </p:cNvSpPr>
          <p:nvPr>
            <p:ph type="body"/>
          </p:nvPr>
        </p:nvSpPr>
        <p:spPr>
          <a:noFill/>
          <a:ln>
            <a:noFill/>
          </a:ln>
        </p:spPr>
        <p:txBody>
          <a:bodyPr wrap="square" lIns="91440" tIns="45720" rIns="91440" bIns="45720" anchor="t" anchorCtr="0"/>
          <a:lstStyle/>
          <a:p>
            <a:pPr lvl="0"/>
            <a:endParaRPr lang="zh-CN" altLang="en-US" dirty="0"/>
          </a:p>
        </p:txBody>
      </p:sp>
      <p:sp>
        <p:nvSpPr>
          <p:cNvPr id="26627"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t>17</a:t>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p:cNvSpPr>
            <a:spLocks noGrp="1" noRot="1" noChangeAspect="1" noTextEdit="1"/>
          </p:cNvSpPr>
          <p:nvPr>
            <p:ph type="sldImg"/>
          </p:nvPr>
        </p:nvSpPr>
        <p:spPr>
          <a:ln>
            <a:solidFill>
              <a:srgbClr val="000000"/>
            </a:solidFill>
            <a:miter/>
          </a:ln>
        </p:spPr>
      </p:sp>
      <p:sp>
        <p:nvSpPr>
          <p:cNvPr id="28674" name="备注占位符 2"/>
          <p:cNvSpPr>
            <a:spLocks noGrp="1"/>
          </p:cNvSpPr>
          <p:nvPr>
            <p:ph type="body"/>
          </p:nvPr>
        </p:nvSpPr>
        <p:spPr>
          <a:noFill/>
          <a:ln>
            <a:noFill/>
          </a:ln>
        </p:spPr>
        <p:txBody>
          <a:bodyPr wrap="square" lIns="91440" tIns="45720" rIns="91440" bIns="45720" anchor="t" anchorCtr="0"/>
          <a:lstStyle/>
          <a:p>
            <a:pPr lvl="0"/>
            <a:r>
              <a:rPr lang="zh-CN" altLang="en-US" dirty="0"/>
              <a:t>需求分析阶段：综合各个用户的应用需求。据库设计过程中的各级模式（续） 数据库设计不同阶段形成的数据库各级模式概念设计阶段：形成独立于机器特点，独立于各个数据库管理系统产品的概念模式（</a:t>
            </a:r>
            <a:r>
              <a:rPr lang="en-US" altLang="zh-CN" dirty="0"/>
              <a:t>E-R</a:t>
            </a:r>
            <a:r>
              <a:rPr lang="zh-CN" altLang="en-US" dirty="0"/>
              <a:t>图）</a:t>
            </a:r>
            <a:endParaRPr lang="en-US" altLang="zh-CN" dirty="0"/>
          </a:p>
          <a:p>
            <a:pPr lvl="0"/>
            <a:r>
              <a:rPr lang="zh-CN" altLang="en-US" dirty="0"/>
              <a:t>逻辑设计阶段：</a:t>
            </a:r>
            <a:r>
              <a:rPr lang="en-US" altLang="zh-CN" dirty="0"/>
              <a:t>1. </a:t>
            </a:r>
            <a:r>
              <a:rPr lang="zh-CN" altLang="en-US" dirty="0"/>
              <a:t>首先将</a:t>
            </a:r>
            <a:r>
              <a:rPr lang="en-US" altLang="zh-CN" dirty="0"/>
              <a:t>E-R</a:t>
            </a:r>
            <a:r>
              <a:rPr lang="zh-CN" altLang="en-US" dirty="0"/>
              <a:t>图转换成具体的数据库产品支持的数据模型，如关系模型，形成数据库逻辑模式</a:t>
            </a:r>
            <a:r>
              <a:rPr lang="en-US" altLang="zh-CN" dirty="0"/>
              <a:t>2. </a:t>
            </a:r>
            <a:r>
              <a:rPr lang="zh-CN" altLang="en-US" dirty="0"/>
              <a:t>然后根据用户处理的要求、安全性的考虑，在基本表的基础上再建立必要的视图（</a:t>
            </a:r>
            <a:r>
              <a:rPr lang="en-US" altLang="zh-CN" dirty="0"/>
              <a:t>View</a:t>
            </a:r>
            <a:r>
              <a:rPr lang="zh-CN" altLang="en-US" dirty="0"/>
              <a:t>），形成数据的外模式</a:t>
            </a:r>
            <a:endParaRPr lang="en-US" altLang="zh-CN" dirty="0"/>
          </a:p>
          <a:p>
            <a:pPr lvl="0"/>
            <a:r>
              <a:rPr lang="zh-CN" altLang="en-US" dirty="0"/>
              <a:t>阶段形成的数据库各级模式物理设计阶段：根据数据库管理系统特点和处理的需要，进行物理存储安排，建立索引，形成数据库内模式</a:t>
            </a:r>
          </a:p>
        </p:txBody>
      </p:sp>
      <p:sp>
        <p:nvSpPr>
          <p:cNvPr id="28675"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t>18</a:t>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幻灯片图像占位符 1"/>
          <p:cNvSpPr>
            <a:spLocks noGrp="1" noRot="1" noChangeAspect="1" noTextEdit="1"/>
          </p:cNvSpPr>
          <p:nvPr>
            <p:ph type="sldImg"/>
          </p:nvPr>
        </p:nvSpPr>
        <p:spPr>
          <a:ln>
            <a:solidFill>
              <a:srgbClr val="000000"/>
            </a:solidFill>
            <a:miter/>
          </a:ln>
        </p:spPr>
      </p:sp>
      <p:sp>
        <p:nvSpPr>
          <p:cNvPr id="30722" name="备注占位符 2"/>
          <p:cNvSpPr>
            <a:spLocks noGrp="1"/>
          </p:cNvSpPr>
          <p:nvPr>
            <p:ph type="body"/>
          </p:nvPr>
        </p:nvSpPr>
        <p:spPr>
          <a:noFill/>
          <a:ln>
            <a:noFill/>
          </a:ln>
        </p:spPr>
        <p:txBody>
          <a:bodyPr wrap="square" lIns="91440" tIns="45720" rIns="91440" bIns="45720" anchor="t" anchorCtr="0"/>
          <a:lstStyle/>
          <a:p>
            <a:pPr lvl="0"/>
            <a:endParaRPr lang="zh-CN" altLang="en-US" dirty="0"/>
          </a:p>
        </p:txBody>
      </p:sp>
      <p:sp>
        <p:nvSpPr>
          <p:cNvPr id="30723"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t>19</a:t>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a:ln>
            <a:solidFill>
              <a:srgbClr val="000000"/>
            </a:solidFill>
            <a:miter/>
          </a:ln>
        </p:spPr>
      </p:sp>
      <p:sp>
        <p:nvSpPr>
          <p:cNvPr id="43010" name="备注占位符 2"/>
          <p:cNvSpPr>
            <a:spLocks noGrp="1"/>
          </p:cNvSpPr>
          <p:nvPr>
            <p:ph type="body"/>
          </p:nvPr>
        </p:nvSpPr>
        <p:spPr>
          <a:noFill/>
          <a:ln>
            <a:noFill/>
          </a:ln>
        </p:spPr>
        <p:txBody>
          <a:bodyPr wrap="square" lIns="91440" tIns="45720" rIns="91440" bIns="45720" anchor="t" anchorCtr="0"/>
          <a:lstStyle/>
          <a:p>
            <a:pPr lvl="0"/>
            <a:r>
              <a:rPr lang="zh-CN" altLang="en-US" dirty="0"/>
              <a:t>这学期要考试的课程，参加监考的老师的信息。</a:t>
            </a:r>
          </a:p>
        </p:txBody>
      </p:sp>
      <p:sp>
        <p:nvSpPr>
          <p:cNvPr id="43011"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t>30</a:t>
            </a:fld>
            <a:endParaRPr lang="zh-CN" alt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幻灯片图像占位符 1"/>
          <p:cNvSpPr>
            <a:spLocks noGrp="1" noRot="1" noChangeAspect="1" noTextEdit="1"/>
          </p:cNvSpPr>
          <p:nvPr>
            <p:ph type="sldImg"/>
          </p:nvPr>
        </p:nvSpPr>
        <p:spPr>
          <a:ln>
            <a:solidFill>
              <a:srgbClr val="000000"/>
            </a:solidFill>
            <a:miter/>
          </a:ln>
        </p:spPr>
      </p:sp>
      <p:sp>
        <p:nvSpPr>
          <p:cNvPr id="49154" name="备注占位符 2"/>
          <p:cNvSpPr>
            <a:spLocks noGrp="1"/>
          </p:cNvSpPr>
          <p:nvPr>
            <p:ph type="body"/>
          </p:nvPr>
        </p:nvSpPr>
        <p:spPr>
          <a:noFill/>
          <a:ln>
            <a:noFill/>
          </a:ln>
        </p:spPr>
        <p:txBody>
          <a:bodyPr wrap="square" lIns="91440" tIns="45720" rIns="91440" bIns="45720" anchor="t" anchorCtr="0"/>
          <a:lstStyle/>
          <a:p>
            <a:pPr lvl="0"/>
            <a:endParaRPr lang="zh-CN" altLang="en-US" dirty="0"/>
          </a:p>
        </p:txBody>
      </p:sp>
      <p:sp>
        <p:nvSpPr>
          <p:cNvPr id="49155"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t>35</a:t>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vmlDrawing" Target="../drawings/vmlDrawing1.vml"/><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vmlDrawing" Target="../drawings/vmlDrawing2.v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074" name="AutoShape 7"/>
          <p:cNvSpPr/>
          <p:nvPr/>
        </p:nvSpPr>
        <p:spPr>
          <a:xfrm>
            <a:off x="914400" y="2393950"/>
            <a:ext cx="10363200" cy="109538"/>
          </a:xfrm>
          <a:custGeom>
            <a:avLst/>
            <a:gdLst/>
            <a:ahLst/>
            <a:cxnLst>
              <a:cxn ang="0">
                <a:pos x="0" y="0"/>
              </a:cxn>
              <a:cxn ang="0">
                <a:pos x="2147483646" y="0"/>
              </a:cxn>
              <a:cxn ang="0">
                <a:pos x="2147483646" y="2147483646"/>
              </a:cxn>
              <a:cxn ang="0">
                <a:pos x="0" y="2147483646"/>
              </a:cxn>
              <a:cxn ang="0">
                <a:pos x="0" y="0"/>
              </a:cxn>
              <a:cxn ang="0">
                <a:pos x="2147483646" y="0"/>
              </a:cxn>
            </a:cxnLst>
            <a:rect l="0" t="0" r="0" b="0"/>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lstStyle/>
          <a:p>
            <a:endParaRPr lang="zh-CN" altLang="en-US"/>
          </a:p>
        </p:txBody>
      </p:sp>
      <p:sp>
        <p:nvSpPr>
          <p:cNvPr id="21506" name="Rectangle 2"/>
          <p:cNvSpPr>
            <a:spLocks noGrp="1" noChangeArrowheads="1"/>
          </p:cNvSpPr>
          <p:nvPr>
            <p:ph type="ctrTitle"/>
          </p:nvPr>
        </p:nvSpPr>
        <p:spPr>
          <a:xfrm>
            <a:off x="914400" y="990600"/>
            <a:ext cx="10363200" cy="1371600"/>
          </a:xfrm>
        </p:spPr>
        <p:txBody>
          <a:bodyPr/>
          <a:lstStyle>
            <a:lvl1pPr>
              <a:defRPr sz="4000"/>
            </a:lvl1pPr>
          </a:lstStyle>
          <a:p>
            <a:pPr fontAlgn="base"/>
            <a:r>
              <a:rPr lang="zh-CN" altLang="en-US" strike="noStrike" noProof="1"/>
              <a:t>单击此处编辑母版标题样式</a:t>
            </a:r>
          </a:p>
        </p:txBody>
      </p:sp>
      <p:sp>
        <p:nvSpPr>
          <p:cNvPr id="21507" name="Rectangle 3"/>
          <p:cNvSpPr>
            <a:spLocks noGrp="1" noChangeArrowheads="1"/>
          </p:cNvSpPr>
          <p:nvPr>
            <p:ph type="subTitle" idx="1"/>
          </p:nvPr>
        </p:nvSpPr>
        <p:spPr>
          <a:xfrm>
            <a:off x="1930400" y="3429000"/>
            <a:ext cx="9347200" cy="1600200"/>
          </a:xfrm>
        </p:spPr>
        <p:txBody>
          <a:bodyPr/>
          <a:lstStyle>
            <a:lvl1pPr marL="0" indent="0">
              <a:buFont typeface="Wingdings" panose="05000000000000000000" pitchFamily="2" charset="2"/>
              <a:buNone/>
              <a:defRPr sz="2800"/>
            </a:lvl1pPr>
          </a:lstStyle>
          <a:p>
            <a:pPr fontAlgn="base"/>
            <a:r>
              <a:rPr lang="zh-CN" altLang="en-US" strike="noStrike" noProof="1"/>
              <a:t>单击此处编辑母版副标题样式</a:t>
            </a:r>
          </a:p>
        </p:txBody>
      </p:sp>
      <p:sp>
        <p:nvSpPr>
          <p:cNvPr id="10" name="Rectangle 4"/>
          <p:cNvSpPr>
            <a:spLocks noGrp="1" noChangeArrowheads="1"/>
          </p:cNvSpPr>
          <p:nvPr>
            <p:ph type="dt" sz="half" idx="2"/>
          </p:nvPr>
        </p:nvSpPr>
        <p:spPr bwMode="auto">
          <a:xfrm>
            <a:off x="914400" y="6248400"/>
            <a:ext cx="2540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 name="Rectangle 5"/>
          <p:cNvSpPr>
            <a:spLocks noGrp="1" noChangeArrowheads="1"/>
          </p:cNvSpPr>
          <p:nvPr>
            <p:ph type="ftr" sz="quarter" idx="3"/>
          </p:nvPr>
        </p:nvSpPr>
        <p:spPr bwMode="auto">
          <a:xfrm>
            <a:off x="4165600" y="6248400"/>
            <a:ext cx="38608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 name="Rectangle 6"/>
          <p:cNvSpPr>
            <a:spLocks noGrp="1" noChangeArrowheads="1"/>
          </p:cNvSpPr>
          <p:nvPr>
            <p:ph type="sldNum" sz="quarter" idx="4"/>
          </p:nvPr>
        </p:nvSpPr>
        <p:spPr bwMode="auto">
          <a:xfrm>
            <a:off x="8737600" y="6248400"/>
            <a:ext cx="2540000" cy="457200"/>
          </a:xfrm>
          <a:prstGeom prst="rect">
            <a:avLst/>
          </a:prstGeom>
          <a:noFill/>
          <a:ln w="9525">
            <a:noFill/>
            <a:miter lim="800000"/>
          </a:ln>
          <a:effectLst/>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941D514F-8983-4510-B771-E83D90B95A94}"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65117" y="304800"/>
            <a:ext cx="2669116" cy="5715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55651" y="304800"/>
            <a:ext cx="7806267" cy="5715000"/>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graphicFrame>
        <p:nvGraphicFramePr>
          <p:cNvPr id="4100" name="Object 1026"/>
          <p:cNvGraphicFramePr>
            <a:graphicFrameLocks noChangeAspect="1"/>
          </p:cNvGraphicFramePr>
          <p:nvPr/>
        </p:nvGraphicFramePr>
        <p:xfrm>
          <a:off x="0" y="0"/>
          <a:ext cx="12192000" cy="1200150"/>
        </p:xfrm>
        <a:graphic>
          <a:graphicData uri="http://schemas.openxmlformats.org/presentationml/2006/ole">
            <mc:AlternateContent xmlns:mc="http://schemas.openxmlformats.org/markup-compatibility/2006">
              <mc:Choice xmlns:v="urn:schemas-microsoft-com:vml" Requires="v">
                <p:oleObj spid="_x0000_s3092" r:id="rId3" imgW="9563100" imgH="1600200" progId="">
                  <p:embed/>
                </p:oleObj>
              </mc:Choice>
              <mc:Fallback>
                <p:oleObj r:id="rId3" imgW="9563100" imgH="1600200" progId="">
                  <p:embed/>
                  <p:pic>
                    <p:nvPicPr>
                      <p:cNvPr id="0" name="图片 3075"/>
                      <p:cNvPicPr/>
                      <p:nvPr/>
                    </p:nvPicPr>
                    <p:blipFill>
                      <a:blip r:embed="rId4"/>
                      <a:stretch>
                        <a:fillRect/>
                      </a:stretch>
                    </p:blipFill>
                    <p:spPr>
                      <a:xfrm>
                        <a:off x="0" y="0"/>
                        <a:ext cx="12192000" cy="1200150"/>
                      </a:xfrm>
                      <a:prstGeom prst="rect">
                        <a:avLst/>
                      </a:prstGeom>
                      <a:noFill/>
                      <a:ln w="38100">
                        <a:noFill/>
                        <a:miter/>
                      </a:ln>
                    </p:spPr>
                  </p:pic>
                </p:oleObj>
              </mc:Fallback>
            </mc:AlternateContent>
          </a:graphicData>
        </a:graphic>
      </p:graphicFrame>
      <p:sp>
        <p:nvSpPr>
          <p:cNvPr id="4101" name="Freeform 1027"/>
          <p:cNvSpPr/>
          <p:nvPr/>
        </p:nvSpPr>
        <p:spPr>
          <a:xfrm>
            <a:off x="-14816" y="280988"/>
            <a:ext cx="12206816" cy="1620837"/>
          </a:xfrm>
          <a:custGeom>
            <a:avLst/>
            <a:gdLst/>
            <a:ahLst/>
            <a:cxnLst>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Lst>
            <a:rect l="0" t="0" r="0" b="0"/>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w="9525">
            <a:noFill/>
          </a:ln>
        </p:spPr>
        <p:txBody>
          <a:bodyPr/>
          <a:lstStyle/>
          <a:p>
            <a:endParaRPr lang="zh-CN" altLang="en-US"/>
          </a:p>
        </p:txBody>
      </p:sp>
      <p:sp>
        <p:nvSpPr>
          <p:cNvPr id="4102" name="Freeform 1028"/>
          <p:cNvSpPr/>
          <p:nvPr/>
        </p:nvSpPr>
        <p:spPr>
          <a:xfrm>
            <a:off x="-27516" y="533400"/>
            <a:ext cx="12215283" cy="10064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w="9525">
            <a:noFill/>
          </a:ln>
        </p:spPr>
        <p:txBody>
          <a:bodyPr/>
          <a:lstStyle/>
          <a:p>
            <a:endParaRPr lang="zh-CN" altLang="en-US"/>
          </a:p>
        </p:txBody>
      </p:sp>
      <p:grpSp>
        <p:nvGrpSpPr>
          <p:cNvPr id="4103" name="Group 1029"/>
          <p:cNvGrpSpPr/>
          <p:nvPr/>
        </p:nvGrpSpPr>
        <p:grpSpPr>
          <a:xfrm>
            <a:off x="10320867" y="347663"/>
            <a:ext cx="516467" cy="366712"/>
            <a:chOff x="4752" y="1200"/>
            <a:chExt cx="288" cy="288"/>
          </a:xfrm>
        </p:grpSpPr>
        <p:sp>
          <p:nvSpPr>
            <p:cNvPr id="13" name="Oval 1030"/>
            <p:cNvSpPr>
              <a:spLocks noChangeArrowheads="1"/>
            </p:cNvSpPr>
            <p:nvPr/>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4" name="Oval 1031"/>
            <p:cNvSpPr>
              <a:spLocks noChangeArrowheads="1"/>
            </p:cNvSpPr>
            <p:nvPr/>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grpSp>
        <p:nvGrpSpPr>
          <p:cNvPr id="4106" name="Group 1032"/>
          <p:cNvGrpSpPr/>
          <p:nvPr/>
        </p:nvGrpSpPr>
        <p:grpSpPr>
          <a:xfrm>
            <a:off x="10871200" y="53975"/>
            <a:ext cx="812800" cy="592138"/>
            <a:chOff x="4992" y="816"/>
            <a:chExt cx="576" cy="576"/>
          </a:xfrm>
        </p:grpSpPr>
        <p:sp>
          <p:nvSpPr>
            <p:cNvPr id="16" name="Oval 1033"/>
            <p:cNvSpPr>
              <a:spLocks noChangeArrowheads="1"/>
            </p:cNvSpPr>
            <p:nvPr/>
          </p:nvSpPr>
          <p:spPr bwMode="gray">
            <a:xfrm>
              <a:off x="4992" y="816"/>
              <a:ext cx="576" cy="576"/>
            </a:xfrm>
            <a:prstGeom prst="ellipse">
              <a:avLst/>
            </a:prstGeom>
            <a:solidFill>
              <a:schemeClr val="accent1">
                <a:alpha val="52940"/>
              </a:scheme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Oval 1034"/>
            <p:cNvSpPr>
              <a:spLocks noChangeArrowheads="1"/>
            </p:cNvSpPr>
            <p:nvPr/>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grpSp>
        <p:nvGrpSpPr>
          <p:cNvPr id="4109" name="Group 1035"/>
          <p:cNvGrpSpPr/>
          <p:nvPr/>
        </p:nvGrpSpPr>
        <p:grpSpPr>
          <a:xfrm>
            <a:off x="228600" y="819150"/>
            <a:ext cx="960967" cy="762000"/>
            <a:chOff x="4992" y="816"/>
            <a:chExt cx="576" cy="576"/>
          </a:xfrm>
        </p:grpSpPr>
        <p:sp>
          <p:nvSpPr>
            <p:cNvPr id="19" name="Oval 1036"/>
            <p:cNvSpPr>
              <a:spLocks noChangeArrowheads="1"/>
            </p:cNvSpPr>
            <p:nvPr/>
          </p:nvSpPr>
          <p:spPr bwMode="gray">
            <a:xfrm>
              <a:off x="4992" y="816"/>
              <a:ext cx="576" cy="576"/>
            </a:xfrm>
            <a:prstGeom prst="ellipse">
              <a:avLst/>
            </a:prstGeom>
            <a:solidFill>
              <a:schemeClr val="tx2">
                <a:alpha val="52940"/>
              </a:scheme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 name="Oval 1037"/>
            <p:cNvSpPr>
              <a:spLocks noChangeArrowheads="1"/>
            </p:cNvSpPr>
            <p:nvPr/>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2" name="标题 1"/>
          <p:cNvSpPr>
            <a:spLocks noGrp="1"/>
          </p:cNvSpPr>
          <p:nvPr>
            <p:ph type="title"/>
          </p:nvPr>
        </p:nvSpPr>
        <p:spPr>
          <a:xfrm>
            <a:off x="1422400" y="533400"/>
            <a:ext cx="10261600" cy="4873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11200" y="1536700"/>
            <a:ext cx="5359400" cy="49403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273800" y="1536700"/>
            <a:ext cx="5359400" cy="239395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273800" y="4083050"/>
            <a:ext cx="5359400" cy="239395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21" name="灯片编号占位符 5"/>
          <p:cNvSpPr>
            <a:spLocks noGrp="1"/>
          </p:cNvSpPr>
          <p:nvPr>
            <p:ph type="sldNum" sz="quarter" idx="4"/>
          </p:nvPr>
        </p:nvSpPr>
        <p:spPr bwMode="auto">
          <a:xfrm>
            <a:off x="5588000" y="6534150"/>
            <a:ext cx="1117600" cy="261938"/>
          </a:xfrm>
          <a:prstGeom prst="rect">
            <a:avLst/>
          </a:prstGeom>
          <a:noFill/>
          <a:ln w="9525">
            <a:noFill/>
            <a:miter lim="800000"/>
          </a:ln>
          <a:effectLst/>
        </p:spPr>
        <p:txBody>
          <a:bodyPr vert="horz" wrap="square" lIns="91440" tIns="45720" rIns="91440" bIns="45720" numCol="1" anchor="t" anchorCtr="0" compatLnSpc="1"/>
          <a:lstStyle>
            <a:lvl1pPr algn="ctr">
              <a:defRPr smtClean="0"/>
            </a:lvl1pPr>
          </a:lstStyle>
          <a:p>
            <a:pPr marL="0" marR="0" lvl="0" indent="0" algn="ctr" defTabSz="914400" rtl="0" eaLnBrk="1" fontAlgn="base" latinLnBrk="0" hangingPunct="1">
              <a:lnSpc>
                <a:spcPct val="100000"/>
              </a:lnSpc>
              <a:spcBef>
                <a:spcPct val="0"/>
              </a:spcBef>
              <a:spcAft>
                <a:spcPct val="0"/>
              </a:spcAft>
              <a:buClrTx/>
              <a:buSzTx/>
              <a:buFontTx/>
              <a:buNone/>
              <a:defRPr/>
            </a:pPr>
            <a:fld id="{188AE2FB-BBD2-4699-AE5E-F02DBAEB0450}"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2" name="日期占位符 6"/>
          <p:cNvSpPr>
            <a:spLocks noGrp="1"/>
          </p:cNvSpPr>
          <p:nvPr>
            <p:ph type="dt" sz="half" idx="12"/>
          </p:nvPr>
        </p:nvSpPr>
        <p:spPr bwMode="auto">
          <a:xfrm>
            <a:off x="508000" y="6534150"/>
            <a:ext cx="2540000" cy="261938"/>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3"/>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074" name="AutoShape 7"/>
          <p:cNvSpPr/>
          <p:nvPr/>
        </p:nvSpPr>
        <p:spPr>
          <a:xfrm>
            <a:off x="914400" y="2393950"/>
            <a:ext cx="10363200" cy="109538"/>
          </a:xfrm>
          <a:custGeom>
            <a:avLst/>
            <a:gdLst/>
            <a:ahLst/>
            <a:cxnLst>
              <a:cxn ang="0">
                <a:pos x="0" y="0"/>
              </a:cxn>
              <a:cxn ang="0">
                <a:pos x="2147483646" y="0"/>
              </a:cxn>
              <a:cxn ang="0">
                <a:pos x="2147483646" y="2147483646"/>
              </a:cxn>
              <a:cxn ang="0">
                <a:pos x="0" y="2147483646"/>
              </a:cxn>
              <a:cxn ang="0">
                <a:pos x="0" y="0"/>
              </a:cxn>
              <a:cxn ang="0">
                <a:pos x="2147483646" y="0"/>
              </a:cxn>
            </a:cxnLst>
            <a:rect l="0" t="0" r="0" b="0"/>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lstStyle/>
          <a:p>
            <a:endParaRPr lang="zh-CN" altLang="en-US" sz="1800"/>
          </a:p>
        </p:txBody>
      </p:sp>
      <p:sp>
        <p:nvSpPr>
          <p:cNvPr id="21506" name="Rectangle 2"/>
          <p:cNvSpPr>
            <a:spLocks noGrp="1" noChangeArrowheads="1"/>
          </p:cNvSpPr>
          <p:nvPr>
            <p:ph type="ctrTitle"/>
          </p:nvPr>
        </p:nvSpPr>
        <p:spPr>
          <a:xfrm>
            <a:off x="914400" y="990600"/>
            <a:ext cx="10363200" cy="1371600"/>
          </a:xfrm>
        </p:spPr>
        <p:txBody>
          <a:bodyPr/>
          <a:lstStyle>
            <a:lvl1pPr>
              <a:defRPr sz="4000"/>
            </a:lvl1pPr>
          </a:lstStyle>
          <a:p>
            <a:pPr fontAlgn="base"/>
            <a:r>
              <a:rPr lang="zh-CN" altLang="en-US" strike="noStrike" noProof="1"/>
              <a:t>单击此处编辑母版标题样式</a:t>
            </a:r>
          </a:p>
        </p:txBody>
      </p:sp>
      <p:sp>
        <p:nvSpPr>
          <p:cNvPr id="21507" name="Rectangle 3"/>
          <p:cNvSpPr>
            <a:spLocks noGrp="1" noChangeArrowheads="1"/>
          </p:cNvSpPr>
          <p:nvPr>
            <p:ph type="subTitle" idx="1"/>
          </p:nvPr>
        </p:nvSpPr>
        <p:spPr>
          <a:xfrm>
            <a:off x="1930400" y="3429000"/>
            <a:ext cx="9347200" cy="1600200"/>
          </a:xfrm>
        </p:spPr>
        <p:txBody>
          <a:bodyPr/>
          <a:lstStyle>
            <a:lvl1pPr marL="0" indent="0">
              <a:buFont typeface="Wingdings" panose="05000000000000000000" pitchFamily="2" charset="2"/>
              <a:buNone/>
              <a:defRPr sz="2800"/>
            </a:lvl1pPr>
          </a:lstStyle>
          <a:p>
            <a:pPr fontAlgn="base"/>
            <a:r>
              <a:rPr lang="zh-CN" altLang="en-US" strike="noStrike" noProof="1"/>
              <a:t>单击此处编辑母版副标题样式</a:t>
            </a:r>
          </a:p>
        </p:txBody>
      </p:sp>
      <p:sp>
        <p:nvSpPr>
          <p:cNvPr id="10" name="Rectangle 4"/>
          <p:cNvSpPr>
            <a:spLocks noGrp="1" noChangeArrowheads="1"/>
          </p:cNvSpPr>
          <p:nvPr>
            <p:ph type="dt" sz="half" idx="2"/>
          </p:nvPr>
        </p:nvSpPr>
        <p:spPr bwMode="auto">
          <a:xfrm>
            <a:off x="914400" y="6248400"/>
            <a:ext cx="2540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 name="Rectangle 5"/>
          <p:cNvSpPr>
            <a:spLocks noGrp="1" noChangeArrowheads="1"/>
          </p:cNvSpPr>
          <p:nvPr>
            <p:ph type="ftr" sz="quarter" idx="3"/>
          </p:nvPr>
        </p:nvSpPr>
        <p:spPr bwMode="auto">
          <a:xfrm>
            <a:off x="4165600" y="6248400"/>
            <a:ext cx="38608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 name="Rectangle 6"/>
          <p:cNvSpPr>
            <a:spLocks noGrp="1" noChangeArrowheads="1"/>
          </p:cNvSpPr>
          <p:nvPr>
            <p:ph type="sldNum" sz="quarter" idx="4"/>
          </p:nvPr>
        </p:nvSpPr>
        <p:spPr bwMode="auto">
          <a:xfrm>
            <a:off x="8737600" y="6248400"/>
            <a:ext cx="2540000" cy="457200"/>
          </a:xfrm>
          <a:prstGeom prst="rect">
            <a:avLst/>
          </a:prstGeom>
          <a:noFill/>
          <a:ln w="9525">
            <a:noFill/>
            <a:miter lim="800000"/>
          </a:ln>
          <a:effectLst/>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941D514F-8983-4510-B771-E83D90B95A94}"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65117" y="304800"/>
            <a:ext cx="2669116" cy="5715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55651" y="304800"/>
            <a:ext cx="7806267" cy="5715000"/>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graphicFrame>
        <p:nvGraphicFramePr>
          <p:cNvPr id="4100" name="Object 1026"/>
          <p:cNvGraphicFramePr>
            <a:graphicFrameLocks noChangeAspect="1"/>
          </p:cNvGraphicFramePr>
          <p:nvPr/>
        </p:nvGraphicFramePr>
        <p:xfrm>
          <a:off x="0" y="0"/>
          <a:ext cx="12192000" cy="1200150"/>
        </p:xfrm>
        <a:graphic>
          <a:graphicData uri="http://schemas.openxmlformats.org/presentationml/2006/ole">
            <mc:AlternateContent xmlns:mc="http://schemas.openxmlformats.org/markup-compatibility/2006">
              <mc:Choice xmlns:v="urn:schemas-microsoft-com:vml" Requires="v">
                <p:oleObj spid="_x0000_s5135" r:id="rId3" imgW="9563100" imgH="1600200" progId="">
                  <p:embed/>
                </p:oleObj>
              </mc:Choice>
              <mc:Fallback>
                <p:oleObj r:id="rId3" imgW="9563100" imgH="1600200" progId="">
                  <p:embed/>
                  <p:pic>
                    <p:nvPicPr>
                      <p:cNvPr id="0" name="图片 3075"/>
                      <p:cNvPicPr/>
                      <p:nvPr/>
                    </p:nvPicPr>
                    <p:blipFill>
                      <a:blip r:embed="rId4"/>
                      <a:stretch>
                        <a:fillRect/>
                      </a:stretch>
                    </p:blipFill>
                    <p:spPr>
                      <a:xfrm>
                        <a:off x="0" y="0"/>
                        <a:ext cx="12192000" cy="1200150"/>
                      </a:xfrm>
                      <a:prstGeom prst="rect">
                        <a:avLst/>
                      </a:prstGeom>
                      <a:noFill/>
                      <a:ln w="38100">
                        <a:noFill/>
                        <a:miter/>
                      </a:ln>
                    </p:spPr>
                  </p:pic>
                </p:oleObj>
              </mc:Fallback>
            </mc:AlternateContent>
          </a:graphicData>
        </a:graphic>
      </p:graphicFrame>
      <p:sp>
        <p:nvSpPr>
          <p:cNvPr id="4101" name="Freeform 1027"/>
          <p:cNvSpPr/>
          <p:nvPr/>
        </p:nvSpPr>
        <p:spPr>
          <a:xfrm>
            <a:off x="-14816" y="280988"/>
            <a:ext cx="12206816" cy="1620837"/>
          </a:xfrm>
          <a:custGeom>
            <a:avLst/>
            <a:gdLst/>
            <a:ahLst/>
            <a:cxnLst>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Lst>
            <a:rect l="0" t="0" r="0" b="0"/>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w="9525">
            <a:noFill/>
          </a:ln>
        </p:spPr>
        <p:txBody>
          <a:bodyPr/>
          <a:lstStyle/>
          <a:p>
            <a:endParaRPr lang="zh-CN" altLang="en-US" sz="1800"/>
          </a:p>
        </p:txBody>
      </p:sp>
      <p:sp>
        <p:nvSpPr>
          <p:cNvPr id="4102" name="Freeform 1028"/>
          <p:cNvSpPr/>
          <p:nvPr/>
        </p:nvSpPr>
        <p:spPr>
          <a:xfrm>
            <a:off x="-27516" y="533400"/>
            <a:ext cx="12215283" cy="10064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w="9525">
            <a:noFill/>
          </a:ln>
        </p:spPr>
        <p:txBody>
          <a:bodyPr/>
          <a:lstStyle/>
          <a:p>
            <a:endParaRPr lang="zh-CN" altLang="en-US" sz="1800"/>
          </a:p>
        </p:txBody>
      </p:sp>
      <p:grpSp>
        <p:nvGrpSpPr>
          <p:cNvPr id="4103" name="Group 1029"/>
          <p:cNvGrpSpPr/>
          <p:nvPr/>
        </p:nvGrpSpPr>
        <p:grpSpPr>
          <a:xfrm>
            <a:off x="10320867" y="347663"/>
            <a:ext cx="516467" cy="366712"/>
            <a:chOff x="4752" y="1200"/>
            <a:chExt cx="288" cy="288"/>
          </a:xfrm>
        </p:grpSpPr>
        <p:sp>
          <p:nvSpPr>
            <p:cNvPr id="13" name="Oval 1030"/>
            <p:cNvSpPr>
              <a:spLocks noChangeArrowheads="1"/>
            </p:cNvSpPr>
            <p:nvPr/>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4" name="Oval 1031"/>
            <p:cNvSpPr>
              <a:spLocks noChangeArrowheads="1"/>
            </p:cNvSpPr>
            <p:nvPr/>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grpSp>
        <p:nvGrpSpPr>
          <p:cNvPr id="4106" name="Group 1032"/>
          <p:cNvGrpSpPr/>
          <p:nvPr/>
        </p:nvGrpSpPr>
        <p:grpSpPr>
          <a:xfrm>
            <a:off x="10871200" y="53975"/>
            <a:ext cx="812800" cy="592138"/>
            <a:chOff x="4992" y="816"/>
            <a:chExt cx="576" cy="576"/>
          </a:xfrm>
        </p:grpSpPr>
        <p:sp>
          <p:nvSpPr>
            <p:cNvPr id="16" name="Oval 1033"/>
            <p:cNvSpPr>
              <a:spLocks noChangeArrowheads="1"/>
            </p:cNvSpPr>
            <p:nvPr/>
          </p:nvSpPr>
          <p:spPr bwMode="gray">
            <a:xfrm>
              <a:off x="4992" y="816"/>
              <a:ext cx="576" cy="576"/>
            </a:xfrm>
            <a:prstGeom prst="ellipse">
              <a:avLst/>
            </a:prstGeom>
            <a:solidFill>
              <a:schemeClr val="accent1">
                <a:alpha val="52940"/>
              </a:scheme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Oval 1034"/>
            <p:cNvSpPr>
              <a:spLocks noChangeArrowheads="1"/>
            </p:cNvSpPr>
            <p:nvPr/>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grpSp>
        <p:nvGrpSpPr>
          <p:cNvPr id="4109" name="Group 1035"/>
          <p:cNvGrpSpPr/>
          <p:nvPr/>
        </p:nvGrpSpPr>
        <p:grpSpPr>
          <a:xfrm>
            <a:off x="228600" y="819150"/>
            <a:ext cx="960967" cy="762000"/>
            <a:chOff x="4992" y="816"/>
            <a:chExt cx="576" cy="576"/>
          </a:xfrm>
        </p:grpSpPr>
        <p:sp>
          <p:nvSpPr>
            <p:cNvPr id="19" name="Oval 1036"/>
            <p:cNvSpPr>
              <a:spLocks noChangeArrowheads="1"/>
            </p:cNvSpPr>
            <p:nvPr/>
          </p:nvSpPr>
          <p:spPr bwMode="gray">
            <a:xfrm>
              <a:off x="4992" y="816"/>
              <a:ext cx="576" cy="576"/>
            </a:xfrm>
            <a:prstGeom prst="ellipse">
              <a:avLst/>
            </a:prstGeom>
            <a:solidFill>
              <a:schemeClr val="tx2">
                <a:alpha val="52940"/>
              </a:scheme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 name="Oval 1037"/>
            <p:cNvSpPr>
              <a:spLocks noChangeArrowheads="1"/>
            </p:cNvSpPr>
            <p:nvPr/>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2" name="标题 1"/>
          <p:cNvSpPr>
            <a:spLocks noGrp="1"/>
          </p:cNvSpPr>
          <p:nvPr>
            <p:ph type="title"/>
          </p:nvPr>
        </p:nvSpPr>
        <p:spPr>
          <a:xfrm>
            <a:off x="1422400" y="533400"/>
            <a:ext cx="10261600" cy="4873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11200" y="1536700"/>
            <a:ext cx="5359400" cy="49403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273800" y="1536700"/>
            <a:ext cx="5359400" cy="239395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273800" y="4083050"/>
            <a:ext cx="5359400" cy="239395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21" name="灯片编号占位符 5"/>
          <p:cNvSpPr>
            <a:spLocks noGrp="1"/>
          </p:cNvSpPr>
          <p:nvPr>
            <p:ph type="sldNum" sz="quarter" idx="4"/>
          </p:nvPr>
        </p:nvSpPr>
        <p:spPr bwMode="auto">
          <a:xfrm>
            <a:off x="5588000" y="6534150"/>
            <a:ext cx="1117600" cy="261938"/>
          </a:xfrm>
          <a:prstGeom prst="rect">
            <a:avLst/>
          </a:prstGeom>
          <a:noFill/>
          <a:ln w="9525">
            <a:noFill/>
            <a:miter lim="800000"/>
          </a:ln>
          <a:effectLst/>
        </p:spPr>
        <p:txBody>
          <a:bodyPr vert="horz" wrap="square" lIns="91440" tIns="45720" rIns="91440" bIns="45720" numCol="1" anchor="t" anchorCtr="0" compatLnSpc="1"/>
          <a:lstStyle>
            <a:lvl1pPr algn="ctr">
              <a:defRPr smtClean="0"/>
            </a:lvl1pPr>
          </a:lstStyle>
          <a:p>
            <a:pPr marL="0" marR="0" lvl="0" indent="0" algn="ctr" defTabSz="914400" rtl="0" eaLnBrk="1" fontAlgn="base" latinLnBrk="0" hangingPunct="1">
              <a:lnSpc>
                <a:spcPct val="100000"/>
              </a:lnSpc>
              <a:spcBef>
                <a:spcPct val="0"/>
              </a:spcBef>
              <a:spcAft>
                <a:spcPct val="0"/>
              </a:spcAft>
              <a:buClrTx/>
              <a:buSzTx/>
              <a:buFontTx/>
              <a:buNone/>
              <a:defRPr/>
            </a:pPr>
            <a:fld id="{188AE2FB-BBD2-4699-AE5E-F02DBAEB0450}"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2" name="日期占位符 6"/>
          <p:cNvSpPr>
            <a:spLocks noGrp="1"/>
          </p:cNvSpPr>
          <p:nvPr>
            <p:ph type="dt" sz="half" idx="12"/>
          </p:nvPr>
        </p:nvSpPr>
        <p:spPr bwMode="auto">
          <a:xfrm>
            <a:off x="508000" y="6534150"/>
            <a:ext cx="2540000" cy="261938"/>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3"/>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762000" y="214313"/>
            <a:ext cx="10668000" cy="735012"/>
          </a:xfrm>
          <a:prstGeom prst="rect">
            <a:avLst/>
          </a:prstGeom>
          <a:noFill/>
          <a:ln w="9525">
            <a:noFill/>
          </a:ln>
        </p:spPr>
        <p:txBody>
          <a:bodyPr anchor="b" anchorCtr="0"/>
          <a:lstStyle/>
          <a:p>
            <a:pPr lvl="0"/>
            <a:r>
              <a:rPr lang="zh-CN" altLang="en-US" dirty="0"/>
              <a:t>单击此处编辑母版标题样式</a:t>
            </a:r>
          </a:p>
        </p:txBody>
      </p:sp>
      <p:sp>
        <p:nvSpPr>
          <p:cNvPr id="1027" name="Rectangle 3"/>
          <p:cNvSpPr>
            <a:spLocks noGrp="1"/>
          </p:cNvSpPr>
          <p:nvPr>
            <p:ph type="body"/>
          </p:nvPr>
        </p:nvSpPr>
        <p:spPr>
          <a:xfrm>
            <a:off x="755651" y="1143000"/>
            <a:ext cx="10668000" cy="48768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AutoShape 4"/>
          <p:cNvSpPr/>
          <p:nvPr/>
        </p:nvSpPr>
        <p:spPr>
          <a:xfrm>
            <a:off x="762000" y="1000125"/>
            <a:ext cx="10610851" cy="109538"/>
          </a:xfrm>
          <a:custGeom>
            <a:avLst/>
            <a:gdLst/>
            <a:ahLst/>
            <a:cxnLst>
              <a:cxn ang="0">
                <a:pos x="0" y="0"/>
              </a:cxn>
              <a:cxn ang="0">
                <a:pos x="2147483646" y="0"/>
              </a:cxn>
              <a:cxn ang="0">
                <a:pos x="2147483646" y="2147483646"/>
              </a:cxn>
              <a:cxn ang="0">
                <a:pos x="0" y="2147483646"/>
              </a:cxn>
              <a:cxn ang="0">
                <a:pos x="0" y="0"/>
              </a:cxn>
              <a:cxn ang="0">
                <a:pos x="2147483646" y="0"/>
              </a:cxn>
            </a:cxnLst>
            <a:rect l="0" t="0" r="0" b="0"/>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lstStyle/>
          <a:p>
            <a:endParaRPr lang="zh-CN" altLang="en-US"/>
          </a:p>
        </p:txBody>
      </p:sp>
      <p:sp>
        <p:nvSpPr>
          <p:cNvPr id="1029" name="Line 5"/>
          <p:cNvSpPr/>
          <p:nvPr/>
        </p:nvSpPr>
        <p:spPr>
          <a:xfrm flipV="1">
            <a:off x="812800" y="6172200"/>
            <a:ext cx="10566400" cy="0"/>
          </a:xfrm>
          <a:prstGeom prst="line">
            <a:avLst/>
          </a:prstGeom>
          <a:ln w="3175" cap="flat" cmpd="sng">
            <a:solidFill>
              <a:schemeClr val="accent2"/>
            </a:solidFill>
            <a:prstDash val="solid"/>
            <a:round/>
            <a:headEnd type="none" w="med" len="med"/>
            <a:tailEnd type="none" w="med" len="med"/>
          </a:ln>
        </p:spPr>
      </p:sp>
      <p:sp>
        <p:nvSpPr>
          <p:cNvPr id="20486"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7"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8"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advClick="0"/>
  <p:hf sldNum="0"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n"/>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p"/>
        <a:defRPr sz="28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762000" y="214313"/>
            <a:ext cx="10668000" cy="735012"/>
          </a:xfrm>
          <a:prstGeom prst="rect">
            <a:avLst/>
          </a:prstGeom>
          <a:noFill/>
          <a:ln w="9525">
            <a:noFill/>
          </a:ln>
        </p:spPr>
        <p:txBody>
          <a:bodyPr anchor="b" anchorCtr="0"/>
          <a:lstStyle/>
          <a:p>
            <a:pPr lvl="0"/>
            <a:r>
              <a:rPr lang="zh-CN" altLang="en-US" dirty="0"/>
              <a:t>单击此处编辑母版标题样式</a:t>
            </a:r>
          </a:p>
        </p:txBody>
      </p:sp>
      <p:sp>
        <p:nvSpPr>
          <p:cNvPr id="1027" name="Rectangle 3"/>
          <p:cNvSpPr>
            <a:spLocks noGrp="1"/>
          </p:cNvSpPr>
          <p:nvPr>
            <p:ph type="body"/>
          </p:nvPr>
        </p:nvSpPr>
        <p:spPr>
          <a:xfrm>
            <a:off x="755651" y="1143000"/>
            <a:ext cx="10668000" cy="48768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AutoShape 4"/>
          <p:cNvSpPr/>
          <p:nvPr/>
        </p:nvSpPr>
        <p:spPr>
          <a:xfrm>
            <a:off x="762000" y="1000125"/>
            <a:ext cx="10610851" cy="109538"/>
          </a:xfrm>
          <a:custGeom>
            <a:avLst/>
            <a:gdLst/>
            <a:ahLst/>
            <a:cxnLst>
              <a:cxn ang="0">
                <a:pos x="0" y="0"/>
              </a:cxn>
              <a:cxn ang="0">
                <a:pos x="2147483646" y="0"/>
              </a:cxn>
              <a:cxn ang="0">
                <a:pos x="2147483646" y="2147483646"/>
              </a:cxn>
              <a:cxn ang="0">
                <a:pos x="0" y="2147483646"/>
              </a:cxn>
              <a:cxn ang="0">
                <a:pos x="0" y="0"/>
              </a:cxn>
              <a:cxn ang="0">
                <a:pos x="2147483646" y="0"/>
              </a:cxn>
            </a:cxnLst>
            <a:rect l="0" t="0" r="0" b="0"/>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lstStyle/>
          <a:p>
            <a:endParaRPr lang="zh-CN" altLang="en-US" sz="1800"/>
          </a:p>
        </p:txBody>
      </p:sp>
      <p:sp>
        <p:nvSpPr>
          <p:cNvPr id="1029" name="Line 5"/>
          <p:cNvSpPr/>
          <p:nvPr/>
        </p:nvSpPr>
        <p:spPr>
          <a:xfrm flipV="1">
            <a:off x="812800" y="6172200"/>
            <a:ext cx="10566400" cy="0"/>
          </a:xfrm>
          <a:prstGeom prst="line">
            <a:avLst/>
          </a:prstGeom>
          <a:ln w="3175" cap="flat" cmpd="sng">
            <a:solidFill>
              <a:schemeClr val="accent2"/>
            </a:solidFill>
            <a:prstDash val="solid"/>
            <a:round/>
            <a:headEnd type="none" w="med" len="med"/>
            <a:tailEnd type="none" w="med" len="med"/>
          </a:ln>
        </p:spPr>
      </p:sp>
      <p:sp>
        <p:nvSpPr>
          <p:cNvPr id="20486"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7"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8"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ransition advClick="0"/>
  <p:hf sldNum="0"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n"/>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p"/>
        <a:defRPr sz="28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1.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4.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tags" Target="../tags/tag25.xml"/><Relationship Id="rId18" Type="http://schemas.openxmlformats.org/officeDocument/2006/relationships/tags" Target="../tags/tag30.xml"/><Relationship Id="rId3" Type="http://schemas.openxmlformats.org/officeDocument/2006/relationships/tags" Target="../tags/tag15.xml"/><Relationship Id="rId21" Type="http://schemas.openxmlformats.org/officeDocument/2006/relationships/tags" Target="../tags/tag33.xml"/><Relationship Id="rId7" Type="http://schemas.openxmlformats.org/officeDocument/2006/relationships/tags" Target="../tags/tag19.xml"/><Relationship Id="rId12" Type="http://schemas.openxmlformats.org/officeDocument/2006/relationships/tags" Target="../tags/tag24.xml"/><Relationship Id="rId17" Type="http://schemas.openxmlformats.org/officeDocument/2006/relationships/tags" Target="../tags/tag29.xml"/><Relationship Id="rId2" Type="http://schemas.openxmlformats.org/officeDocument/2006/relationships/tags" Target="../tags/tag14.xml"/><Relationship Id="rId16" Type="http://schemas.openxmlformats.org/officeDocument/2006/relationships/tags" Target="../tags/tag28.xml"/><Relationship Id="rId20" Type="http://schemas.openxmlformats.org/officeDocument/2006/relationships/tags" Target="../tags/tag32.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5" Type="http://schemas.openxmlformats.org/officeDocument/2006/relationships/tags" Target="../tags/tag17.xml"/><Relationship Id="rId15" Type="http://schemas.openxmlformats.org/officeDocument/2006/relationships/tags" Target="../tags/tag27.xml"/><Relationship Id="rId23" Type="http://schemas.openxmlformats.org/officeDocument/2006/relationships/slideLayout" Target="../slideLayouts/slideLayout1.xml"/><Relationship Id="rId10" Type="http://schemas.openxmlformats.org/officeDocument/2006/relationships/tags" Target="../tags/tag22.xml"/><Relationship Id="rId19" Type="http://schemas.openxmlformats.org/officeDocument/2006/relationships/tags" Target="../tags/tag31.xml"/><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tags" Target="../tags/tag26.xml"/><Relationship Id="rId22" Type="http://schemas.openxmlformats.org/officeDocument/2006/relationships/tags" Target="../tags/tag3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tags" Target="../tags/tag52.xml"/><Relationship Id="rId3" Type="http://schemas.openxmlformats.org/officeDocument/2006/relationships/tags" Target="../tags/tag37.xml"/><Relationship Id="rId21" Type="http://schemas.openxmlformats.org/officeDocument/2006/relationships/tags" Target="../tags/tag55.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20" Type="http://schemas.openxmlformats.org/officeDocument/2006/relationships/tags" Target="../tags/tag54.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tags" Target="../tags/tag53.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 Id="rId22"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tags" Target="../tags/tag68.xml"/><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tags" Target="../tags/tag67.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tags" Target="../tags/tag66.xml"/><Relationship Id="rId5" Type="http://schemas.openxmlformats.org/officeDocument/2006/relationships/tags" Target="../tags/tag60.xml"/><Relationship Id="rId15" Type="http://schemas.openxmlformats.org/officeDocument/2006/relationships/slideLayout" Target="../slideLayouts/slideLayout1.xml"/><Relationship Id="rId10" Type="http://schemas.openxmlformats.org/officeDocument/2006/relationships/tags" Target="../tags/tag65.xml"/><Relationship Id="rId4" Type="http://schemas.openxmlformats.org/officeDocument/2006/relationships/tags" Target="../tags/tag59.xml"/><Relationship Id="rId9" Type="http://schemas.openxmlformats.org/officeDocument/2006/relationships/tags" Target="../tags/tag64.xml"/><Relationship Id="rId14" Type="http://schemas.openxmlformats.org/officeDocument/2006/relationships/tags" Target="../tags/tag69.xml"/></Relationships>
</file>

<file path=ppt/slides/_rels/slide9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p:cNvSpPr>
          <p:nvPr>
            <p:ph type="title"/>
          </p:nvPr>
        </p:nvSpPr>
        <p:spPr>
          <a:xfrm>
            <a:off x="695325" y="1196023"/>
            <a:ext cx="10668000" cy="735012"/>
          </a:xfrm>
        </p:spPr>
        <p:txBody>
          <a:bodyPr vert="horz" wrap="square" lIns="91440" tIns="45720" rIns="91440" bIns="45720" anchor="b" anchorCtr="0"/>
          <a:lstStyle/>
          <a:p>
            <a:r>
              <a:rPr lang="zh-CN" altLang="en-US" dirty="0"/>
              <a:t>数据库设计选题</a:t>
            </a:r>
          </a:p>
        </p:txBody>
      </p:sp>
      <p:sp>
        <p:nvSpPr>
          <p:cNvPr id="8194" name="内容占位符 2"/>
          <p:cNvSpPr>
            <a:spLocks noGrp="1"/>
          </p:cNvSpPr>
          <p:nvPr>
            <p:ph idx="1"/>
          </p:nvPr>
        </p:nvSpPr>
        <p:spPr>
          <a:xfrm>
            <a:off x="695325" y="2060575"/>
            <a:ext cx="10668000" cy="3507105"/>
          </a:xfrm>
        </p:spPr>
        <p:txBody>
          <a:bodyPr vert="horz" wrap="square" lIns="91440" tIns="45720" rIns="91440" bIns="45720" anchor="t" anchorCtr="0"/>
          <a:lstStyle/>
          <a:p>
            <a:r>
              <a:rPr lang="zh-CN" altLang="en-US" dirty="0"/>
              <a:t>每个小组确定一个题目</a:t>
            </a:r>
            <a:endParaRPr lang="en-US" altLang="zh-CN" dirty="0"/>
          </a:p>
          <a:p>
            <a:r>
              <a:rPr lang="zh-CN" altLang="en-US" dirty="0"/>
              <a:t>题目自定，需求自定。</a:t>
            </a:r>
            <a:endParaRPr lang="en-US" altLang="zh-CN" dirty="0"/>
          </a:p>
          <a:p>
            <a:r>
              <a:rPr lang="zh-CN" altLang="en-US" dirty="0"/>
              <a:t>形成实验报告文档。</a:t>
            </a:r>
            <a:endParaRPr lang="en-US" altLang="zh-CN" dirty="0"/>
          </a:p>
          <a:p>
            <a:r>
              <a:rPr lang="en-US" altLang="zh-CN" dirty="0"/>
              <a:t>E-R</a:t>
            </a:r>
            <a:r>
              <a:rPr lang="zh-CN" altLang="en-US" dirty="0"/>
              <a:t>图，尽量和我沟通。</a:t>
            </a:r>
            <a:endParaRPr lang="en-US" altLang="zh-CN" dirty="0"/>
          </a:p>
          <a:p>
            <a:r>
              <a:rPr lang="zh-CN" altLang="en-US" dirty="0"/>
              <a:t>至少包含一个一对多的关系和一个多对多的关系，至少平均每个人负责</a:t>
            </a:r>
            <a:r>
              <a:rPr lang="en-US" altLang="zh-CN" dirty="0"/>
              <a:t>3</a:t>
            </a:r>
            <a:r>
              <a:rPr lang="zh-CN" altLang="en-US" dirty="0"/>
              <a:t>个表。</a:t>
            </a:r>
            <a:endParaRPr lang="en-US" altLang="zh-CN" dirty="0"/>
          </a:p>
        </p:txBody>
      </p:sp>
      <p:sp>
        <p:nvSpPr>
          <p:cNvPr id="9218" name="Rectangle 2"/>
          <p:cNvSpPr>
            <a:spLocks noGrp="1"/>
          </p:cNvSpPr>
          <p:nvPr/>
        </p:nvSpPr>
        <p:spPr>
          <a:xfrm>
            <a:off x="762000" y="214313"/>
            <a:ext cx="10668000" cy="735012"/>
          </a:xfrm>
          <a:prstGeom prst="rect">
            <a:avLst/>
          </a:prstGeom>
          <a:noFill/>
          <a:ln w="9525">
            <a:noFill/>
          </a:ln>
        </p:spPr>
        <p:txBody>
          <a:bodyPr vert="horz" wrap="square" lIns="91440" tIns="45720" rIns="91440" bIns="45720" anchor="b" anchorCtr="0"/>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4000" dirty="0"/>
              <a:t>第七章  数据库设计</a:t>
            </a:r>
            <a:endParaRPr lang="zh-CN" altLang="en-US" sz="4000" dirty="0">
              <a:ea typeface="黑体" panose="02010609060101010101" pitchFamily="49" charset="-122"/>
            </a:endParaRPr>
          </a:p>
        </p:txBody>
      </p:sp>
    </p:spTree>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页脚占位符 4"/>
          <p:cNvSpPr>
            <a:spLocks noGrp="1"/>
          </p:cNvSpPr>
          <p:nvPr>
            <p:ph type="ftr" sz="quarter" idx="11"/>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p>
        </p:txBody>
      </p:sp>
      <p:sp>
        <p:nvSpPr>
          <p:cNvPr id="9218" name="Rectangle 2"/>
          <p:cNvSpPr>
            <a:spLocks noGrp="1"/>
          </p:cNvSpPr>
          <p:nvPr>
            <p:ph type="title"/>
          </p:nvPr>
        </p:nvSpPr>
        <p:spPr/>
        <p:txBody>
          <a:bodyPr vert="horz" wrap="square" lIns="91440" tIns="45720" rIns="91440" bIns="45720" anchor="b" anchorCtr="0"/>
          <a:lstStyle/>
          <a:p>
            <a:pPr eaLnBrk="1" hangingPunct="1"/>
            <a:r>
              <a:rPr lang="zh-CN" altLang="en-US" sz="4000" dirty="0"/>
              <a:t>第七章  数据库设计</a:t>
            </a:r>
            <a:endParaRPr lang="zh-CN" altLang="en-US" sz="4000" dirty="0">
              <a:ea typeface="黑体" panose="02010609060101010101" pitchFamily="49" charset="-122"/>
            </a:endParaRPr>
          </a:p>
        </p:txBody>
      </p:sp>
      <p:sp>
        <p:nvSpPr>
          <p:cNvPr id="9219" name="Rectangle 3"/>
          <p:cNvSpPr>
            <a:spLocks noGrp="1"/>
          </p:cNvSpPr>
          <p:nvPr>
            <p:ph idx="1"/>
          </p:nvPr>
        </p:nvSpPr>
        <p:spPr>
          <a:xfrm>
            <a:off x="2495550" y="1341438"/>
            <a:ext cx="6508750" cy="4464050"/>
          </a:xfrm>
        </p:spPr>
        <p:txBody>
          <a:bodyPr vert="horz" wrap="square" lIns="91440" tIns="45720" rIns="91440" bIns="45720" anchor="t" anchorCtr="0"/>
          <a:lstStyle/>
          <a:p>
            <a:pPr>
              <a:buNone/>
            </a:pPr>
            <a:r>
              <a:rPr lang="en-US" altLang="zh-CN" sz="3200" b="1" dirty="0">
                <a:solidFill>
                  <a:srgbClr val="FF0000"/>
                </a:solidFill>
              </a:rPr>
              <a:t>7.1  </a:t>
            </a:r>
            <a:r>
              <a:rPr lang="zh-CN" altLang="en-US" sz="3200" b="1" dirty="0">
                <a:solidFill>
                  <a:srgbClr val="FF0000"/>
                </a:solidFill>
              </a:rPr>
              <a:t>数据库设计概述</a:t>
            </a:r>
          </a:p>
          <a:p>
            <a:pPr>
              <a:buNone/>
            </a:pPr>
            <a:r>
              <a:rPr lang="en-US" altLang="zh-CN" sz="3200" dirty="0">
                <a:solidFill>
                  <a:srgbClr val="0000FF"/>
                </a:solidFill>
              </a:rPr>
              <a:t>7.2  </a:t>
            </a:r>
            <a:r>
              <a:rPr lang="zh-CN" altLang="en-US" sz="3200" dirty="0">
                <a:solidFill>
                  <a:srgbClr val="0000FF"/>
                </a:solidFill>
              </a:rPr>
              <a:t>需求分析</a:t>
            </a:r>
          </a:p>
          <a:p>
            <a:pPr>
              <a:buNone/>
            </a:pPr>
            <a:r>
              <a:rPr lang="en-US" altLang="zh-CN" sz="3200" dirty="0">
                <a:solidFill>
                  <a:srgbClr val="0000FF"/>
                </a:solidFill>
              </a:rPr>
              <a:t>7.3  </a:t>
            </a:r>
            <a:r>
              <a:rPr lang="zh-CN" altLang="en-US" sz="3200" dirty="0">
                <a:solidFill>
                  <a:srgbClr val="0000FF"/>
                </a:solidFill>
              </a:rPr>
              <a:t>概念结构设计</a:t>
            </a:r>
          </a:p>
          <a:p>
            <a:pPr>
              <a:buNone/>
            </a:pPr>
            <a:r>
              <a:rPr lang="en-US" altLang="zh-CN" sz="3200" dirty="0">
                <a:solidFill>
                  <a:srgbClr val="0000FF"/>
                </a:solidFill>
              </a:rPr>
              <a:t>7.4  </a:t>
            </a:r>
            <a:r>
              <a:rPr lang="zh-CN" altLang="en-US" sz="3200" dirty="0">
                <a:solidFill>
                  <a:srgbClr val="0000FF"/>
                </a:solidFill>
              </a:rPr>
              <a:t>逻辑结构设计</a:t>
            </a:r>
          </a:p>
          <a:p>
            <a:pPr>
              <a:buNone/>
            </a:pPr>
            <a:r>
              <a:rPr lang="en-US" altLang="zh-CN" sz="3200" dirty="0"/>
              <a:t>7.5  </a:t>
            </a:r>
            <a:r>
              <a:rPr lang="zh-CN" altLang="en-US" sz="3200" dirty="0"/>
              <a:t>物理结构设计</a:t>
            </a:r>
          </a:p>
          <a:p>
            <a:pPr>
              <a:buNone/>
            </a:pPr>
            <a:r>
              <a:rPr lang="en-US" altLang="zh-CN" sz="3200" dirty="0"/>
              <a:t>7.6  </a:t>
            </a:r>
            <a:r>
              <a:rPr lang="zh-CN" altLang="en-US" sz="3200" dirty="0"/>
              <a:t>数据库的实施和维护</a:t>
            </a:r>
          </a:p>
          <a:p>
            <a:pPr>
              <a:buNone/>
            </a:pPr>
            <a:r>
              <a:rPr lang="en-US" altLang="zh-CN" sz="3200" dirty="0"/>
              <a:t>7.7  </a:t>
            </a:r>
            <a:r>
              <a:rPr lang="zh-CN" altLang="en-US" sz="3200" dirty="0"/>
              <a:t>小结</a:t>
            </a:r>
          </a:p>
        </p:txBody>
      </p:sp>
    </p:spTree>
  </p:cSld>
  <p:clrMapOvr>
    <a:masterClrMapping/>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
          <p:cNvSpPr>
            <a:spLocks noGrp="1"/>
          </p:cNvSpPr>
          <p:nvPr>
            <p:ph type="title"/>
          </p:nvPr>
        </p:nvSpPr>
        <p:spPr/>
        <p:txBody>
          <a:bodyPr vert="horz" wrap="square" lIns="91440" tIns="45720" rIns="91440" bIns="45720" anchor="b" anchorCtr="0"/>
          <a:lstStyle/>
          <a:p>
            <a:r>
              <a:rPr lang="en-US" altLang="zh-CN" dirty="0"/>
              <a:t>7.1 </a:t>
            </a:r>
            <a:r>
              <a:rPr lang="zh-CN" altLang="en-US" dirty="0"/>
              <a:t>数据库设计概述</a:t>
            </a:r>
          </a:p>
        </p:txBody>
      </p:sp>
      <p:sp>
        <p:nvSpPr>
          <p:cNvPr id="12290" name="内容占位符 2"/>
          <p:cNvSpPr>
            <a:spLocks noGrp="1"/>
          </p:cNvSpPr>
          <p:nvPr>
            <p:ph idx="1"/>
          </p:nvPr>
        </p:nvSpPr>
        <p:spPr>
          <a:xfrm>
            <a:off x="762000" y="1143000"/>
            <a:ext cx="11280775" cy="5165725"/>
          </a:xfrm>
        </p:spPr>
        <p:txBody>
          <a:bodyPr vert="horz" wrap="square" lIns="91440" tIns="45720" rIns="91440" bIns="45720" anchor="t" anchorCtr="0"/>
          <a:lstStyle/>
          <a:p>
            <a:r>
              <a:rPr lang="zh-CN" altLang="en-US" dirty="0"/>
              <a:t>数据库设计 </a:t>
            </a:r>
            <a:endParaRPr lang="en-US" altLang="zh-CN" dirty="0"/>
          </a:p>
          <a:p>
            <a:pPr lvl="1" indent="-436245"/>
            <a:r>
              <a:rPr lang="zh-CN" altLang="en-US" dirty="0"/>
              <a:t>广义的：整个数据库应用系统的设计，狭义的：数据库本身的设计。</a:t>
            </a:r>
            <a:endParaRPr lang="en-US" altLang="zh-CN" dirty="0"/>
          </a:p>
          <a:p>
            <a:pPr lvl="1" indent="-436245"/>
            <a:r>
              <a:rPr lang="zh-CN" altLang="en-US" dirty="0"/>
              <a:t>设计一个</a:t>
            </a:r>
            <a:r>
              <a:rPr lang="zh-CN" altLang="en-US" b="1" dirty="0">
                <a:solidFill>
                  <a:srgbClr val="FF0000"/>
                </a:solidFill>
              </a:rPr>
              <a:t>好的数据库</a:t>
            </a:r>
            <a:r>
              <a:rPr lang="zh-CN" altLang="en-US" dirty="0"/>
              <a:t>与设计一个</a:t>
            </a:r>
            <a:r>
              <a:rPr lang="zh-CN" altLang="en-US" b="1" dirty="0">
                <a:solidFill>
                  <a:srgbClr val="FF0000"/>
                </a:solidFill>
              </a:rPr>
              <a:t>好的数据库应用系统</a:t>
            </a:r>
            <a:r>
              <a:rPr lang="zh-CN" altLang="en-US" dirty="0"/>
              <a:t>密不可分。</a:t>
            </a:r>
            <a:endParaRPr lang="en-US" altLang="zh-CN" dirty="0"/>
          </a:p>
          <a:p>
            <a:pPr lvl="1" indent="-436245"/>
            <a:r>
              <a:rPr lang="zh-CN" altLang="en-US" dirty="0"/>
              <a:t>数据库设计的</a:t>
            </a:r>
            <a:r>
              <a:rPr lang="zh-CN" altLang="en-US" b="1" dirty="0">
                <a:solidFill>
                  <a:srgbClr val="FF0000"/>
                </a:solidFill>
              </a:rPr>
              <a:t>目标</a:t>
            </a:r>
            <a:r>
              <a:rPr lang="zh-CN" altLang="en-US" dirty="0"/>
              <a:t>是为用户和各种应用系统提供一个</a:t>
            </a:r>
            <a:r>
              <a:rPr lang="zh-CN" altLang="en-US" b="1" dirty="0">
                <a:solidFill>
                  <a:srgbClr val="FF0000"/>
                </a:solidFill>
              </a:rPr>
              <a:t>信息基础设施和高效率的运行环境 </a:t>
            </a:r>
            <a:endParaRPr lang="en-US" altLang="zh-CN" b="1" dirty="0">
              <a:solidFill>
                <a:srgbClr val="FF0000"/>
              </a:solidFill>
            </a:endParaRPr>
          </a:p>
          <a:p>
            <a:r>
              <a:rPr lang="zh-CN" altLang="en-US" dirty="0"/>
              <a:t>高效率的运行环境 </a:t>
            </a:r>
            <a:endParaRPr lang="en-US" altLang="zh-CN" dirty="0"/>
          </a:p>
          <a:p>
            <a:pPr lvl="1" indent="-436245"/>
            <a:r>
              <a:rPr lang="zh-CN" altLang="en-US" dirty="0"/>
              <a:t>数据库数据的</a:t>
            </a:r>
            <a:r>
              <a:rPr lang="zh-CN" altLang="en-US" b="1" dirty="0">
                <a:solidFill>
                  <a:srgbClr val="FF0000"/>
                </a:solidFill>
              </a:rPr>
              <a:t>存取效率</a:t>
            </a:r>
            <a:r>
              <a:rPr lang="zh-CN" altLang="en-US" dirty="0"/>
              <a:t>高 </a:t>
            </a:r>
            <a:endParaRPr lang="en-US" altLang="zh-CN" dirty="0"/>
          </a:p>
          <a:p>
            <a:pPr lvl="1" indent="-436245"/>
            <a:r>
              <a:rPr lang="zh-CN" altLang="en-US" dirty="0"/>
              <a:t>数据库</a:t>
            </a:r>
            <a:r>
              <a:rPr lang="zh-CN" altLang="en-US" b="1" dirty="0">
                <a:solidFill>
                  <a:srgbClr val="FF0000"/>
                </a:solidFill>
              </a:rPr>
              <a:t>存储空间的利用率</a:t>
            </a:r>
            <a:r>
              <a:rPr lang="zh-CN" altLang="en-US" dirty="0"/>
              <a:t>高 </a:t>
            </a:r>
            <a:endParaRPr lang="en-US" altLang="zh-CN" dirty="0"/>
          </a:p>
          <a:p>
            <a:pPr lvl="1" indent="-436245"/>
            <a:r>
              <a:rPr lang="zh-CN" altLang="en-US" dirty="0"/>
              <a:t>数据库</a:t>
            </a:r>
            <a:r>
              <a:rPr lang="zh-CN" altLang="en-US" b="1" dirty="0">
                <a:solidFill>
                  <a:srgbClr val="FF0000"/>
                </a:solidFill>
              </a:rPr>
              <a:t>系统运行管理</a:t>
            </a:r>
            <a:r>
              <a:rPr lang="zh-CN" altLang="en-US" dirty="0"/>
              <a:t>的效率高</a:t>
            </a:r>
          </a:p>
        </p:txBody>
      </p:sp>
    </p:spTree>
  </p:cSld>
  <p:clrMapOvr>
    <a:masterClrMapping/>
  </p:clrMapOvr>
  <p:transition advClick="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标题 1"/>
          <p:cNvSpPr>
            <a:spLocks noGrp="1"/>
          </p:cNvSpPr>
          <p:nvPr>
            <p:ph type="title"/>
          </p:nvPr>
        </p:nvSpPr>
        <p:spPr/>
        <p:txBody>
          <a:bodyPr vert="horz" wrap="square" lIns="91440" tIns="45720" rIns="91440" bIns="45720" anchor="b" anchorCtr="0"/>
          <a:lstStyle/>
          <a:p>
            <a:r>
              <a:rPr lang="en-US" altLang="zh-CN" dirty="0"/>
              <a:t>7.1 </a:t>
            </a:r>
            <a:r>
              <a:rPr lang="zh-CN" altLang="en-US" dirty="0"/>
              <a:t>数据库设计概述</a:t>
            </a:r>
          </a:p>
        </p:txBody>
      </p:sp>
      <p:sp>
        <p:nvSpPr>
          <p:cNvPr id="11266" name="内容占位符 2"/>
          <p:cNvSpPr>
            <a:spLocks noGrp="1"/>
          </p:cNvSpPr>
          <p:nvPr>
            <p:ph idx="1"/>
          </p:nvPr>
        </p:nvSpPr>
        <p:spPr>
          <a:xfrm>
            <a:off x="937260" y="1143000"/>
            <a:ext cx="10735945" cy="4876800"/>
          </a:xfrm>
        </p:spPr>
        <p:txBody>
          <a:bodyPr vert="horz" wrap="square" lIns="91440" tIns="45720" rIns="91440" bIns="45720" anchor="t" anchorCtr="0"/>
          <a:lstStyle/>
          <a:p>
            <a:r>
              <a:rPr lang="zh-CN" altLang="en-US" dirty="0"/>
              <a:t> 数据库设计：数据库设计是指对于一个给定的应用环境，构造（设计）优化的数据库</a:t>
            </a:r>
            <a:r>
              <a:rPr lang="zh-CN" altLang="en-US" dirty="0">
                <a:solidFill>
                  <a:srgbClr val="FF0000"/>
                </a:solidFill>
              </a:rPr>
              <a:t>模式、外模式</a:t>
            </a:r>
            <a:r>
              <a:rPr lang="zh-CN" altLang="en-US" dirty="0"/>
              <a:t>和</a:t>
            </a:r>
            <a:r>
              <a:rPr lang="zh-CN" altLang="en-US" dirty="0">
                <a:solidFill>
                  <a:srgbClr val="FF0000"/>
                </a:solidFill>
              </a:rPr>
              <a:t>内模式</a:t>
            </a:r>
            <a:r>
              <a:rPr lang="zh-CN" altLang="en-US" dirty="0"/>
              <a:t>（</a:t>
            </a:r>
            <a:r>
              <a:rPr lang="zh-CN" altLang="en-US" b="1" dirty="0">
                <a:solidFill>
                  <a:srgbClr val="FF0000"/>
                </a:solidFill>
              </a:rPr>
              <a:t>逻辑模式</a:t>
            </a:r>
            <a:r>
              <a:rPr lang="zh-CN" altLang="en-US" dirty="0"/>
              <a:t>和</a:t>
            </a:r>
            <a:r>
              <a:rPr lang="zh-CN" altLang="en-US" b="1" dirty="0">
                <a:solidFill>
                  <a:srgbClr val="FF0000"/>
                </a:solidFill>
              </a:rPr>
              <a:t>物理结构）</a:t>
            </a:r>
            <a:r>
              <a:rPr lang="zh-CN" altLang="en-US" dirty="0"/>
              <a:t>，并据此建立数据库及其应用系统，使之能够有效地</a:t>
            </a:r>
            <a:r>
              <a:rPr lang="zh-CN" altLang="en-US" b="1" dirty="0">
                <a:solidFill>
                  <a:srgbClr val="FF0000"/>
                </a:solidFill>
              </a:rPr>
              <a:t>存储和管理</a:t>
            </a:r>
            <a:r>
              <a:rPr lang="zh-CN" altLang="en-US" dirty="0"/>
              <a:t>数据，</a:t>
            </a:r>
            <a:r>
              <a:rPr lang="zh-CN" altLang="en-US" b="1" dirty="0">
                <a:solidFill>
                  <a:srgbClr val="0000FF"/>
                </a:solidFill>
              </a:rPr>
              <a:t>满足各种用户的应用需求</a:t>
            </a:r>
            <a:r>
              <a:rPr lang="zh-CN" altLang="en-US" dirty="0"/>
              <a:t>，包括信息管理要求和数据操作要求。 </a:t>
            </a:r>
            <a:endParaRPr lang="en-US" altLang="zh-CN" dirty="0"/>
          </a:p>
          <a:p>
            <a:r>
              <a:rPr lang="zh-CN" altLang="en-US" b="1" dirty="0">
                <a:solidFill>
                  <a:srgbClr val="FF0000"/>
                </a:solidFill>
              </a:rPr>
              <a:t>信息管理</a:t>
            </a:r>
            <a:r>
              <a:rPr lang="zh-CN" altLang="en-US" dirty="0"/>
              <a:t>要求：在数据库中应该</a:t>
            </a:r>
            <a:r>
              <a:rPr lang="zh-CN" altLang="en-US" b="1" dirty="0">
                <a:solidFill>
                  <a:srgbClr val="0000FF"/>
                </a:solidFill>
              </a:rPr>
              <a:t>存储</a:t>
            </a:r>
            <a:r>
              <a:rPr lang="zh-CN" altLang="en-US" dirty="0"/>
              <a:t>和</a:t>
            </a:r>
            <a:r>
              <a:rPr lang="zh-CN" altLang="en-US" b="1" dirty="0">
                <a:solidFill>
                  <a:srgbClr val="0000FF"/>
                </a:solidFill>
              </a:rPr>
              <a:t>管理</a:t>
            </a:r>
            <a:r>
              <a:rPr lang="zh-CN" altLang="en-US" dirty="0"/>
              <a:t>哪些数据对象 。</a:t>
            </a:r>
            <a:endParaRPr lang="en-US" altLang="zh-CN" dirty="0"/>
          </a:p>
          <a:p>
            <a:r>
              <a:rPr lang="zh-CN" altLang="en-US" b="1" dirty="0">
                <a:solidFill>
                  <a:srgbClr val="FF0000"/>
                </a:solidFill>
              </a:rPr>
              <a:t>数据操作</a:t>
            </a:r>
            <a:r>
              <a:rPr lang="zh-CN" altLang="en-US" dirty="0"/>
              <a:t>要求：如</a:t>
            </a:r>
            <a:r>
              <a:rPr lang="zh-CN" altLang="en-US" b="1" dirty="0">
                <a:solidFill>
                  <a:srgbClr val="0000FF"/>
                </a:solidFill>
              </a:rPr>
              <a:t>查询、增、删、改、统计</a:t>
            </a:r>
            <a:r>
              <a:rPr lang="zh-CN" altLang="en-US" dirty="0"/>
              <a:t>等操作。</a:t>
            </a:r>
          </a:p>
        </p:txBody>
      </p:sp>
    </p:spTree>
  </p:cSld>
  <p:clrMapOvr>
    <a:masterClrMapping/>
  </p:clrMapOvr>
  <p:transition advClick="0"/>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内容占位符 2"/>
          <p:cNvSpPr>
            <a:spLocks noGrp="1"/>
          </p:cNvSpPr>
          <p:nvPr>
            <p:ph idx="1"/>
          </p:nvPr>
        </p:nvSpPr>
        <p:spPr/>
        <p:txBody>
          <a:bodyPr vert="horz" wrap="square" lIns="91440" tIns="45720" rIns="91440" bIns="45720" anchor="t" anchorCtr="0"/>
          <a:lstStyle/>
          <a:p>
            <a:r>
              <a:rPr lang="en-US" altLang="zh-CN" b="1" dirty="0"/>
              <a:t>7.1.1 </a:t>
            </a:r>
            <a:r>
              <a:rPr lang="zh-CN" altLang="en-US" b="1" dirty="0"/>
              <a:t>数据库设计的特点</a:t>
            </a:r>
            <a:endParaRPr lang="en-US" altLang="zh-CN" b="1" dirty="0"/>
          </a:p>
          <a:p>
            <a:r>
              <a:rPr lang="en-US" altLang="zh-CN" b="1" dirty="0"/>
              <a:t>7.1.2 </a:t>
            </a:r>
            <a:r>
              <a:rPr lang="zh-CN" altLang="en-US" b="1" dirty="0"/>
              <a:t>数据库设计方法</a:t>
            </a:r>
            <a:endParaRPr lang="en-US" altLang="zh-CN" b="1" dirty="0"/>
          </a:p>
          <a:p>
            <a:r>
              <a:rPr lang="en-US" altLang="zh-CN" b="1" dirty="0"/>
              <a:t>7.1.3 </a:t>
            </a:r>
            <a:r>
              <a:rPr lang="zh-CN" altLang="en-US" b="1" dirty="0"/>
              <a:t>数据库设计的基本步骤</a:t>
            </a:r>
          </a:p>
        </p:txBody>
      </p:sp>
      <p:sp>
        <p:nvSpPr>
          <p:cNvPr id="13314" name="标题 1"/>
          <p:cNvSpPr>
            <a:spLocks noGrp="1"/>
          </p:cNvSpPr>
          <p:nvPr>
            <p:ph type="title"/>
          </p:nvPr>
        </p:nvSpPr>
        <p:spPr/>
        <p:txBody>
          <a:bodyPr vert="horz" wrap="square" lIns="91440" tIns="45720" rIns="91440" bIns="45720" anchor="b" anchorCtr="0"/>
          <a:lstStyle/>
          <a:p>
            <a:r>
              <a:rPr lang="en-US" altLang="zh-CN" dirty="0"/>
              <a:t>7.1 </a:t>
            </a:r>
            <a:r>
              <a:rPr lang="zh-CN" altLang="en-US" dirty="0"/>
              <a:t>数据库设计概述</a:t>
            </a:r>
          </a:p>
        </p:txBody>
      </p:sp>
    </p:spTree>
  </p:cSld>
  <p:clrMapOvr>
    <a:masterClrMapping/>
  </p:clrMapOvr>
  <p:transition advClick="0"/>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
          <p:cNvSpPr>
            <a:spLocks noGrp="1"/>
          </p:cNvSpPr>
          <p:nvPr>
            <p:ph type="title"/>
          </p:nvPr>
        </p:nvSpPr>
        <p:spPr/>
        <p:txBody>
          <a:bodyPr vert="horz" wrap="square" lIns="91440" tIns="45720" rIns="91440" bIns="45720" anchor="b" anchorCtr="0"/>
          <a:lstStyle/>
          <a:p>
            <a:r>
              <a:rPr lang="en-US" altLang="zh-CN" dirty="0"/>
              <a:t>7.1.1 </a:t>
            </a:r>
            <a:r>
              <a:rPr lang="zh-CN" altLang="en-US" dirty="0"/>
              <a:t>数据库设计的特点</a:t>
            </a:r>
          </a:p>
        </p:txBody>
      </p:sp>
      <p:sp>
        <p:nvSpPr>
          <p:cNvPr id="14338" name="内容占位符 2"/>
          <p:cNvSpPr>
            <a:spLocks noGrp="1"/>
          </p:cNvSpPr>
          <p:nvPr>
            <p:ph idx="1"/>
          </p:nvPr>
        </p:nvSpPr>
        <p:spPr/>
        <p:txBody>
          <a:bodyPr vert="horz" wrap="square" lIns="91440" tIns="45720" rIns="91440" bIns="45720" anchor="t" anchorCtr="0"/>
          <a:lstStyle/>
          <a:p>
            <a:r>
              <a:rPr lang="en-US" altLang="zh-CN" dirty="0"/>
              <a:t>1. </a:t>
            </a:r>
            <a:r>
              <a:rPr lang="zh-CN" altLang="en-US" dirty="0"/>
              <a:t>数据库建设的基本规律 </a:t>
            </a:r>
            <a:endParaRPr lang="en-US" altLang="zh-CN" dirty="0"/>
          </a:p>
          <a:p>
            <a:r>
              <a:rPr lang="zh-CN" altLang="en-US" dirty="0">
                <a:solidFill>
                  <a:srgbClr val="FF0000"/>
                </a:solidFill>
              </a:rPr>
              <a:t>三分技术，七分管理，十二分基础数据 </a:t>
            </a:r>
            <a:endParaRPr lang="en-US" altLang="zh-CN" dirty="0">
              <a:solidFill>
                <a:srgbClr val="FF0000"/>
              </a:solidFill>
            </a:endParaRPr>
          </a:p>
          <a:p>
            <a:pPr lvl="1" indent="-436245"/>
            <a:r>
              <a:rPr lang="zh-CN" altLang="en-US" dirty="0"/>
              <a:t>技术：其次。</a:t>
            </a:r>
            <a:endParaRPr lang="en-US" altLang="zh-CN" dirty="0"/>
          </a:p>
          <a:p>
            <a:pPr lvl="1" indent="-436245"/>
            <a:r>
              <a:rPr lang="zh-CN" altLang="en-US" dirty="0"/>
              <a:t>管理 ：数据库建设项目管理，企业（即应用部门）的业务管理 。</a:t>
            </a:r>
            <a:endParaRPr lang="en-US" altLang="zh-CN" dirty="0"/>
          </a:p>
          <a:p>
            <a:pPr lvl="1" indent="-436245"/>
            <a:r>
              <a:rPr lang="zh-CN" altLang="en-US" dirty="0"/>
              <a:t>基础数据： 数据的收集、整理、组织和不断更新。</a:t>
            </a:r>
            <a:r>
              <a:rPr lang="zh-CN" altLang="en-US" dirty="0">
                <a:solidFill>
                  <a:srgbClr val="FF0000"/>
                </a:solidFill>
              </a:rPr>
              <a:t>工作量大</a:t>
            </a:r>
            <a:r>
              <a:rPr lang="zh-CN" altLang="en-US" dirty="0"/>
              <a:t>，繁琐，细致。对数据分析挖掘，改进业务管理。</a:t>
            </a:r>
          </a:p>
        </p:txBody>
      </p:sp>
    </p:spTree>
  </p:cSld>
  <p:clrMapOvr>
    <a:masterClrMapping/>
  </p:clrMapOvr>
  <p:transition advClick="0"/>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2"/>
          <p:cNvSpPr>
            <a:spLocks noGrp="1"/>
          </p:cNvSpPr>
          <p:nvPr>
            <p:ph idx="1"/>
          </p:nvPr>
        </p:nvSpPr>
        <p:spPr/>
        <p:txBody>
          <a:bodyPr vert="horz" wrap="square" lIns="91440" tIns="45720" rIns="91440" bIns="45720" anchor="t" anchorCtr="0"/>
          <a:lstStyle/>
          <a:p>
            <a:r>
              <a:rPr lang="en-US" altLang="zh-CN" dirty="0"/>
              <a:t>2. </a:t>
            </a:r>
            <a:r>
              <a:rPr lang="zh-CN" altLang="en-US" dirty="0"/>
              <a:t>数据库</a:t>
            </a:r>
            <a:r>
              <a:rPr lang="zh-CN" altLang="en-US" b="1" dirty="0">
                <a:solidFill>
                  <a:srgbClr val="FF0000"/>
                </a:solidFill>
              </a:rPr>
              <a:t>结构（数据）设计</a:t>
            </a:r>
            <a:r>
              <a:rPr lang="zh-CN" altLang="en-US" dirty="0"/>
              <a:t>和数据</a:t>
            </a:r>
            <a:r>
              <a:rPr lang="zh-CN" altLang="en-US" b="1" dirty="0">
                <a:solidFill>
                  <a:srgbClr val="FF0000"/>
                </a:solidFill>
              </a:rPr>
              <a:t>行为（处理）设计</a:t>
            </a:r>
            <a:r>
              <a:rPr lang="zh-CN" altLang="en-US" dirty="0"/>
              <a:t>相结合 </a:t>
            </a:r>
            <a:endParaRPr lang="en-US" altLang="zh-CN" dirty="0"/>
          </a:p>
          <a:p>
            <a:pPr lvl="1" indent="-436245"/>
            <a:r>
              <a:rPr lang="zh-CN" altLang="en-US" dirty="0"/>
              <a:t>将数据库</a:t>
            </a:r>
            <a:r>
              <a:rPr lang="zh-CN" altLang="en-US" b="1" dirty="0">
                <a:solidFill>
                  <a:srgbClr val="FF0000"/>
                </a:solidFill>
              </a:rPr>
              <a:t>结构设计</a:t>
            </a:r>
            <a:r>
              <a:rPr lang="zh-CN" altLang="en-US" dirty="0"/>
              <a:t>和</a:t>
            </a:r>
            <a:r>
              <a:rPr lang="zh-CN" altLang="en-US" b="1" dirty="0">
                <a:solidFill>
                  <a:srgbClr val="FF0000"/>
                </a:solidFill>
              </a:rPr>
              <a:t>数据处理设计</a:t>
            </a:r>
            <a:r>
              <a:rPr lang="zh-CN" altLang="en-US" dirty="0"/>
              <a:t>密切结合</a:t>
            </a:r>
          </a:p>
          <a:p>
            <a:pPr lvl="1" indent="-436245"/>
            <a:r>
              <a:rPr lang="zh-CN" altLang="en-US" dirty="0"/>
              <a:t>数据库设计与</a:t>
            </a:r>
            <a:r>
              <a:rPr lang="zh-CN" altLang="en-US" b="1" dirty="0">
                <a:solidFill>
                  <a:srgbClr val="FF0000"/>
                </a:solidFill>
              </a:rPr>
              <a:t>应用系统设计</a:t>
            </a:r>
            <a:r>
              <a:rPr lang="zh-CN" altLang="en-US" dirty="0"/>
              <a:t>相结合 </a:t>
            </a:r>
            <a:endParaRPr lang="en-US" altLang="zh-CN" dirty="0"/>
          </a:p>
          <a:p>
            <a:r>
              <a:rPr lang="zh-CN" altLang="en-US" dirty="0"/>
              <a:t>结构和行为分离的设计 </a:t>
            </a:r>
            <a:endParaRPr lang="en-US" altLang="zh-CN" dirty="0"/>
          </a:p>
          <a:p>
            <a:pPr lvl="1" indent="-436245"/>
            <a:r>
              <a:rPr lang="zh-CN" altLang="en-US" dirty="0"/>
              <a:t>传统的软件工程：重行为设计，忽视对应用中数据语义的分析和抽象。结构化设计和逐步求精的方法。</a:t>
            </a:r>
            <a:endParaRPr lang="en-US" altLang="zh-CN" dirty="0"/>
          </a:p>
          <a:p>
            <a:pPr lvl="1" indent="-436245"/>
            <a:r>
              <a:rPr lang="zh-CN" altLang="en-US" dirty="0"/>
              <a:t>早期的数据库设计：重结构设计，致力于数据模型和数据库建模方法研究，忽视了行为设计对结构设计的影响</a:t>
            </a:r>
          </a:p>
        </p:txBody>
      </p:sp>
      <p:sp>
        <p:nvSpPr>
          <p:cNvPr id="15362" name="标题 1"/>
          <p:cNvSpPr>
            <a:spLocks noGrp="1"/>
          </p:cNvSpPr>
          <p:nvPr>
            <p:ph type="title"/>
          </p:nvPr>
        </p:nvSpPr>
        <p:spPr/>
        <p:txBody>
          <a:bodyPr vert="horz" wrap="square" lIns="91440" tIns="45720" rIns="91440" bIns="45720" anchor="b" anchorCtr="0"/>
          <a:lstStyle/>
          <a:p>
            <a:r>
              <a:rPr lang="en-US" altLang="zh-CN" dirty="0"/>
              <a:t>7.1.1 </a:t>
            </a:r>
            <a:r>
              <a:rPr lang="zh-CN" altLang="en-US" dirty="0"/>
              <a:t>数据库设计的特点</a:t>
            </a:r>
          </a:p>
        </p:txBody>
      </p:sp>
    </p:spTree>
  </p:cSld>
  <p:clrMapOvr>
    <a:masterClrMapping/>
  </p:clrMapOvr>
  <p:transition advClick="0"/>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p:cNvSpPr>
          <p:nvPr>
            <p:ph type="title"/>
          </p:nvPr>
        </p:nvSpPr>
        <p:spPr/>
        <p:txBody>
          <a:bodyPr vert="horz" wrap="square" lIns="91440" tIns="45720" rIns="91440" bIns="45720" anchor="b" anchorCtr="0"/>
          <a:lstStyle/>
          <a:p>
            <a:endParaRPr lang="zh-CN" altLang="en-US" dirty="0"/>
          </a:p>
        </p:txBody>
      </p:sp>
      <p:sp>
        <p:nvSpPr>
          <p:cNvPr id="16386" name="内容占位符 2"/>
          <p:cNvSpPr>
            <a:spLocks noGrp="1"/>
          </p:cNvSpPr>
          <p:nvPr>
            <p:ph idx="1"/>
          </p:nvPr>
        </p:nvSpPr>
        <p:spPr/>
        <p:txBody>
          <a:bodyPr vert="horz" wrap="square" lIns="91440" tIns="45720" rIns="91440" bIns="45720" anchor="t" anchorCtr="0"/>
          <a:lstStyle/>
          <a:p>
            <a:endParaRPr lang="zh-CN" altLang="en-US" dirty="0"/>
          </a:p>
        </p:txBody>
      </p:sp>
      <p:pic>
        <p:nvPicPr>
          <p:cNvPr id="16387" name="Picture 2"/>
          <p:cNvPicPr>
            <a:picLocks noChangeAspect="1"/>
          </p:cNvPicPr>
          <p:nvPr/>
        </p:nvPicPr>
        <p:blipFill>
          <a:blip r:embed="rId2"/>
          <a:stretch>
            <a:fillRect/>
          </a:stretch>
        </p:blipFill>
        <p:spPr>
          <a:xfrm>
            <a:off x="2711450" y="260350"/>
            <a:ext cx="7305040" cy="6008370"/>
          </a:xfrm>
          <a:prstGeom prst="rect">
            <a:avLst/>
          </a:prstGeom>
          <a:noFill/>
          <a:ln w="9525">
            <a:noFill/>
          </a:ln>
        </p:spPr>
      </p:pic>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p:txBody>
          <a:bodyPr vert="horz" wrap="square" lIns="91440" tIns="45720" rIns="91440" bIns="45720" anchor="b" anchorCtr="0"/>
          <a:lstStyle/>
          <a:p>
            <a:r>
              <a:rPr lang="en-US" altLang="zh-CN" b="1" dirty="0"/>
              <a:t>7.1.2 </a:t>
            </a:r>
            <a:r>
              <a:rPr lang="zh-CN" altLang="en-US" b="1" dirty="0"/>
              <a:t>数据库设计方法</a:t>
            </a:r>
          </a:p>
        </p:txBody>
      </p:sp>
      <p:sp>
        <p:nvSpPr>
          <p:cNvPr id="17410" name="内容占位符 2"/>
          <p:cNvSpPr>
            <a:spLocks noGrp="1"/>
          </p:cNvSpPr>
          <p:nvPr>
            <p:ph idx="1"/>
          </p:nvPr>
        </p:nvSpPr>
        <p:spPr/>
        <p:txBody>
          <a:bodyPr vert="horz" wrap="square" lIns="91440" tIns="45720" rIns="91440" bIns="45720" anchor="t" anchorCtr="0"/>
          <a:lstStyle/>
          <a:p>
            <a:r>
              <a:rPr lang="zh-CN" altLang="en-US" dirty="0"/>
              <a:t>大型数据库设计是涉及多学科的综合性技术，又是一项庞大的工程项目。它要求多方面的知识和技术。</a:t>
            </a:r>
            <a:endParaRPr lang="en-US" altLang="zh-CN" dirty="0"/>
          </a:p>
          <a:p>
            <a:r>
              <a:rPr lang="zh-CN" altLang="en-US" dirty="0"/>
              <a:t>主要包括： </a:t>
            </a:r>
            <a:endParaRPr lang="en-US" altLang="zh-CN" dirty="0"/>
          </a:p>
          <a:p>
            <a:pPr lvl="1" indent="-436245"/>
            <a:r>
              <a:rPr lang="zh-CN" altLang="en-US" b="1" dirty="0">
                <a:solidFill>
                  <a:srgbClr val="FF0000"/>
                </a:solidFill>
              </a:rPr>
              <a:t>计算机</a:t>
            </a:r>
            <a:r>
              <a:rPr lang="zh-CN" altLang="en-US" dirty="0"/>
              <a:t>的基础知识，</a:t>
            </a:r>
            <a:r>
              <a:rPr lang="zh-CN" altLang="en-US" b="1" dirty="0">
                <a:solidFill>
                  <a:srgbClr val="FF0000"/>
                </a:solidFill>
              </a:rPr>
              <a:t>软件工程</a:t>
            </a:r>
            <a:r>
              <a:rPr lang="zh-CN" altLang="en-US" dirty="0"/>
              <a:t>的原理和方法 </a:t>
            </a:r>
            <a:endParaRPr lang="en-US" altLang="zh-CN" dirty="0"/>
          </a:p>
          <a:p>
            <a:pPr lvl="1" indent="-436245"/>
            <a:r>
              <a:rPr lang="zh-CN" altLang="en-US" b="1" dirty="0">
                <a:solidFill>
                  <a:srgbClr val="FF0000"/>
                </a:solidFill>
              </a:rPr>
              <a:t>程序设计</a:t>
            </a:r>
            <a:r>
              <a:rPr lang="zh-CN" altLang="en-US" dirty="0"/>
              <a:t>的方法和技巧，数据库的基本知识</a:t>
            </a:r>
            <a:endParaRPr lang="en-US" altLang="zh-CN" dirty="0"/>
          </a:p>
          <a:p>
            <a:pPr lvl="1" indent="-436245"/>
            <a:r>
              <a:rPr lang="zh-CN" altLang="en-US" b="1" dirty="0">
                <a:solidFill>
                  <a:srgbClr val="FF0000"/>
                </a:solidFill>
              </a:rPr>
              <a:t>数据库设计</a:t>
            </a:r>
            <a:r>
              <a:rPr lang="zh-CN" altLang="en-US" dirty="0"/>
              <a:t>技术，应用领域的知识</a:t>
            </a:r>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内容占位符 2"/>
          <p:cNvSpPr>
            <a:spLocks noGrp="1"/>
          </p:cNvSpPr>
          <p:nvPr>
            <p:ph idx="1"/>
          </p:nvPr>
        </p:nvSpPr>
        <p:spPr>
          <a:xfrm>
            <a:off x="653415" y="1196975"/>
            <a:ext cx="10835005" cy="4800600"/>
          </a:xfrm>
        </p:spPr>
        <p:txBody>
          <a:bodyPr vert="horz" wrap="square" lIns="91440" tIns="45720" rIns="91440" bIns="45720" anchor="t" anchorCtr="0"/>
          <a:lstStyle/>
          <a:p>
            <a:r>
              <a:rPr lang="zh-CN" altLang="en-US" sz="2800" b="1" dirty="0">
                <a:solidFill>
                  <a:srgbClr val="FF0000"/>
                </a:solidFill>
              </a:rPr>
              <a:t>手工试凑法 </a:t>
            </a:r>
            <a:endParaRPr lang="en-US" altLang="zh-CN" sz="2800" b="1" dirty="0">
              <a:solidFill>
                <a:srgbClr val="FF0000"/>
              </a:solidFill>
            </a:endParaRPr>
          </a:p>
          <a:p>
            <a:r>
              <a:rPr lang="zh-CN" altLang="en-US" sz="2400" dirty="0"/>
              <a:t>设计质量与设计人员的经验和水平有直接关系 缺乏科学理论和工程方法的支持，工程的质量难以保证 。</a:t>
            </a:r>
            <a:endParaRPr lang="en-US" altLang="zh-CN" sz="2400" dirty="0"/>
          </a:p>
          <a:p>
            <a:r>
              <a:rPr lang="zh-CN" altLang="en-US" sz="2400" dirty="0"/>
              <a:t>数据库运行一段时间后常常又不同程度地发现各种问题，增加了维护代价。</a:t>
            </a:r>
            <a:endParaRPr lang="en-US" altLang="zh-CN" sz="2400" dirty="0"/>
          </a:p>
          <a:p>
            <a:r>
              <a:rPr lang="zh-CN" altLang="en-US" sz="2800" b="1" dirty="0">
                <a:solidFill>
                  <a:srgbClr val="FF0000"/>
                </a:solidFill>
              </a:rPr>
              <a:t>规范设计法</a:t>
            </a:r>
            <a:endParaRPr lang="en-US" altLang="zh-CN" sz="2800" b="1" dirty="0">
              <a:solidFill>
                <a:srgbClr val="FF0000"/>
              </a:solidFill>
            </a:endParaRPr>
          </a:p>
          <a:p>
            <a:r>
              <a:rPr lang="zh-CN" altLang="en-US" sz="2400" dirty="0"/>
              <a:t>新奥尔良（</a:t>
            </a:r>
            <a:r>
              <a:rPr lang="en-US" altLang="zh-CN" sz="2400" dirty="0"/>
              <a:t>New Orleans</a:t>
            </a:r>
            <a:r>
              <a:rPr lang="zh-CN" altLang="en-US" sz="2400" dirty="0"/>
              <a:t>）方法 </a:t>
            </a:r>
            <a:endParaRPr lang="en-US" altLang="zh-CN" sz="2400" dirty="0"/>
          </a:p>
          <a:p>
            <a:r>
              <a:rPr lang="zh-CN" altLang="en-US" sz="2400" dirty="0"/>
              <a:t>基于</a:t>
            </a:r>
            <a:r>
              <a:rPr lang="en-US" altLang="zh-CN" sz="2400" b="1" dirty="0">
                <a:solidFill>
                  <a:srgbClr val="FF0000"/>
                </a:solidFill>
              </a:rPr>
              <a:t>E-R</a:t>
            </a:r>
            <a:r>
              <a:rPr lang="zh-CN" altLang="en-US" sz="2400" b="1" dirty="0">
                <a:solidFill>
                  <a:srgbClr val="FF0000"/>
                </a:solidFill>
              </a:rPr>
              <a:t>模型的数据库设计方法 </a:t>
            </a:r>
            <a:endParaRPr lang="en-US" altLang="zh-CN" sz="2400" b="1" dirty="0">
              <a:solidFill>
                <a:srgbClr val="FF0000"/>
              </a:solidFill>
            </a:endParaRPr>
          </a:p>
          <a:p>
            <a:r>
              <a:rPr lang="en-US" altLang="zh-CN" sz="2400" dirty="0"/>
              <a:t>3NF</a:t>
            </a:r>
            <a:r>
              <a:rPr lang="zh-CN" altLang="en-US" sz="2400" dirty="0"/>
              <a:t>（第三范式）的设计方法 </a:t>
            </a:r>
            <a:endParaRPr lang="en-US" altLang="zh-CN" sz="2400" dirty="0"/>
          </a:p>
          <a:p>
            <a:r>
              <a:rPr lang="zh-CN" altLang="en-US" sz="2400" dirty="0"/>
              <a:t>面向对象的数据库设计方法 </a:t>
            </a:r>
            <a:endParaRPr lang="en-US" altLang="zh-CN" sz="2400" dirty="0"/>
          </a:p>
          <a:p>
            <a:r>
              <a:rPr lang="zh-CN" altLang="en-US" sz="2400" dirty="0"/>
              <a:t>统一建模语言（</a:t>
            </a:r>
            <a:r>
              <a:rPr lang="en-US" altLang="zh-CN" sz="2400" dirty="0"/>
              <a:t>UML</a:t>
            </a:r>
            <a:r>
              <a:rPr lang="zh-CN" altLang="en-US" sz="2400" dirty="0"/>
              <a:t>）方法</a:t>
            </a:r>
          </a:p>
        </p:txBody>
      </p:sp>
      <p:sp>
        <p:nvSpPr>
          <p:cNvPr id="18434" name="标题 1"/>
          <p:cNvSpPr>
            <a:spLocks noGrp="1"/>
          </p:cNvSpPr>
          <p:nvPr>
            <p:ph type="title"/>
          </p:nvPr>
        </p:nvSpPr>
        <p:spPr/>
        <p:txBody>
          <a:bodyPr vert="horz" wrap="square" lIns="91440" tIns="45720" rIns="91440" bIns="45720" anchor="b" anchorCtr="0"/>
          <a:lstStyle/>
          <a:p>
            <a:r>
              <a:rPr lang="en-US" altLang="zh-CN" b="1" dirty="0"/>
              <a:t>7.1.2 </a:t>
            </a:r>
            <a:r>
              <a:rPr lang="zh-CN" altLang="en-US" b="1" dirty="0"/>
              <a:t>数据库设计方法</a:t>
            </a:r>
          </a:p>
        </p:txBody>
      </p:sp>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title"/>
          </p:nvPr>
        </p:nvSpPr>
        <p:spPr/>
        <p:txBody>
          <a:bodyPr vert="horz" wrap="square" lIns="91440" tIns="45720" rIns="91440" bIns="45720" anchor="b" anchorCtr="0"/>
          <a:lstStyle/>
          <a:p>
            <a:r>
              <a:rPr lang="en-US" altLang="zh-CN" dirty="0"/>
              <a:t>7.1.3 </a:t>
            </a:r>
            <a:r>
              <a:rPr lang="zh-CN" altLang="en-US" dirty="0"/>
              <a:t>数据库设计的基本步骤</a:t>
            </a:r>
          </a:p>
        </p:txBody>
      </p:sp>
      <p:sp>
        <p:nvSpPr>
          <p:cNvPr id="19458" name="内容占位符 2"/>
          <p:cNvSpPr>
            <a:spLocks noGrp="1"/>
          </p:cNvSpPr>
          <p:nvPr>
            <p:ph idx="1"/>
          </p:nvPr>
        </p:nvSpPr>
        <p:spPr>
          <a:xfrm>
            <a:off x="1268730" y="1143000"/>
            <a:ext cx="9291320" cy="5000625"/>
          </a:xfrm>
        </p:spPr>
        <p:txBody>
          <a:bodyPr vert="horz" wrap="square" lIns="91440" tIns="45720" rIns="91440" bIns="45720" anchor="t" anchorCtr="0"/>
          <a:lstStyle/>
          <a:p>
            <a:r>
              <a:rPr lang="zh-CN" altLang="en-US" dirty="0"/>
              <a:t>数据库设计分</a:t>
            </a:r>
            <a:r>
              <a:rPr lang="en-US" altLang="zh-CN" dirty="0"/>
              <a:t>6</a:t>
            </a:r>
            <a:r>
              <a:rPr lang="zh-CN" altLang="en-US" dirty="0"/>
              <a:t>个阶段</a:t>
            </a:r>
            <a:endParaRPr lang="en-US" altLang="zh-CN" dirty="0"/>
          </a:p>
          <a:p>
            <a:pPr lvl="1" indent="-436245"/>
            <a:r>
              <a:rPr lang="zh-CN" altLang="en-US" b="1" dirty="0">
                <a:solidFill>
                  <a:srgbClr val="FF0000"/>
                </a:solidFill>
              </a:rPr>
              <a:t>需求分析 </a:t>
            </a:r>
            <a:endParaRPr lang="en-US" altLang="zh-CN" b="1" dirty="0">
              <a:solidFill>
                <a:srgbClr val="FF0000"/>
              </a:solidFill>
            </a:endParaRPr>
          </a:p>
          <a:p>
            <a:pPr lvl="1" indent="-436245"/>
            <a:r>
              <a:rPr lang="zh-CN" altLang="en-US" b="1" dirty="0">
                <a:solidFill>
                  <a:srgbClr val="FF0000"/>
                </a:solidFill>
              </a:rPr>
              <a:t>概念结构设计 </a:t>
            </a:r>
            <a:endParaRPr lang="en-US" altLang="zh-CN" b="1" dirty="0">
              <a:solidFill>
                <a:srgbClr val="FF0000"/>
              </a:solidFill>
            </a:endParaRPr>
          </a:p>
          <a:p>
            <a:pPr lvl="1" indent="-436245"/>
            <a:r>
              <a:rPr lang="zh-CN" altLang="en-US" b="1" dirty="0">
                <a:solidFill>
                  <a:srgbClr val="0000FF"/>
                </a:solidFill>
              </a:rPr>
              <a:t>逻辑结构设计 </a:t>
            </a:r>
            <a:endParaRPr lang="en-US" altLang="zh-CN" b="1" dirty="0">
              <a:solidFill>
                <a:srgbClr val="0000FF"/>
              </a:solidFill>
            </a:endParaRPr>
          </a:p>
          <a:p>
            <a:pPr lvl="1" indent="-436245"/>
            <a:r>
              <a:rPr lang="zh-CN" altLang="en-US" b="1" dirty="0">
                <a:solidFill>
                  <a:srgbClr val="0000FF"/>
                </a:solidFill>
              </a:rPr>
              <a:t>物理结构设计 </a:t>
            </a:r>
            <a:endParaRPr lang="en-US" altLang="zh-CN" b="1" dirty="0">
              <a:solidFill>
                <a:srgbClr val="0000FF"/>
              </a:solidFill>
            </a:endParaRPr>
          </a:p>
          <a:p>
            <a:pPr lvl="1" indent="-436245"/>
            <a:r>
              <a:rPr lang="zh-CN" altLang="en-US" dirty="0"/>
              <a:t>数据库实施 </a:t>
            </a:r>
            <a:endParaRPr lang="en-US" altLang="zh-CN" dirty="0"/>
          </a:p>
          <a:p>
            <a:pPr lvl="1" indent="-436245"/>
            <a:r>
              <a:rPr lang="zh-CN" altLang="en-US" dirty="0"/>
              <a:t>数据库运行和维护 </a:t>
            </a:r>
            <a:endParaRPr lang="en-US" altLang="zh-CN" dirty="0"/>
          </a:p>
          <a:p>
            <a:r>
              <a:rPr lang="zh-CN" altLang="en-US" b="1" dirty="0">
                <a:solidFill>
                  <a:srgbClr val="FF0000"/>
                </a:solidFill>
              </a:rPr>
              <a:t>需求分析和概念设计</a:t>
            </a:r>
            <a:r>
              <a:rPr lang="zh-CN" altLang="en-US" dirty="0"/>
              <a:t>独立于任何数据库管理系统，</a:t>
            </a:r>
            <a:r>
              <a:rPr lang="zh-CN" altLang="en-US" b="1" dirty="0">
                <a:solidFill>
                  <a:srgbClr val="FF0000"/>
                </a:solidFill>
              </a:rPr>
              <a:t>逻辑设计和物理设计</a:t>
            </a:r>
            <a:r>
              <a:rPr lang="zh-CN" altLang="en-US" dirty="0"/>
              <a:t>与选用的数据库管理系统密切相关</a:t>
            </a:r>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p:txBody>
          <a:bodyPr vert="horz" wrap="square" lIns="91440" tIns="45720" rIns="91440" bIns="45720" anchor="b" anchorCtr="0"/>
          <a:lstStyle/>
          <a:p>
            <a:endParaRPr lang="zh-CN" altLang="en-US" dirty="0"/>
          </a:p>
        </p:txBody>
      </p:sp>
      <p:sp>
        <p:nvSpPr>
          <p:cNvPr id="20482" name="内容占位符 2"/>
          <p:cNvSpPr>
            <a:spLocks noGrp="1"/>
          </p:cNvSpPr>
          <p:nvPr>
            <p:ph idx="1"/>
          </p:nvPr>
        </p:nvSpPr>
        <p:spPr/>
        <p:txBody>
          <a:bodyPr vert="horz" wrap="square" lIns="91440" tIns="45720" rIns="91440" bIns="45720" anchor="t" anchorCtr="0"/>
          <a:lstStyle/>
          <a:p>
            <a:endParaRPr lang="zh-CN" altLang="en-US" dirty="0"/>
          </a:p>
        </p:txBody>
      </p:sp>
      <p:pic>
        <p:nvPicPr>
          <p:cNvPr id="20483" name="Picture 2"/>
          <p:cNvPicPr>
            <a:picLocks noChangeAspect="1"/>
          </p:cNvPicPr>
          <p:nvPr/>
        </p:nvPicPr>
        <p:blipFill>
          <a:blip r:embed="rId2"/>
          <a:stretch>
            <a:fillRect/>
          </a:stretch>
        </p:blipFill>
        <p:spPr>
          <a:xfrm>
            <a:off x="2024063" y="142875"/>
            <a:ext cx="5643562" cy="6411913"/>
          </a:xfrm>
          <a:prstGeom prst="rect">
            <a:avLst/>
          </a:prstGeom>
          <a:noFill/>
          <a:ln w="9525">
            <a:noFill/>
          </a:ln>
        </p:spPr>
      </p:pic>
    </p:spTree>
  </p:cSld>
  <p:clrMapOvr>
    <a:masterClrMapping/>
  </p:clrMapOvr>
  <p:transition advClick="0"/>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p:cNvSpPr>
          <p:nvPr>
            <p:ph type="title"/>
          </p:nvPr>
        </p:nvSpPr>
        <p:spPr/>
        <p:txBody>
          <a:bodyPr vert="horz" wrap="square" lIns="91440" tIns="45720" rIns="91440" bIns="45720" anchor="b" anchorCtr="0"/>
          <a:lstStyle/>
          <a:p>
            <a:r>
              <a:rPr lang="zh-CN" altLang="en-US" dirty="0"/>
              <a:t>参加数据库设计的人员 </a:t>
            </a:r>
          </a:p>
        </p:txBody>
      </p:sp>
      <p:sp>
        <p:nvSpPr>
          <p:cNvPr id="21506" name="内容占位符 2"/>
          <p:cNvSpPr>
            <a:spLocks noGrp="1"/>
          </p:cNvSpPr>
          <p:nvPr>
            <p:ph idx="1"/>
          </p:nvPr>
        </p:nvSpPr>
        <p:spPr/>
        <p:txBody>
          <a:bodyPr vert="horz" wrap="square" lIns="91440" tIns="45720" rIns="91440" bIns="45720" anchor="t" anchorCtr="0"/>
          <a:lstStyle/>
          <a:p>
            <a:r>
              <a:rPr lang="zh-CN" altLang="en-US" b="1" dirty="0">
                <a:solidFill>
                  <a:srgbClr val="FF0000"/>
                </a:solidFill>
              </a:rPr>
              <a:t>系统分析人员和数据库设计人员</a:t>
            </a:r>
            <a:r>
              <a:rPr lang="zh-CN" altLang="en-US" dirty="0"/>
              <a:t>：自始至终参与数据库设计，其水平决定了数据库系统的质量 </a:t>
            </a:r>
            <a:endParaRPr lang="en-US" altLang="zh-CN" dirty="0"/>
          </a:p>
          <a:p>
            <a:r>
              <a:rPr lang="zh-CN" altLang="en-US" b="1" dirty="0">
                <a:solidFill>
                  <a:srgbClr val="FF0000"/>
                </a:solidFill>
              </a:rPr>
              <a:t>数据库管理员和用户代表</a:t>
            </a:r>
            <a:r>
              <a:rPr lang="zh-CN" altLang="en-US" dirty="0"/>
              <a:t>：主要参加需求分析与数据库的运行和维护</a:t>
            </a:r>
            <a:endParaRPr lang="en-US" altLang="zh-CN" dirty="0"/>
          </a:p>
          <a:p>
            <a:r>
              <a:rPr lang="zh-CN" altLang="en-US" b="1" dirty="0">
                <a:solidFill>
                  <a:srgbClr val="FF0000"/>
                </a:solidFill>
              </a:rPr>
              <a:t>应用开发人员 </a:t>
            </a:r>
            <a:r>
              <a:rPr lang="zh-CN" altLang="en-US" dirty="0"/>
              <a:t>：包括程序员和操作员。 在实施阶段参与进来，分别负责编制程序和准备软硬件环境</a:t>
            </a:r>
          </a:p>
        </p:txBody>
      </p:sp>
    </p:spTree>
  </p:cSld>
  <p:clrMapOvr>
    <a:masterClrMapping/>
  </p:clrMapOvr>
  <p:transition advClick="0"/>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p:cNvSpPr>
          <p:nvPr>
            <p:ph type="title"/>
          </p:nvPr>
        </p:nvSpPr>
        <p:spPr/>
        <p:txBody>
          <a:bodyPr vert="horz" wrap="square" lIns="91440" tIns="45720" rIns="91440" bIns="45720" anchor="b" anchorCtr="0"/>
          <a:lstStyle/>
          <a:p>
            <a:r>
              <a:rPr lang="zh-CN" altLang="en-US" dirty="0"/>
              <a:t>数据库设计的基本步骤</a:t>
            </a:r>
          </a:p>
        </p:txBody>
      </p:sp>
      <p:sp>
        <p:nvSpPr>
          <p:cNvPr id="22530" name="内容占位符 2"/>
          <p:cNvSpPr>
            <a:spLocks noGrp="1"/>
          </p:cNvSpPr>
          <p:nvPr>
            <p:ph idx="1"/>
          </p:nvPr>
        </p:nvSpPr>
        <p:spPr/>
        <p:txBody>
          <a:bodyPr vert="horz" wrap="square" lIns="91440" tIns="45720" rIns="91440" bIns="45720" anchor="t" anchorCtr="0"/>
          <a:lstStyle/>
          <a:p>
            <a:r>
              <a:rPr lang="en-US" altLang="zh-CN" dirty="0"/>
              <a:t>1. </a:t>
            </a:r>
            <a:r>
              <a:rPr lang="zh-CN" altLang="en-US" b="1" dirty="0">
                <a:solidFill>
                  <a:srgbClr val="FF0000"/>
                </a:solidFill>
              </a:rPr>
              <a:t>需求分析阶段 </a:t>
            </a:r>
            <a:r>
              <a:rPr lang="zh-CN" altLang="en-US" dirty="0"/>
              <a:t>是否做得充分与准确，决定了构建数据库的速度和质量</a:t>
            </a:r>
            <a:endParaRPr lang="en-US" altLang="zh-CN" dirty="0"/>
          </a:p>
          <a:p>
            <a:r>
              <a:rPr lang="en-US" altLang="zh-CN" dirty="0"/>
              <a:t>2. </a:t>
            </a:r>
            <a:r>
              <a:rPr lang="zh-CN" altLang="en-US" dirty="0"/>
              <a:t>概念结构设计阶段 通过对用户需求进行综合、归纳与抽象，形成一个独立于具体数据库管理系统的概念模型</a:t>
            </a:r>
            <a:endParaRPr lang="en-US" altLang="zh-CN" dirty="0"/>
          </a:p>
          <a:p>
            <a:r>
              <a:rPr lang="en-US" altLang="zh-CN" dirty="0"/>
              <a:t>3. </a:t>
            </a:r>
            <a:r>
              <a:rPr lang="zh-CN" altLang="en-US" dirty="0"/>
              <a:t>逻辑结构设计阶段 将概念结构转换为某个数据库管理系统所支持的数据模型，并对其进行优化</a:t>
            </a:r>
          </a:p>
        </p:txBody>
      </p:sp>
    </p:spTree>
  </p:cSld>
  <p:clrMapOvr>
    <a:masterClrMapping/>
  </p:clrMapOvr>
  <p:transition advClick="0"/>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p:cNvSpPr>
          <p:nvPr>
            <p:ph type="title"/>
          </p:nvPr>
        </p:nvSpPr>
        <p:spPr/>
        <p:txBody>
          <a:bodyPr vert="horz" wrap="square" lIns="91440" tIns="45720" rIns="91440" bIns="45720" anchor="b" anchorCtr="0"/>
          <a:lstStyle/>
          <a:p>
            <a:r>
              <a:rPr lang="zh-CN" altLang="en-US" dirty="0"/>
              <a:t>数据库设计的基本步骤（续）</a:t>
            </a:r>
          </a:p>
        </p:txBody>
      </p:sp>
      <p:sp>
        <p:nvSpPr>
          <p:cNvPr id="23554" name="内容占位符 2"/>
          <p:cNvSpPr>
            <a:spLocks noGrp="1"/>
          </p:cNvSpPr>
          <p:nvPr>
            <p:ph idx="1"/>
          </p:nvPr>
        </p:nvSpPr>
        <p:spPr/>
        <p:txBody>
          <a:bodyPr vert="horz" wrap="square" lIns="91440" tIns="45720" rIns="91440" bIns="45720" anchor="t" anchorCtr="0"/>
          <a:lstStyle/>
          <a:p>
            <a:r>
              <a:rPr lang="en-US" altLang="zh-CN" dirty="0"/>
              <a:t>4. </a:t>
            </a:r>
            <a:r>
              <a:rPr lang="zh-CN" altLang="en-US" dirty="0"/>
              <a:t>物理结构设计阶段：为逻辑数据结构选取一个最适合应用环境的物理结构 包括存储结构和存取方法</a:t>
            </a:r>
            <a:endParaRPr lang="en-US" altLang="zh-CN" dirty="0"/>
          </a:p>
          <a:p>
            <a:r>
              <a:rPr lang="en-US" altLang="zh-CN" dirty="0"/>
              <a:t>5. </a:t>
            </a:r>
            <a:r>
              <a:rPr lang="zh-CN" altLang="en-US" dirty="0"/>
              <a:t>数据库实施阶段：根据逻辑设计和物理设计的结果构建数据库 编写与调试应用程序 组织数据入库并进行试运行</a:t>
            </a:r>
            <a:endParaRPr lang="en-US" altLang="zh-CN" dirty="0"/>
          </a:p>
          <a:p>
            <a:r>
              <a:rPr lang="en-US" altLang="zh-CN" dirty="0"/>
              <a:t>6. </a:t>
            </a:r>
            <a:r>
              <a:rPr lang="zh-CN" altLang="en-US" dirty="0"/>
              <a:t>数据库运行和维护阶段：经过试运行后即可投入正式运行 在运行过程中必须不断对其进行评估、调整与修改</a:t>
            </a:r>
          </a:p>
        </p:txBody>
      </p: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内容占位符 2"/>
          <p:cNvSpPr>
            <a:spLocks noGrp="1"/>
          </p:cNvSpPr>
          <p:nvPr>
            <p:ph idx="1"/>
          </p:nvPr>
        </p:nvSpPr>
        <p:spPr/>
        <p:txBody>
          <a:bodyPr vert="horz" wrap="square" lIns="91440" tIns="45720" rIns="91440" bIns="45720" anchor="t" anchorCtr="0"/>
          <a:lstStyle/>
          <a:p>
            <a:r>
              <a:rPr lang="zh-CN" altLang="en-US" dirty="0"/>
              <a:t>设计一个完善的数据库应用系统 往往是上述</a:t>
            </a:r>
            <a:r>
              <a:rPr lang="en-US" altLang="zh-CN" dirty="0"/>
              <a:t>6</a:t>
            </a:r>
            <a:r>
              <a:rPr lang="zh-CN" altLang="en-US" dirty="0"/>
              <a:t>个阶段的</a:t>
            </a:r>
            <a:r>
              <a:rPr lang="zh-CN" altLang="en-US" b="1" dirty="0">
                <a:solidFill>
                  <a:srgbClr val="FF0000"/>
                </a:solidFill>
              </a:rPr>
              <a:t>不断反复 </a:t>
            </a:r>
            <a:endParaRPr lang="en-US" altLang="zh-CN" b="1" dirty="0">
              <a:solidFill>
                <a:srgbClr val="FF0000"/>
              </a:solidFill>
            </a:endParaRPr>
          </a:p>
          <a:p>
            <a:r>
              <a:rPr lang="zh-CN" altLang="en-US" dirty="0"/>
              <a:t>这个设计步骤既是数据库设计的过程，也包括了数据库应用系统的设计过程 </a:t>
            </a:r>
            <a:endParaRPr lang="en-US" altLang="zh-CN" dirty="0"/>
          </a:p>
          <a:p>
            <a:r>
              <a:rPr lang="zh-CN" altLang="en-US" dirty="0"/>
              <a:t>把</a:t>
            </a:r>
            <a:r>
              <a:rPr lang="zh-CN" altLang="en-US" b="1" dirty="0">
                <a:solidFill>
                  <a:srgbClr val="0000FF"/>
                </a:solidFill>
              </a:rPr>
              <a:t>数据库的设计</a:t>
            </a:r>
            <a:r>
              <a:rPr lang="zh-CN" altLang="en-US" dirty="0"/>
              <a:t>和对</a:t>
            </a:r>
            <a:r>
              <a:rPr lang="zh-CN" altLang="en-US" b="1" dirty="0">
                <a:solidFill>
                  <a:srgbClr val="0000FF"/>
                </a:solidFill>
              </a:rPr>
              <a:t>数据库中数据处理的设计</a:t>
            </a:r>
            <a:r>
              <a:rPr lang="zh-CN" altLang="en-US" dirty="0"/>
              <a:t>紧密结合起来，将这两个方面的需求分析、抽象、设计、实现在各个阶段同时进行，相互参照，相互补充，以完善两方面的设计</a:t>
            </a:r>
          </a:p>
        </p:txBody>
      </p:sp>
      <p:sp>
        <p:nvSpPr>
          <p:cNvPr id="24578" name="标题 1"/>
          <p:cNvSpPr>
            <a:spLocks noGrp="1"/>
          </p:cNvSpPr>
          <p:nvPr>
            <p:ph type="title"/>
          </p:nvPr>
        </p:nvSpPr>
        <p:spPr/>
        <p:txBody>
          <a:bodyPr vert="horz" wrap="square" lIns="91440" tIns="45720" rIns="91440" bIns="45720" anchor="b" anchorCtr="0"/>
          <a:lstStyle/>
          <a:p>
            <a:r>
              <a:rPr lang="zh-CN" altLang="en-US" dirty="0"/>
              <a:t>数据库设计的基本步骤（续）</a:t>
            </a:r>
          </a:p>
        </p:txBody>
      </p:sp>
    </p:spTree>
  </p:cSld>
  <p:clrMapOvr>
    <a:masterClrMapping/>
  </p:clrMapOvr>
  <p:transition advClick="0"/>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2"/>
          <p:cNvPicPr>
            <a:picLocks noGrp="1" noChangeAspect="1"/>
          </p:cNvPicPr>
          <p:nvPr>
            <p:ph idx="4294967295"/>
          </p:nvPr>
        </p:nvPicPr>
        <p:blipFill rotWithShape="1">
          <a:blip r:embed="rId3"/>
          <a:srcRect l="-1080" r="-1" b="6406"/>
          <a:stretch/>
        </p:blipFill>
        <p:spPr>
          <a:xfrm>
            <a:off x="2351405" y="331788"/>
            <a:ext cx="6264875" cy="6196368"/>
          </a:xfrm>
        </p:spPr>
      </p:pic>
    </p:spTree>
  </p:cSld>
  <p:clrMapOvr>
    <a:masterClrMapping/>
  </p:clrMapOvr>
  <p:transition advClick="0"/>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p:cNvSpPr>
          <p:nvPr>
            <p:ph type="title"/>
          </p:nvPr>
        </p:nvSpPr>
        <p:spPr/>
        <p:txBody>
          <a:bodyPr vert="horz" wrap="square" lIns="91440" tIns="45720" rIns="91440" bIns="45720" anchor="b" anchorCtr="0"/>
          <a:lstStyle/>
          <a:p>
            <a:r>
              <a:rPr lang="zh-CN" altLang="en-US" dirty="0"/>
              <a:t>数据库设计过程中的各级模式</a:t>
            </a:r>
          </a:p>
        </p:txBody>
      </p:sp>
      <p:sp>
        <p:nvSpPr>
          <p:cNvPr id="27650" name="内容占位符 2"/>
          <p:cNvSpPr>
            <a:spLocks noGrp="1"/>
          </p:cNvSpPr>
          <p:nvPr>
            <p:ph idx="1"/>
          </p:nvPr>
        </p:nvSpPr>
        <p:spPr/>
        <p:txBody>
          <a:bodyPr vert="horz" wrap="square" lIns="91440" tIns="45720" rIns="91440" bIns="45720" anchor="t" anchorCtr="0"/>
          <a:lstStyle/>
          <a:p>
            <a:r>
              <a:rPr lang="zh-CN" altLang="en-US" dirty="0"/>
              <a:t>数据库设计不同阶段形成的数据库各级模式</a:t>
            </a:r>
          </a:p>
        </p:txBody>
      </p:sp>
      <p:pic>
        <p:nvPicPr>
          <p:cNvPr id="27651" name="Picture 2"/>
          <p:cNvPicPr>
            <a:picLocks noChangeAspect="1"/>
          </p:cNvPicPr>
          <p:nvPr/>
        </p:nvPicPr>
        <p:blipFill rotWithShape="1">
          <a:blip r:embed="rId3"/>
          <a:srcRect l="2189" t="2859" r="3097"/>
          <a:stretch/>
        </p:blipFill>
        <p:spPr>
          <a:xfrm>
            <a:off x="2743200" y="1695499"/>
            <a:ext cx="6953200" cy="4310014"/>
          </a:xfrm>
          <a:prstGeom prst="rect">
            <a:avLst/>
          </a:prstGeom>
          <a:noFill/>
          <a:ln w="9525">
            <a:noFill/>
          </a:ln>
        </p:spPr>
      </p:pic>
    </p:spTree>
  </p:cSld>
  <p:clrMapOvr>
    <a:masterClrMapping/>
  </p:clrMapOvr>
  <p:transition advClick="0"/>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3"/>
          <p:cNvSpPr>
            <a:spLocks noGrp="1"/>
          </p:cNvSpPr>
          <p:nvPr>
            <p:ph idx="1"/>
          </p:nvPr>
        </p:nvSpPr>
        <p:spPr/>
        <p:txBody>
          <a:bodyPr vert="horz" wrap="square" lIns="91440" tIns="45720" rIns="91440" bIns="45720" anchor="t" anchorCtr="0"/>
          <a:lstStyle/>
          <a:p>
            <a:pPr>
              <a:buNone/>
            </a:pPr>
            <a:r>
              <a:rPr lang="en-US" altLang="zh-CN" sz="2800" dirty="0"/>
              <a:t>7.1  </a:t>
            </a:r>
            <a:r>
              <a:rPr lang="zh-CN" altLang="en-US" sz="2800" dirty="0"/>
              <a:t>数据库设计概述</a:t>
            </a:r>
          </a:p>
          <a:p>
            <a:pPr>
              <a:buNone/>
            </a:pPr>
            <a:r>
              <a:rPr lang="en-US" altLang="zh-CN" sz="2800" b="1" dirty="0">
                <a:solidFill>
                  <a:srgbClr val="FF0000"/>
                </a:solidFill>
              </a:rPr>
              <a:t>7.2  </a:t>
            </a:r>
            <a:r>
              <a:rPr lang="zh-CN" altLang="en-US" sz="2800" b="1" dirty="0">
                <a:solidFill>
                  <a:srgbClr val="FF0000"/>
                </a:solidFill>
              </a:rPr>
              <a:t>需求分析（不讲）</a:t>
            </a:r>
          </a:p>
          <a:p>
            <a:pPr>
              <a:buNone/>
            </a:pPr>
            <a:r>
              <a:rPr lang="en-US" altLang="zh-CN" sz="2800" dirty="0"/>
              <a:t>7.3  </a:t>
            </a:r>
            <a:r>
              <a:rPr lang="zh-CN" altLang="en-US" sz="2800" dirty="0"/>
              <a:t>概念结构设计</a:t>
            </a:r>
          </a:p>
          <a:p>
            <a:pPr>
              <a:buNone/>
            </a:pPr>
            <a:r>
              <a:rPr lang="en-US" altLang="zh-CN" sz="2800" dirty="0"/>
              <a:t>7.4  </a:t>
            </a:r>
            <a:r>
              <a:rPr lang="zh-CN" altLang="en-US" sz="2800" dirty="0"/>
              <a:t>逻辑结构设计</a:t>
            </a:r>
          </a:p>
          <a:p>
            <a:pPr>
              <a:buNone/>
            </a:pPr>
            <a:r>
              <a:rPr lang="en-US" altLang="zh-CN" sz="2800" dirty="0"/>
              <a:t>7.5  </a:t>
            </a:r>
            <a:r>
              <a:rPr lang="zh-CN" altLang="en-US" sz="2800" dirty="0"/>
              <a:t>数据库的物理设计</a:t>
            </a:r>
          </a:p>
          <a:p>
            <a:pPr>
              <a:buNone/>
            </a:pPr>
            <a:r>
              <a:rPr lang="en-US" altLang="zh-CN" sz="2800" dirty="0"/>
              <a:t>7.6  </a:t>
            </a:r>
            <a:r>
              <a:rPr lang="zh-CN" altLang="en-US" sz="2800" dirty="0"/>
              <a:t>数据库的实施和维护</a:t>
            </a:r>
          </a:p>
          <a:p>
            <a:pPr>
              <a:buNone/>
            </a:pPr>
            <a:r>
              <a:rPr lang="en-US" altLang="zh-CN" sz="2800" dirty="0"/>
              <a:t>7.7  </a:t>
            </a:r>
            <a:r>
              <a:rPr lang="zh-CN" altLang="en-US" sz="2800" dirty="0"/>
              <a:t>小结</a:t>
            </a:r>
          </a:p>
        </p:txBody>
      </p:sp>
      <p:sp>
        <p:nvSpPr>
          <p:cNvPr id="29698" name="Rectangle 2"/>
          <p:cNvSpPr>
            <a:spLocks noGrp="1"/>
          </p:cNvSpPr>
          <p:nvPr>
            <p:ph type="title"/>
          </p:nvPr>
        </p:nvSpPr>
        <p:spPr/>
        <p:txBody>
          <a:bodyPr vert="horz" wrap="square" lIns="91440" tIns="45720" rIns="91440" bIns="45720" anchor="b" anchorCtr="0"/>
          <a:lstStyle/>
          <a:p>
            <a:r>
              <a:rPr lang="zh-CN" altLang="en-US" dirty="0"/>
              <a:t>第七章  数据库设计</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3"/>
          <p:cNvSpPr>
            <a:spLocks noGrp="1"/>
          </p:cNvSpPr>
          <p:nvPr>
            <p:ph idx="1"/>
          </p:nvPr>
        </p:nvSpPr>
        <p:spPr/>
        <p:txBody>
          <a:bodyPr vert="horz" wrap="square" lIns="91440" tIns="45720" rIns="91440" bIns="45720" anchor="t" anchorCtr="0"/>
          <a:lstStyle/>
          <a:p>
            <a:pPr>
              <a:lnSpc>
                <a:spcPct val="140000"/>
              </a:lnSpc>
              <a:buNone/>
            </a:pPr>
            <a:r>
              <a:rPr lang="en-US" altLang="zh-CN" dirty="0">
                <a:solidFill>
                  <a:srgbClr val="0000FF"/>
                </a:solidFill>
              </a:rPr>
              <a:t>7.2.1  </a:t>
            </a:r>
            <a:r>
              <a:rPr lang="zh-CN" altLang="en-US" dirty="0">
                <a:solidFill>
                  <a:srgbClr val="0000FF"/>
                </a:solidFill>
              </a:rPr>
              <a:t>需求分析的任务</a:t>
            </a:r>
          </a:p>
          <a:p>
            <a:pPr>
              <a:lnSpc>
                <a:spcPct val="140000"/>
              </a:lnSpc>
              <a:buNone/>
            </a:pPr>
            <a:r>
              <a:rPr lang="en-US" altLang="zh-CN" dirty="0"/>
              <a:t>7.2.2  </a:t>
            </a:r>
            <a:r>
              <a:rPr lang="zh-CN" altLang="en-US" dirty="0"/>
              <a:t>需求分析的方法</a:t>
            </a:r>
          </a:p>
          <a:p>
            <a:pPr>
              <a:lnSpc>
                <a:spcPct val="140000"/>
              </a:lnSpc>
              <a:buNone/>
            </a:pPr>
            <a:r>
              <a:rPr lang="en-US" altLang="zh-CN" dirty="0"/>
              <a:t>7.2.3  </a:t>
            </a:r>
            <a:r>
              <a:rPr lang="zh-CN" altLang="en-US" dirty="0"/>
              <a:t>数据字典</a:t>
            </a:r>
          </a:p>
        </p:txBody>
      </p:sp>
      <p:sp>
        <p:nvSpPr>
          <p:cNvPr id="31746" name="Rectangle 2"/>
          <p:cNvSpPr>
            <a:spLocks noGrp="1"/>
          </p:cNvSpPr>
          <p:nvPr>
            <p:ph type="title"/>
          </p:nvPr>
        </p:nvSpPr>
        <p:spPr/>
        <p:txBody>
          <a:bodyPr vert="horz" wrap="square" lIns="91440" tIns="45720" rIns="91440" bIns="45720" anchor="b" anchorCtr="0"/>
          <a:lstStyle/>
          <a:p>
            <a:r>
              <a:rPr lang="en-US" altLang="zh-CN" dirty="0"/>
              <a:t>7.2  </a:t>
            </a:r>
            <a:r>
              <a:rPr lang="zh-CN" altLang="en-US" dirty="0"/>
              <a:t>需求分析</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3"/>
          <p:cNvSpPr>
            <a:spLocks noGrp="1"/>
          </p:cNvSpPr>
          <p:nvPr>
            <p:ph idx="1"/>
          </p:nvPr>
        </p:nvSpPr>
        <p:spPr>
          <a:xfrm>
            <a:off x="983615" y="1285875"/>
            <a:ext cx="9765665" cy="4714875"/>
          </a:xfrm>
        </p:spPr>
        <p:txBody>
          <a:bodyPr vert="horz" wrap="square" lIns="91440" tIns="45720" rIns="91440" bIns="45720" anchor="t" anchorCtr="0"/>
          <a:lstStyle/>
          <a:p>
            <a:pPr>
              <a:lnSpc>
                <a:spcPct val="150000"/>
              </a:lnSpc>
            </a:pPr>
            <a:r>
              <a:rPr lang="zh-CN" altLang="en-US" sz="3600" dirty="0"/>
              <a:t>需求分析就是分析用户的</a:t>
            </a:r>
            <a:r>
              <a:rPr lang="zh-CN" altLang="en-US" sz="3600" dirty="0">
                <a:solidFill>
                  <a:srgbClr val="FF0000"/>
                </a:solidFill>
              </a:rPr>
              <a:t>需要与要求</a:t>
            </a:r>
          </a:p>
          <a:p>
            <a:pPr lvl="1" indent="-436245">
              <a:lnSpc>
                <a:spcPct val="150000"/>
              </a:lnSpc>
            </a:pPr>
            <a:r>
              <a:rPr lang="zh-CN" altLang="en-US" dirty="0"/>
              <a:t>需求分析是设计数据库的</a:t>
            </a:r>
            <a:r>
              <a:rPr lang="zh-CN" altLang="en-US" dirty="0">
                <a:solidFill>
                  <a:srgbClr val="FF0000"/>
                </a:solidFill>
              </a:rPr>
              <a:t>起点。</a:t>
            </a:r>
          </a:p>
          <a:p>
            <a:pPr lvl="1" indent="-436245">
              <a:lnSpc>
                <a:spcPct val="150000"/>
              </a:lnSpc>
            </a:pPr>
            <a:r>
              <a:rPr lang="zh-CN" altLang="en-US" dirty="0"/>
              <a:t>需求分析的结果是否准确地反映了用户的实际要求，将直接影响到后面各个阶段的设计，并影响到设计结果是否合理和实用。</a:t>
            </a:r>
          </a:p>
        </p:txBody>
      </p:sp>
      <p:sp>
        <p:nvSpPr>
          <p:cNvPr id="32770" name="Rectangle 2"/>
          <p:cNvSpPr>
            <a:spLocks noGrp="1"/>
          </p:cNvSpPr>
          <p:nvPr>
            <p:ph type="title"/>
          </p:nvPr>
        </p:nvSpPr>
        <p:spPr/>
        <p:txBody>
          <a:bodyPr vert="horz" wrap="square" lIns="91440" tIns="45720" rIns="91440" bIns="45720" anchor="b" anchorCtr="0"/>
          <a:lstStyle/>
          <a:p>
            <a:r>
              <a:rPr lang="zh-CN" altLang="en-US" dirty="0"/>
              <a:t>需求分析（续）</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3"/>
          <p:cNvSpPr>
            <a:spLocks noGrp="1"/>
          </p:cNvSpPr>
          <p:nvPr>
            <p:ph idx="1"/>
          </p:nvPr>
        </p:nvSpPr>
        <p:spPr/>
        <p:txBody>
          <a:bodyPr vert="horz" wrap="square" lIns="91440" tIns="45720" rIns="91440" bIns="45720" anchor="t" anchorCtr="0"/>
          <a:lstStyle/>
          <a:p>
            <a:pPr>
              <a:lnSpc>
                <a:spcPct val="90000"/>
              </a:lnSpc>
            </a:pPr>
            <a:r>
              <a:rPr lang="en-US" altLang="zh-CN" sz="2800" dirty="0"/>
              <a:t> </a:t>
            </a:r>
            <a:r>
              <a:rPr lang="zh-CN" altLang="en-US" sz="2800" dirty="0"/>
              <a:t>需求分析的任务：</a:t>
            </a:r>
            <a:r>
              <a:rPr lang="zh-CN" altLang="en-US" dirty="0"/>
              <a:t>通过详细调查现实世界要处理的对象（组织、部门、企业等），充分了解</a:t>
            </a:r>
            <a:r>
              <a:rPr lang="zh-CN" altLang="en-US" b="1" dirty="0">
                <a:solidFill>
                  <a:srgbClr val="2355F3"/>
                </a:solidFill>
              </a:rPr>
              <a:t>原系统</a:t>
            </a:r>
            <a:r>
              <a:rPr lang="zh-CN" altLang="en-US" dirty="0"/>
              <a:t>（手工系统或计算机系统）工作概况，明确用户的各种需求。</a:t>
            </a:r>
            <a:endParaRPr lang="zh-CN" altLang="en-US" dirty="0">
              <a:solidFill>
                <a:srgbClr val="2355F3"/>
              </a:solidFill>
            </a:endParaRPr>
          </a:p>
          <a:p>
            <a:pPr>
              <a:lnSpc>
                <a:spcPct val="90000"/>
              </a:lnSpc>
            </a:pPr>
            <a:r>
              <a:rPr lang="zh-CN" altLang="en-US" sz="2800" dirty="0"/>
              <a:t> </a:t>
            </a:r>
            <a:r>
              <a:rPr lang="zh-CN" altLang="en-US" dirty="0"/>
              <a:t>在此基础上确定</a:t>
            </a:r>
            <a:r>
              <a:rPr lang="zh-CN" altLang="en-US" b="1" dirty="0">
                <a:solidFill>
                  <a:srgbClr val="0000FF"/>
                </a:solidFill>
              </a:rPr>
              <a:t>新系统</a:t>
            </a:r>
            <a:r>
              <a:rPr lang="zh-CN" altLang="en-US" dirty="0"/>
              <a:t>的功能。新系统必须充分考虑今后可能的</a:t>
            </a:r>
            <a:r>
              <a:rPr lang="zh-CN" altLang="en-US" dirty="0">
                <a:solidFill>
                  <a:srgbClr val="FF0000"/>
                </a:solidFill>
              </a:rPr>
              <a:t>扩充和改变</a:t>
            </a:r>
            <a:r>
              <a:rPr lang="zh-CN" altLang="en-US" dirty="0"/>
              <a:t>，不能仅仅按当前应用需求来设计数据库。</a:t>
            </a:r>
          </a:p>
        </p:txBody>
      </p:sp>
      <p:sp>
        <p:nvSpPr>
          <p:cNvPr id="33794" name="Rectangle 2"/>
          <p:cNvSpPr>
            <a:spLocks noGrp="1"/>
          </p:cNvSpPr>
          <p:nvPr>
            <p:ph type="title"/>
          </p:nvPr>
        </p:nvSpPr>
        <p:spPr/>
        <p:txBody>
          <a:bodyPr vert="horz" wrap="square" lIns="91440" tIns="45720" rIns="91440" bIns="45720" anchor="b" anchorCtr="0"/>
          <a:lstStyle/>
          <a:p>
            <a:r>
              <a:rPr lang="zh-CN" altLang="en-US" dirty="0"/>
              <a:t>一、需求分析的任务</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需求分析的重点：调查、收集与分析用户在数据管理中的</a:t>
            </a:r>
            <a:r>
              <a:rPr kumimoji="0" lang="zh-CN" altLang="en-US" sz="2800" b="1" i="0" u="none" strike="noStrike" kern="0" cap="none" spc="0" normalizeH="0" baseline="0" noProof="0" dirty="0" smtClean="0">
                <a:ln>
                  <a:noFill/>
                </a:ln>
                <a:solidFill>
                  <a:srgbClr val="2355F3"/>
                </a:solidFill>
                <a:effectLst/>
                <a:uLnTx/>
                <a:uFillTx/>
                <a:latin typeface="+mn-lt"/>
                <a:ea typeface="+mn-ea"/>
                <a:cs typeface="+mn-cs"/>
              </a:rPr>
              <a:t>信息要求、处理要求、安全性与完整性要求</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2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 信息要求：</a:t>
            </a:r>
          </a:p>
          <a:p>
            <a:pPr marL="908050" marR="0" lvl="1" indent="-43688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Char char="p"/>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ea"/>
              </a:rPr>
              <a:t>用户需要从数据库中获得信息的内容与性质</a:t>
            </a:r>
          </a:p>
          <a:p>
            <a:pPr marL="908050" marR="0" lvl="1" indent="-43688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Char char="p"/>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ea"/>
              </a:rPr>
              <a:t>由用户的信息要求可以导出数据要求，即在数据库中需要存储哪些数据。</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ea"/>
            </a:endParaRPr>
          </a:p>
          <a:p>
            <a:pPr marL="469900" marR="0" lvl="1" indent="-46990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ea"/>
              </a:rPr>
              <a:t>处理要求：对处理功能的要求和性能的要求。</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ea"/>
            </a:endParaRPr>
          </a:p>
          <a:p>
            <a:pPr marL="469900" marR="0" lvl="0" indent="-46990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安全性与完整性要求。</a:t>
            </a:r>
            <a:endParaRPr kumimoji="0" lang="zh-CN" altLang="en-US" sz="3000" b="0" i="0" u="none" strike="noStrike" kern="0" cap="none" spc="0" normalizeH="0" baseline="0" noProof="0" dirty="0">
              <a:ln>
                <a:noFill/>
              </a:ln>
              <a:solidFill>
                <a:schemeClr val="tx1"/>
              </a:solidFill>
              <a:effectLst/>
              <a:uLnTx/>
              <a:uFillTx/>
              <a:latin typeface="+mn-lt"/>
              <a:ea typeface="+mn-ea"/>
              <a:cs typeface="+mn-cs"/>
            </a:endParaRPr>
          </a:p>
          <a:p>
            <a:pPr marL="908050" marR="0" lvl="1" indent="-43688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Char char="p"/>
              <a:defRPr/>
            </a:pPr>
            <a:endParaRPr kumimoji="0" lang="zh-CN" altLang="en-US" sz="2800" b="0" i="0" u="none" strike="noStrike" kern="0" cap="none" spc="0" normalizeH="0" baseline="0" noProof="0" dirty="0" smtClean="0">
              <a:ln>
                <a:noFill/>
              </a:ln>
              <a:solidFill>
                <a:schemeClr val="tx1"/>
              </a:solidFill>
              <a:effectLst/>
              <a:uLnTx/>
              <a:uFillTx/>
              <a:latin typeface="+mn-lt"/>
              <a:ea typeface="+mn-ea"/>
              <a:cs typeface="+mn-ea"/>
            </a:endParaRPr>
          </a:p>
        </p:txBody>
      </p:sp>
      <p:sp>
        <p:nvSpPr>
          <p:cNvPr id="34818" name="Rectangle 2"/>
          <p:cNvSpPr>
            <a:spLocks noGrp="1"/>
          </p:cNvSpPr>
          <p:nvPr>
            <p:ph type="title"/>
          </p:nvPr>
        </p:nvSpPr>
        <p:spPr/>
        <p:txBody>
          <a:bodyPr vert="horz" wrap="square" lIns="91440" tIns="45720" rIns="91440" bIns="45720" anchor="b" anchorCtr="0"/>
          <a:lstStyle/>
          <a:p>
            <a:r>
              <a:rPr lang="zh-CN" altLang="en-US" dirty="0"/>
              <a:t>二、需求分析的重点</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p:cNvSpPr>
          <p:nvPr>
            <p:ph idx="1"/>
          </p:nvPr>
        </p:nvSpPr>
        <p:spPr>
          <a:xfrm>
            <a:off x="854075" y="1285875"/>
            <a:ext cx="9944735" cy="4806950"/>
          </a:xfrm>
        </p:spPr>
        <p:txBody>
          <a:bodyPr vert="horz" wrap="square" lIns="91440" tIns="45720" rIns="91440" bIns="45720" anchor="t" anchorCtr="0"/>
          <a:lstStyle/>
          <a:p>
            <a:pPr>
              <a:lnSpc>
                <a:spcPct val="110000"/>
              </a:lnSpc>
            </a:pPr>
            <a:r>
              <a:rPr lang="zh-CN" altLang="en-US" sz="2800" dirty="0"/>
              <a:t>确定用户最终需求的难点</a:t>
            </a:r>
            <a:endParaRPr lang="zh-CN" altLang="en-US" dirty="0"/>
          </a:p>
          <a:p>
            <a:pPr lvl="1" indent="-436245">
              <a:lnSpc>
                <a:spcPct val="110000"/>
              </a:lnSpc>
            </a:pPr>
            <a:r>
              <a:rPr lang="zh-CN" altLang="en-US" sz="2400" dirty="0">
                <a:solidFill>
                  <a:srgbClr val="2355F3"/>
                </a:solidFill>
              </a:rPr>
              <a:t>用户</a:t>
            </a:r>
            <a:r>
              <a:rPr lang="zh-CN" altLang="en-US" sz="2400" dirty="0"/>
              <a:t>缺少计算机知识，开始时无法确定计算机究竟能为自己做什么，不能做什么，因此无法一下子准确地表达自己的需求，他们所提出的需求往往不断地变化。</a:t>
            </a:r>
          </a:p>
          <a:p>
            <a:pPr lvl="1" indent="-436245">
              <a:lnSpc>
                <a:spcPct val="110000"/>
              </a:lnSpc>
            </a:pPr>
            <a:r>
              <a:rPr lang="zh-CN" altLang="en-US" sz="2400" dirty="0">
                <a:solidFill>
                  <a:srgbClr val="2355F3"/>
                </a:solidFill>
              </a:rPr>
              <a:t>设计人员</a:t>
            </a:r>
            <a:r>
              <a:rPr lang="zh-CN" altLang="en-US" sz="2400" dirty="0"/>
              <a:t>缺少用户的专业知识，不易理解用户的真正需求，甚至误解用户的需求。</a:t>
            </a:r>
          </a:p>
          <a:p>
            <a:pPr>
              <a:lnSpc>
                <a:spcPct val="150000"/>
              </a:lnSpc>
            </a:pPr>
            <a:r>
              <a:rPr lang="zh-CN" altLang="en-US" dirty="0"/>
              <a:t>解决方法</a:t>
            </a:r>
          </a:p>
          <a:p>
            <a:pPr lvl="1" indent="-436245">
              <a:lnSpc>
                <a:spcPct val="150000"/>
              </a:lnSpc>
            </a:pPr>
            <a:r>
              <a:rPr lang="zh-CN" altLang="en-US" sz="2400" dirty="0"/>
              <a:t>与用户不断深入地进行交流</a:t>
            </a:r>
            <a:endParaRPr lang="en-US" altLang="zh-CN" sz="2400" dirty="0"/>
          </a:p>
        </p:txBody>
      </p:sp>
      <p:sp>
        <p:nvSpPr>
          <p:cNvPr id="35842" name="Rectangle 2"/>
          <p:cNvSpPr>
            <a:spLocks noGrp="1"/>
          </p:cNvSpPr>
          <p:nvPr>
            <p:ph type="title"/>
          </p:nvPr>
        </p:nvSpPr>
        <p:spPr/>
        <p:txBody>
          <a:bodyPr vert="horz" wrap="square" lIns="91440" tIns="45720" rIns="91440" bIns="45720" anchor="b" anchorCtr="0"/>
          <a:lstStyle/>
          <a:p>
            <a:r>
              <a:rPr lang="zh-CN" altLang="en-US" dirty="0"/>
              <a:t>三、需求分析的难点</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3"/>
          <p:cNvSpPr>
            <a:spLocks noGrp="1"/>
          </p:cNvSpPr>
          <p:nvPr>
            <p:ph idx="1"/>
          </p:nvPr>
        </p:nvSpPr>
        <p:spPr/>
        <p:txBody>
          <a:bodyPr vert="horz" wrap="square" lIns="91440" tIns="45720" rIns="91440" bIns="45720" anchor="t" anchorCtr="0"/>
          <a:lstStyle/>
          <a:p>
            <a:pPr>
              <a:lnSpc>
                <a:spcPct val="150000"/>
              </a:lnSpc>
              <a:buNone/>
            </a:pPr>
            <a:r>
              <a:rPr lang="en-US" altLang="zh-CN" dirty="0"/>
              <a:t>7.2.1  </a:t>
            </a:r>
            <a:r>
              <a:rPr lang="zh-CN" altLang="en-US" dirty="0"/>
              <a:t>需求分析的任务</a:t>
            </a:r>
          </a:p>
          <a:p>
            <a:pPr>
              <a:lnSpc>
                <a:spcPct val="150000"/>
              </a:lnSpc>
              <a:buNone/>
            </a:pPr>
            <a:r>
              <a:rPr lang="en-US" altLang="zh-CN" dirty="0">
                <a:solidFill>
                  <a:schemeClr val="accent2"/>
                </a:solidFill>
              </a:rPr>
              <a:t>7.2.2  </a:t>
            </a:r>
            <a:r>
              <a:rPr lang="zh-CN" altLang="en-US" dirty="0">
                <a:solidFill>
                  <a:schemeClr val="accent2"/>
                </a:solidFill>
              </a:rPr>
              <a:t>需求分析的方法</a:t>
            </a:r>
          </a:p>
          <a:p>
            <a:pPr>
              <a:lnSpc>
                <a:spcPct val="150000"/>
              </a:lnSpc>
              <a:buNone/>
            </a:pPr>
            <a:r>
              <a:rPr lang="en-US" altLang="zh-CN" dirty="0"/>
              <a:t>7.2.3  </a:t>
            </a:r>
            <a:r>
              <a:rPr lang="zh-CN" altLang="en-US" dirty="0"/>
              <a:t>数据字典</a:t>
            </a:r>
          </a:p>
        </p:txBody>
      </p:sp>
      <p:sp>
        <p:nvSpPr>
          <p:cNvPr id="36866" name="Rectangle 2"/>
          <p:cNvSpPr>
            <a:spLocks noGrp="1"/>
          </p:cNvSpPr>
          <p:nvPr>
            <p:ph type="title"/>
          </p:nvPr>
        </p:nvSpPr>
        <p:spPr/>
        <p:txBody>
          <a:bodyPr vert="horz" wrap="square" lIns="91440" tIns="45720" rIns="91440" bIns="45720" anchor="b" anchorCtr="0"/>
          <a:lstStyle/>
          <a:p>
            <a:r>
              <a:rPr lang="en-US" altLang="zh-CN" dirty="0"/>
              <a:t>7.2  </a:t>
            </a:r>
            <a:r>
              <a:rPr lang="zh-CN" altLang="en-US" dirty="0"/>
              <a:t>需求分析</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3"/>
          <p:cNvSpPr>
            <a:spLocks noGrp="1"/>
          </p:cNvSpPr>
          <p:nvPr>
            <p:ph idx="1"/>
          </p:nvPr>
        </p:nvSpPr>
        <p:spPr>
          <a:xfrm>
            <a:off x="983298" y="1268730"/>
            <a:ext cx="8153400" cy="4114800"/>
          </a:xfrm>
        </p:spPr>
        <p:txBody>
          <a:bodyPr vert="horz" wrap="square" lIns="91440" tIns="45720" rIns="91440" bIns="45720" anchor="t" anchorCtr="0"/>
          <a:lstStyle/>
          <a:p>
            <a:pPr>
              <a:lnSpc>
                <a:spcPct val="180000"/>
              </a:lnSpc>
            </a:pPr>
            <a:r>
              <a:rPr lang="zh-CN" altLang="en-US" dirty="0"/>
              <a:t>调查清楚用户的实际需求并进行初步分析</a:t>
            </a:r>
          </a:p>
          <a:p>
            <a:pPr>
              <a:lnSpc>
                <a:spcPct val="180000"/>
              </a:lnSpc>
            </a:pPr>
            <a:r>
              <a:rPr lang="zh-CN" altLang="en-US" dirty="0"/>
              <a:t>与用户达成共识</a:t>
            </a:r>
          </a:p>
          <a:p>
            <a:pPr>
              <a:lnSpc>
                <a:spcPct val="180000"/>
              </a:lnSpc>
            </a:pPr>
            <a:r>
              <a:rPr lang="zh-CN" altLang="en-US" dirty="0"/>
              <a:t>进一步分析与表达这些需求</a:t>
            </a:r>
          </a:p>
          <a:p>
            <a:pPr>
              <a:lnSpc>
                <a:spcPct val="180000"/>
              </a:lnSpc>
            </a:pPr>
            <a:endParaRPr lang="en-US" altLang="zh-CN" sz="3600" dirty="0"/>
          </a:p>
        </p:txBody>
      </p:sp>
      <p:sp>
        <p:nvSpPr>
          <p:cNvPr id="37890" name="Rectangle 2"/>
          <p:cNvSpPr>
            <a:spLocks noGrp="1"/>
          </p:cNvSpPr>
          <p:nvPr>
            <p:ph type="title"/>
          </p:nvPr>
        </p:nvSpPr>
        <p:spPr/>
        <p:txBody>
          <a:bodyPr vert="horz" wrap="square" lIns="91440" tIns="45720" rIns="91440" bIns="45720" anchor="b" anchorCtr="0"/>
          <a:lstStyle/>
          <a:p>
            <a:r>
              <a:rPr lang="en-US" altLang="zh-CN" dirty="0"/>
              <a:t>7.2.2  </a:t>
            </a:r>
            <a:r>
              <a:rPr lang="zh-CN" altLang="en-US" dirty="0"/>
              <a:t>需求分析的方法</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3"/>
          <p:cNvSpPr>
            <a:spLocks noGrp="1"/>
          </p:cNvSpPr>
          <p:nvPr>
            <p:ph idx="1"/>
          </p:nvPr>
        </p:nvSpPr>
        <p:spPr/>
        <p:txBody>
          <a:bodyPr vert="horz" wrap="square" lIns="91440" tIns="45720" rIns="91440" bIns="45720" anchor="t" anchorCtr="0"/>
          <a:lstStyle/>
          <a:p>
            <a:pPr>
              <a:lnSpc>
                <a:spcPct val="190000"/>
              </a:lnSpc>
              <a:buNone/>
            </a:pPr>
            <a:r>
              <a:rPr lang="en-US" altLang="zh-CN" sz="2800" dirty="0"/>
              <a:t>⑴ </a:t>
            </a:r>
            <a:r>
              <a:rPr lang="zh-CN" altLang="en-US" sz="2800" dirty="0"/>
              <a:t>调查组织机构情况</a:t>
            </a:r>
          </a:p>
          <a:p>
            <a:pPr lvl="1" indent="-436245">
              <a:lnSpc>
                <a:spcPct val="190000"/>
              </a:lnSpc>
            </a:pPr>
            <a:r>
              <a:rPr lang="zh-CN" altLang="en-US" dirty="0"/>
              <a:t> 组织部门的组成情况</a:t>
            </a:r>
          </a:p>
          <a:p>
            <a:pPr lvl="1" indent="-436245">
              <a:lnSpc>
                <a:spcPct val="190000"/>
              </a:lnSpc>
            </a:pPr>
            <a:r>
              <a:rPr lang="zh-CN" altLang="en-US" dirty="0"/>
              <a:t> 各部门的职责等</a:t>
            </a:r>
          </a:p>
        </p:txBody>
      </p:sp>
      <p:sp>
        <p:nvSpPr>
          <p:cNvPr id="38914" name="Rectangle 2"/>
          <p:cNvSpPr>
            <a:spLocks noGrp="1"/>
          </p:cNvSpPr>
          <p:nvPr>
            <p:ph type="title"/>
          </p:nvPr>
        </p:nvSpPr>
        <p:spPr/>
        <p:txBody>
          <a:bodyPr vert="horz" wrap="square" lIns="91440" tIns="45720" rIns="91440" bIns="45720" anchor="b" anchorCtr="0"/>
          <a:lstStyle/>
          <a:p>
            <a:r>
              <a:rPr lang="zh-CN" altLang="en-US" dirty="0"/>
              <a:t>一、 调查与初步分析用户需求</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3"/>
          <p:cNvSpPr>
            <a:spLocks noGrp="1"/>
          </p:cNvSpPr>
          <p:nvPr>
            <p:ph idx="1"/>
          </p:nvPr>
        </p:nvSpPr>
        <p:spPr/>
        <p:txBody>
          <a:bodyPr vert="horz" wrap="square" lIns="91440" tIns="45720" rIns="91440" bIns="45720" anchor="t" anchorCtr="0"/>
          <a:lstStyle/>
          <a:p>
            <a:pPr>
              <a:lnSpc>
                <a:spcPct val="160000"/>
              </a:lnSpc>
              <a:buNone/>
            </a:pPr>
            <a:r>
              <a:rPr lang="en-US" altLang="zh-CN" sz="2800" dirty="0"/>
              <a:t>⑵ </a:t>
            </a:r>
            <a:r>
              <a:rPr lang="zh-CN" altLang="en-US" sz="2800" dirty="0"/>
              <a:t>调查各部门的业务活动情况。调查重点之一。</a:t>
            </a:r>
          </a:p>
          <a:p>
            <a:pPr lvl="1" indent="-436245">
              <a:lnSpc>
                <a:spcPct val="160000"/>
              </a:lnSpc>
            </a:pPr>
            <a:r>
              <a:rPr lang="zh-CN" altLang="en-US" sz="2400" dirty="0"/>
              <a:t> 各个部门输入和使用什么数据</a:t>
            </a:r>
          </a:p>
          <a:p>
            <a:pPr lvl="1" indent="-436245">
              <a:lnSpc>
                <a:spcPct val="160000"/>
              </a:lnSpc>
            </a:pPr>
            <a:r>
              <a:rPr lang="zh-CN" altLang="en-US" sz="2400" dirty="0"/>
              <a:t> 如何加工处理这些数据</a:t>
            </a:r>
          </a:p>
          <a:p>
            <a:pPr lvl="1" indent="-436245">
              <a:lnSpc>
                <a:spcPct val="160000"/>
              </a:lnSpc>
            </a:pPr>
            <a:r>
              <a:rPr lang="zh-CN" altLang="en-US" sz="2400" dirty="0"/>
              <a:t> 输出什么信息</a:t>
            </a:r>
          </a:p>
          <a:p>
            <a:pPr lvl="1" indent="-436245">
              <a:lnSpc>
                <a:spcPct val="160000"/>
              </a:lnSpc>
            </a:pPr>
            <a:r>
              <a:rPr lang="zh-CN" altLang="en-US" sz="2400" dirty="0"/>
              <a:t> 输出到什么部门</a:t>
            </a:r>
          </a:p>
          <a:p>
            <a:pPr lvl="1" indent="-436245">
              <a:lnSpc>
                <a:spcPct val="160000"/>
              </a:lnSpc>
            </a:pPr>
            <a:r>
              <a:rPr lang="zh-CN" altLang="en-US" sz="2400" dirty="0"/>
              <a:t> </a:t>
            </a:r>
            <a:r>
              <a:rPr lang="zh-CN" altLang="en-US" sz="2400" dirty="0">
                <a:solidFill>
                  <a:srgbClr val="FF0000"/>
                </a:solidFill>
              </a:rPr>
              <a:t>输出结果的格式</a:t>
            </a:r>
            <a:r>
              <a:rPr lang="zh-CN" altLang="en-US" sz="2400" dirty="0"/>
              <a:t>是什么</a:t>
            </a:r>
          </a:p>
        </p:txBody>
      </p:sp>
      <p:sp>
        <p:nvSpPr>
          <p:cNvPr id="39938" name="Rectangle 2"/>
          <p:cNvSpPr>
            <a:spLocks noGrp="1"/>
          </p:cNvSpPr>
          <p:nvPr>
            <p:ph type="title"/>
          </p:nvPr>
        </p:nvSpPr>
        <p:spPr/>
        <p:txBody>
          <a:bodyPr vert="horz" wrap="square" lIns="91440" tIns="45720" rIns="91440" bIns="45720" anchor="b" anchorCtr="0"/>
          <a:lstStyle/>
          <a:p>
            <a:r>
              <a:rPr lang="zh-CN" altLang="en-US" dirty="0"/>
              <a:t>调查与初步分析用户需求（续）</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3"/>
          <p:cNvSpPr>
            <a:spLocks noGrp="1"/>
          </p:cNvSpPr>
          <p:nvPr>
            <p:ph idx="1"/>
          </p:nvPr>
        </p:nvSpPr>
        <p:spPr/>
        <p:txBody>
          <a:bodyPr vert="horz" wrap="square" lIns="91440" tIns="45720" rIns="91440" bIns="45720" anchor="t" anchorCtr="0"/>
          <a:lstStyle/>
          <a:p>
            <a:pPr>
              <a:lnSpc>
                <a:spcPct val="140000"/>
              </a:lnSpc>
              <a:buNone/>
            </a:pPr>
            <a:r>
              <a:rPr lang="en-US" altLang="zh-CN" sz="2800" dirty="0"/>
              <a:t>⑶ </a:t>
            </a:r>
            <a:r>
              <a:rPr lang="zh-CN" altLang="en-US" sz="2800" dirty="0"/>
              <a:t>在熟悉业务活动的基础上，协助用户明确对新系统的各种要求。调查重点之二。</a:t>
            </a:r>
          </a:p>
          <a:p>
            <a:pPr lvl="1" indent="-436245">
              <a:lnSpc>
                <a:spcPct val="180000"/>
              </a:lnSpc>
            </a:pPr>
            <a:r>
              <a:rPr lang="zh-CN" altLang="en-US" sz="2400" dirty="0"/>
              <a:t> 信息要求</a:t>
            </a:r>
          </a:p>
          <a:p>
            <a:pPr lvl="1" indent="-436245">
              <a:lnSpc>
                <a:spcPct val="180000"/>
              </a:lnSpc>
            </a:pPr>
            <a:r>
              <a:rPr lang="zh-CN" altLang="en-US" sz="2400" dirty="0"/>
              <a:t> 处理要求</a:t>
            </a:r>
          </a:p>
          <a:p>
            <a:pPr lvl="1" indent="-436245">
              <a:lnSpc>
                <a:spcPct val="180000"/>
              </a:lnSpc>
            </a:pPr>
            <a:r>
              <a:rPr lang="zh-CN" altLang="en-US" sz="2400" dirty="0"/>
              <a:t> 完全性与完整性要求</a:t>
            </a:r>
          </a:p>
          <a:p>
            <a:pPr>
              <a:lnSpc>
                <a:spcPct val="180000"/>
              </a:lnSpc>
              <a:buNone/>
            </a:pPr>
            <a:endParaRPr lang="en-US" altLang="zh-CN" dirty="0"/>
          </a:p>
        </p:txBody>
      </p:sp>
      <p:sp>
        <p:nvSpPr>
          <p:cNvPr id="40962" name="Rectangle 2"/>
          <p:cNvSpPr>
            <a:spLocks noGrp="1"/>
          </p:cNvSpPr>
          <p:nvPr>
            <p:ph type="title"/>
          </p:nvPr>
        </p:nvSpPr>
        <p:spPr/>
        <p:txBody>
          <a:bodyPr vert="horz" wrap="square" lIns="91440" tIns="45720" rIns="91440" bIns="45720" anchor="b" anchorCtr="0"/>
          <a:lstStyle/>
          <a:p>
            <a:r>
              <a:rPr lang="zh-CN" altLang="en-US" dirty="0"/>
              <a:t>调查与初步分析用户需求（续）</a:t>
            </a: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3"/>
          <p:cNvSpPr>
            <a:spLocks noGrp="1"/>
          </p:cNvSpPr>
          <p:nvPr>
            <p:ph idx="1"/>
          </p:nvPr>
        </p:nvSpPr>
        <p:spPr/>
        <p:txBody>
          <a:bodyPr vert="horz" wrap="square" lIns="91440" tIns="45720" rIns="91440" bIns="45720" anchor="t" anchorCtr="0"/>
          <a:lstStyle/>
          <a:p>
            <a:pPr>
              <a:lnSpc>
                <a:spcPct val="170000"/>
              </a:lnSpc>
              <a:buNone/>
            </a:pPr>
            <a:r>
              <a:rPr lang="en-US" altLang="zh-CN" sz="2800" dirty="0"/>
              <a:t>⑷ </a:t>
            </a:r>
            <a:r>
              <a:rPr lang="zh-CN" altLang="en-US" sz="2800" dirty="0"/>
              <a:t>对前面调查的结果进行初步分析</a:t>
            </a:r>
          </a:p>
          <a:p>
            <a:pPr lvl="1" indent="-436245">
              <a:lnSpc>
                <a:spcPct val="170000"/>
              </a:lnSpc>
            </a:pPr>
            <a:r>
              <a:rPr lang="zh-CN" altLang="en-US" dirty="0">
                <a:solidFill>
                  <a:srgbClr val="FF0000"/>
                </a:solidFill>
              </a:rPr>
              <a:t>确定新系统的边界</a:t>
            </a:r>
            <a:endParaRPr lang="zh-CN" altLang="en-US" sz="2400" dirty="0">
              <a:solidFill>
                <a:srgbClr val="FF0000"/>
              </a:solidFill>
            </a:endParaRPr>
          </a:p>
          <a:p>
            <a:pPr lvl="2" indent="-394970">
              <a:lnSpc>
                <a:spcPct val="170000"/>
              </a:lnSpc>
            </a:pPr>
            <a:r>
              <a:rPr lang="zh-CN" altLang="en-US" dirty="0"/>
              <a:t>确定哪些功能由计算机完成或将来准备让计算机完成</a:t>
            </a:r>
          </a:p>
          <a:p>
            <a:pPr lvl="2" indent="-394970">
              <a:lnSpc>
                <a:spcPct val="170000"/>
              </a:lnSpc>
            </a:pPr>
            <a:r>
              <a:rPr lang="zh-CN" altLang="en-US" dirty="0"/>
              <a:t>确定哪些活动由人工完成</a:t>
            </a:r>
          </a:p>
          <a:p>
            <a:pPr>
              <a:lnSpc>
                <a:spcPct val="110000"/>
              </a:lnSpc>
              <a:buNone/>
            </a:pPr>
            <a:r>
              <a:rPr lang="zh-CN" altLang="en-US" sz="2800" dirty="0"/>
              <a:t>          </a:t>
            </a:r>
            <a:r>
              <a:rPr lang="zh-CN" altLang="en-US" dirty="0"/>
              <a:t>由计算机完成的功能就是新系统应该实现的功能。</a:t>
            </a:r>
          </a:p>
        </p:txBody>
      </p:sp>
      <p:sp>
        <p:nvSpPr>
          <p:cNvPr id="41986" name="Rectangle 2"/>
          <p:cNvSpPr>
            <a:spLocks noGrp="1"/>
          </p:cNvSpPr>
          <p:nvPr>
            <p:ph type="title"/>
          </p:nvPr>
        </p:nvSpPr>
        <p:spPr/>
        <p:txBody>
          <a:bodyPr vert="horz" wrap="square" lIns="91440" tIns="45720" rIns="91440" bIns="45720" anchor="b" anchorCtr="0"/>
          <a:lstStyle/>
          <a:p>
            <a:r>
              <a:rPr lang="zh-CN" altLang="en-US" dirty="0"/>
              <a:t>调查与初步分析用户需求（续）</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3"/>
          <p:cNvSpPr>
            <a:spLocks noGrp="1"/>
          </p:cNvSpPr>
          <p:nvPr>
            <p:ph idx="1"/>
          </p:nvPr>
        </p:nvSpPr>
        <p:spPr/>
        <p:txBody>
          <a:bodyPr vert="horz" wrap="square" lIns="91440" tIns="45720" rIns="91440" bIns="45720" anchor="t" anchorCtr="0"/>
          <a:lstStyle/>
          <a:p>
            <a:pPr>
              <a:lnSpc>
                <a:spcPct val="120000"/>
              </a:lnSpc>
            </a:pPr>
            <a:r>
              <a:rPr lang="zh-CN" altLang="en-US" dirty="0"/>
              <a:t>做需求调查时，往往需要同时采用多种方法</a:t>
            </a:r>
          </a:p>
          <a:p>
            <a:pPr lvl="1" indent="-436245">
              <a:lnSpc>
                <a:spcPct val="120000"/>
              </a:lnSpc>
            </a:pPr>
            <a:r>
              <a:rPr lang="zh-CN" altLang="en-US" dirty="0"/>
              <a:t>无论使用何种调查方法，都</a:t>
            </a:r>
            <a:r>
              <a:rPr lang="zh-CN" altLang="en-US" dirty="0">
                <a:solidFill>
                  <a:srgbClr val="FF0000"/>
                </a:solidFill>
              </a:rPr>
              <a:t>必须有用户的积极参与和配合。</a:t>
            </a:r>
          </a:p>
          <a:p>
            <a:pPr lvl="1" indent="-436245">
              <a:lnSpc>
                <a:spcPct val="120000"/>
              </a:lnSpc>
            </a:pPr>
            <a:r>
              <a:rPr lang="zh-CN" altLang="en-US" dirty="0">
                <a:solidFill>
                  <a:srgbClr val="FF0000"/>
                </a:solidFill>
              </a:rPr>
              <a:t>设计人员</a:t>
            </a:r>
            <a:r>
              <a:rPr lang="zh-CN" altLang="en-US" dirty="0"/>
              <a:t>应该和用户取得共同的语言，帮助不熟悉计算机的用户建立数据库环境下的共同概念，并对设计工作的最后结果共同承担责任。</a:t>
            </a:r>
          </a:p>
        </p:txBody>
      </p:sp>
      <p:sp>
        <p:nvSpPr>
          <p:cNvPr id="44034" name="Rectangle 2"/>
          <p:cNvSpPr>
            <a:spLocks noGrp="1"/>
          </p:cNvSpPr>
          <p:nvPr>
            <p:ph type="title"/>
          </p:nvPr>
        </p:nvSpPr>
        <p:spPr/>
        <p:txBody>
          <a:bodyPr vert="horz" wrap="square" lIns="91440" tIns="45720" rIns="91440" bIns="45720" anchor="b" anchorCtr="0"/>
          <a:lstStyle/>
          <a:p>
            <a:r>
              <a:rPr lang="zh-CN" altLang="en-US" dirty="0"/>
              <a:t>二、常用调查方法</a:t>
            </a: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3"/>
          <p:cNvSpPr>
            <a:spLocks noGrp="1"/>
          </p:cNvSpPr>
          <p:nvPr>
            <p:ph idx="1"/>
          </p:nvPr>
        </p:nvSpPr>
        <p:spPr/>
        <p:txBody>
          <a:bodyPr vert="horz" wrap="square" lIns="91440" tIns="45720" rIns="91440" bIns="45720" anchor="t" anchorCtr="0"/>
          <a:lstStyle/>
          <a:p>
            <a:r>
              <a:rPr lang="zh-CN" altLang="en-US" dirty="0"/>
              <a:t>常用调查方法</a:t>
            </a:r>
            <a:endParaRPr lang="zh-CN" altLang="en-US" sz="2800" dirty="0"/>
          </a:p>
          <a:p>
            <a:pPr lvl="1" indent="-436245">
              <a:spcBef>
                <a:spcPct val="50000"/>
              </a:spcBef>
              <a:buNone/>
            </a:pPr>
            <a:r>
              <a:rPr lang="zh-CN" altLang="en-US" dirty="0"/>
              <a:t>⑴跟班作业</a:t>
            </a:r>
          </a:p>
          <a:p>
            <a:pPr lvl="1" indent="-436245"/>
            <a:r>
              <a:rPr lang="zh-CN" altLang="en-US" dirty="0"/>
              <a:t>通过亲身参加业务工作了解业务活动的情况</a:t>
            </a:r>
          </a:p>
          <a:p>
            <a:pPr lvl="1" indent="-436245"/>
            <a:r>
              <a:rPr lang="zh-CN" altLang="en-US" dirty="0"/>
              <a:t>能比较准确地理解用户的需求，但比较耗时</a:t>
            </a:r>
          </a:p>
          <a:p>
            <a:pPr lvl="1" indent="-436245">
              <a:spcBef>
                <a:spcPct val="50000"/>
              </a:spcBef>
              <a:buNone/>
            </a:pPr>
            <a:r>
              <a:rPr lang="zh-CN" altLang="en-US" dirty="0"/>
              <a:t>⑵开调查会</a:t>
            </a:r>
          </a:p>
          <a:p>
            <a:pPr lvl="1" indent="-436245"/>
            <a:r>
              <a:rPr lang="zh-CN" altLang="en-US" dirty="0"/>
              <a:t>通过与用户座谈来了解业务活动情况及用户需求</a:t>
            </a:r>
          </a:p>
          <a:p>
            <a:pPr lvl="1" indent="-436245">
              <a:spcBef>
                <a:spcPct val="50000"/>
              </a:spcBef>
              <a:buNone/>
            </a:pPr>
            <a:r>
              <a:rPr lang="zh-CN" altLang="en-US" dirty="0"/>
              <a:t>⑶请专人介绍</a:t>
            </a:r>
          </a:p>
        </p:txBody>
      </p:sp>
      <p:sp>
        <p:nvSpPr>
          <p:cNvPr id="45058" name="Rectangle 2"/>
          <p:cNvSpPr>
            <a:spLocks noGrp="1"/>
          </p:cNvSpPr>
          <p:nvPr>
            <p:ph type="title"/>
          </p:nvPr>
        </p:nvSpPr>
        <p:spPr/>
        <p:txBody>
          <a:bodyPr vert="horz" wrap="square" lIns="91440" tIns="45720" rIns="91440" bIns="45720" anchor="b" anchorCtr="0"/>
          <a:lstStyle/>
          <a:p>
            <a:r>
              <a:rPr lang="zh-CN" altLang="en-US" dirty="0"/>
              <a:t>常用调查方法（续）</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3"/>
          <p:cNvSpPr>
            <a:spLocks noGrp="1"/>
          </p:cNvSpPr>
          <p:nvPr>
            <p:ph idx="1"/>
          </p:nvPr>
        </p:nvSpPr>
        <p:spPr/>
        <p:txBody>
          <a:bodyPr vert="horz" wrap="square" lIns="91440" tIns="45720" rIns="91440" bIns="45720" anchor="t" anchorCtr="0"/>
          <a:lstStyle/>
          <a:p>
            <a:pPr lvl="1" indent="-436245">
              <a:lnSpc>
                <a:spcPct val="110000"/>
              </a:lnSpc>
              <a:spcBef>
                <a:spcPct val="50000"/>
              </a:spcBef>
              <a:buNone/>
            </a:pPr>
            <a:r>
              <a:rPr lang="en-US" altLang="zh-CN" dirty="0"/>
              <a:t>⑷</a:t>
            </a:r>
            <a:r>
              <a:rPr lang="zh-CN" altLang="en-US" dirty="0"/>
              <a:t>询问</a:t>
            </a:r>
          </a:p>
          <a:p>
            <a:pPr lvl="1" indent="-436245">
              <a:lnSpc>
                <a:spcPct val="110000"/>
              </a:lnSpc>
            </a:pPr>
            <a:r>
              <a:rPr lang="zh-CN" altLang="en-US" dirty="0"/>
              <a:t>对某些调查中的问题，可以找专人询问</a:t>
            </a:r>
          </a:p>
          <a:p>
            <a:pPr lvl="1" indent="-436245">
              <a:lnSpc>
                <a:spcPct val="110000"/>
              </a:lnSpc>
              <a:spcBef>
                <a:spcPct val="50000"/>
              </a:spcBef>
              <a:buNone/>
            </a:pPr>
            <a:r>
              <a:rPr lang="zh-CN" altLang="en-US" dirty="0"/>
              <a:t>⑸设计调查表请用户填写</a:t>
            </a:r>
          </a:p>
          <a:p>
            <a:pPr lvl="1" indent="-436245">
              <a:lnSpc>
                <a:spcPct val="110000"/>
              </a:lnSpc>
            </a:pPr>
            <a:r>
              <a:rPr lang="zh-CN" altLang="en-US" dirty="0"/>
              <a:t>如果调查表设计合理，则很有效，且易于为用户接受</a:t>
            </a:r>
          </a:p>
          <a:p>
            <a:pPr lvl="1" indent="-436245">
              <a:lnSpc>
                <a:spcPct val="110000"/>
              </a:lnSpc>
              <a:spcBef>
                <a:spcPct val="50000"/>
              </a:spcBef>
              <a:buNone/>
            </a:pPr>
            <a:r>
              <a:rPr lang="zh-CN" altLang="en-US" dirty="0"/>
              <a:t>⑹查阅记录</a:t>
            </a:r>
          </a:p>
          <a:p>
            <a:pPr lvl="1" indent="-436245">
              <a:lnSpc>
                <a:spcPct val="110000"/>
              </a:lnSpc>
            </a:pPr>
            <a:r>
              <a:rPr lang="zh-CN" altLang="en-US" dirty="0"/>
              <a:t>查阅与原系统有关的数据记录</a:t>
            </a:r>
          </a:p>
        </p:txBody>
      </p:sp>
      <p:sp>
        <p:nvSpPr>
          <p:cNvPr id="46082" name="Rectangle 2"/>
          <p:cNvSpPr>
            <a:spLocks noGrp="1"/>
          </p:cNvSpPr>
          <p:nvPr>
            <p:ph type="title"/>
          </p:nvPr>
        </p:nvSpPr>
        <p:spPr/>
        <p:txBody>
          <a:bodyPr vert="horz" wrap="square" lIns="91440" tIns="45720" rIns="91440" bIns="45720" anchor="b" anchorCtr="0"/>
          <a:lstStyle/>
          <a:p>
            <a:r>
              <a:rPr lang="zh-CN" altLang="en-US" dirty="0"/>
              <a:t>常用调查方法（续）</a:t>
            </a: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3"/>
          <p:cNvSpPr>
            <a:spLocks noGrp="1"/>
          </p:cNvSpPr>
          <p:nvPr>
            <p:ph idx="1"/>
          </p:nvPr>
        </p:nvSpPr>
        <p:spPr/>
        <p:txBody>
          <a:bodyPr vert="horz" wrap="square" lIns="91440" tIns="45720" rIns="91440" bIns="45720" anchor="t" anchorCtr="0"/>
          <a:lstStyle/>
          <a:p>
            <a:r>
              <a:rPr lang="zh-CN" altLang="en-US" sz="2800" dirty="0"/>
              <a:t>分析和表达用户的需求</a:t>
            </a:r>
            <a:r>
              <a:rPr lang="zh-CN" altLang="zh-CN" sz="2800" dirty="0"/>
              <a:t>的常用方法（软件工程中已经讲解，此处可以不讲）</a:t>
            </a:r>
          </a:p>
          <a:p>
            <a:pPr lvl="1" indent="-436245"/>
            <a:r>
              <a:rPr lang="zh-CN" altLang="en-US" b="1" dirty="0">
                <a:solidFill>
                  <a:srgbClr val="FF0000"/>
                </a:solidFill>
              </a:rPr>
              <a:t>自顶向下的结构化分析方法</a:t>
            </a:r>
            <a:r>
              <a:rPr lang="zh-CN" altLang="en-US" dirty="0"/>
              <a:t>（</a:t>
            </a:r>
            <a:r>
              <a:rPr lang="en-US" altLang="zh-CN" dirty="0"/>
              <a:t>Structured Analysis</a:t>
            </a:r>
            <a:r>
              <a:rPr lang="zh-CN" altLang="en-US" dirty="0"/>
              <a:t>，简称</a:t>
            </a:r>
            <a:r>
              <a:rPr lang="en-US" altLang="zh-CN" dirty="0"/>
              <a:t>SA</a:t>
            </a:r>
            <a:r>
              <a:rPr lang="zh-CN" altLang="en-US" dirty="0"/>
              <a:t>方法）</a:t>
            </a:r>
          </a:p>
          <a:p>
            <a:r>
              <a:rPr lang="zh-CN" altLang="en-US" sz="2800" b="1" dirty="0">
                <a:solidFill>
                  <a:srgbClr val="FF0000"/>
                </a:solidFill>
              </a:rPr>
              <a:t>自顶向下</a:t>
            </a:r>
            <a:r>
              <a:rPr lang="zh-CN" altLang="en-US" sz="2800" dirty="0"/>
              <a:t>，逐步分解</a:t>
            </a:r>
          </a:p>
          <a:p>
            <a:r>
              <a:rPr lang="en-US" altLang="zh-CN" sz="2800" dirty="0"/>
              <a:t>SA</a:t>
            </a:r>
            <a:r>
              <a:rPr lang="zh-CN" altLang="en-US" sz="2800" dirty="0"/>
              <a:t>方法从最上层的系统组织机构入手，采用逐层分解的方式分析系统，并用</a:t>
            </a:r>
            <a:r>
              <a:rPr lang="zh-CN" altLang="en-US" sz="2800" b="1" dirty="0">
                <a:solidFill>
                  <a:srgbClr val="0000FF"/>
                </a:solidFill>
              </a:rPr>
              <a:t>数据流图</a:t>
            </a:r>
            <a:r>
              <a:rPr lang="zh-CN" altLang="en-US" sz="2800" dirty="0"/>
              <a:t>和</a:t>
            </a:r>
            <a:r>
              <a:rPr lang="zh-CN" altLang="en-US" sz="2800" b="1" dirty="0">
                <a:solidFill>
                  <a:srgbClr val="0000FF"/>
                </a:solidFill>
              </a:rPr>
              <a:t>数据字典</a:t>
            </a:r>
            <a:r>
              <a:rPr lang="zh-CN" altLang="en-US" sz="2800" dirty="0"/>
              <a:t>描述系统。</a:t>
            </a:r>
          </a:p>
        </p:txBody>
      </p:sp>
      <p:sp>
        <p:nvSpPr>
          <p:cNvPr id="47106" name="Rectangle 2"/>
          <p:cNvSpPr>
            <a:spLocks noGrp="1"/>
          </p:cNvSpPr>
          <p:nvPr>
            <p:ph type="title"/>
          </p:nvPr>
        </p:nvSpPr>
        <p:spPr/>
        <p:txBody>
          <a:bodyPr vert="horz" wrap="square" lIns="91440" tIns="45720" rIns="91440" bIns="45720" anchor="b" anchorCtr="0"/>
          <a:lstStyle/>
          <a:p>
            <a:r>
              <a:rPr lang="zh-CN" altLang="en-US" sz="3200" dirty="0"/>
              <a:t>三、进一步分析和表达用户需求</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3"/>
          <p:cNvSpPr>
            <a:spLocks noGrp="1"/>
          </p:cNvSpPr>
          <p:nvPr>
            <p:ph idx="1"/>
          </p:nvPr>
        </p:nvSpPr>
        <p:spPr/>
        <p:txBody>
          <a:bodyPr vert="horz" wrap="square" lIns="91440" tIns="45720" rIns="91440" bIns="45720" anchor="t" anchorCtr="0"/>
          <a:lstStyle/>
          <a:p>
            <a:pPr>
              <a:buNone/>
            </a:pPr>
            <a:r>
              <a:rPr lang="en-US" altLang="zh-CN" dirty="0"/>
              <a:t>1</a:t>
            </a:r>
            <a:r>
              <a:rPr lang="zh-CN" altLang="en-US" dirty="0"/>
              <a:t>．首先把任何一个系统都抽象为：</a:t>
            </a:r>
          </a:p>
        </p:txBody>
      </p:sp>
      <p:sp>
        <p:nvSpPr>
          <p:cNvPr id="48130" name="Rectangle 2"/>
          <p:cNvSpPr>
            <a:spLocks noGrp="1"/>
          </p:cNvSpPr>
          <p:nvPr>
            <p:ph type="title"/>
          </p:nvPr>
        </p:nvSpPr>
        <p:spPr/>
        <p:txBody>
          <a:bodyPr vert="horz" wrap="square" lIns="91440" tIns="45720" rIns="91440" bIns="45720" anchor="b" anchorCtr="0"/>
          <a:lstStyle/>
          <a:p>
            <a:r>
              <a:rPr lang="zh-CN" altLang="en-US" sz="3200" dirty="0"/>
              <a:t>进一步分析和表达用户需求（续）</a:t>
            </a:r>
          </a:p>
        </p:txBody>
      </p:sp>
      <p:grpSp>
        <p:nvGrpSpPr>
          <p:cNvPr id="48131" name="Group 4"/>
          <p:cNvGrpSpPr/>
          <p:nvPr/>
        </p:nvGrpSpPr>
        <p:grpSpPr>
          <a:xfrm>
            <a:off x="2819400" y="2895600"/>
            <a:ext cx="7315200" cy="2286000"/>
            <a:chOff x="768" y="1824"/>
            <a:chExt cx="4608" cy="1440"/>
          </a:xfrm>
        </p:grpSpPr>
        <p:sp>
          <p:nvSpPr>
            <p:cNvPr id="48132" name="Text Box 5"/>
            <p:cNvSpPr txBox="1"/>
            <p:nvPr/>
          </p:nvSpPr>
          <p:spPr>
            <a:xfrm>
              <a:off x="2621" y="2544"/>
              <a:ext cx="642" cy="411"/>
            </a:xfrm>
            <a:prstGeom prst="rect">
              <a:avLst/>
            </a:prstGeom>
            <a:noFill/>
            <a:ln w="9525">
              <a:noFill/>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数据流</a:t>
              </a:r>
              <a:endParaRPr lang="zh-CN" altLang="en-US" b="1" dirty="0">
                <a:latin typeface="Verdana" panose="020B0604030504040204" pitchFamily="34" charset="0"/>
                <a:ea typeface="宋体" panose="02010600030101010101" pitchFamily="2" charset="-122"/>
              </a:endParaRPr>
            </a:p>
          </p:txBody>
        </p:sp>
        <p:sp>
          <p:nvSpPr>
            <p:cNvPr id="48133" name="Text Box 6"/>
            <p:cNvSpPr txBox="1"/>
            <p:nvPr/>
          </p:nvSpPr>
          <p:spPr>
            <a:xfrm>
              <a:off x="1481" y="2544"/>
              <a:ext cx="570" cy="411"/>
            </a:xfrm>
            <a:prstGeom prst="rect">
              <a:avLst/>
            </a:prstGeom>
            <a:noFill/>
            <a:ln w="9525">
              <a:noFill/>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数据流</a:t>
              </a:r>
              <a:endParaRPr lang="zh-CN" altLang="en-US" dirty="0">
                <a:latin typeface="Verdana" panose="020B0604030504040204" pitchFamily="34" charset="0"/>
                <a:ea typeface="宋体" panose="02010600030101010101" pitchFamily="2" charset="-122"/>
              </a:endParaRPr>
            </a:p>
          </p:txBody>
        </p:sp>
        <p:sp>
          <p:nvSpPr>
            <p:cNvPr id="48134" name="Oval 7"/>
            <p:cNvSpPr/>
            <p:nvPr/>
          </p:nvSpPr>
          <p:spPr>
            <a:xfrm>
              <a:off x="2051" y="2647"/>
              <a:ext cx="570" cy="617"/>
            </a:xfrm>
            <a:prstGeom prst="ellipse">
              <a:avLst/>
            </a:prstGeom>
            <a:noFill/>
            <a:ln w="9525" cap="flat" cmpd="sng">
              <a:solidFill>
                <a:srgbClr val="000000"/>
              </a:solidFill>
              <a:prstDash val="solid"/>
              <a:round/>
              <a:headEnd type="none" w="med" len="med"/>
              <a:tailEnd type="none" w="med" len="med"/>
            </a:ln>
          </p:spPr>
          <p:txBody>
            <a:bodyPr lIns="0" rIns="0" anchor="t" anchorCtr="0"/>
            <a:lstStyle/>
            <a:p>
              <a:pPr eaLnBrk="0" hangingPunct="0"/>
              <a:endParaRPr lang="zh-CN" altLang="en-US" dirty="0">
                <a:latin typeface="Verdana" panose="020B0604030504040204" pitchFamily="34" charset="0"/>
                <a:ea typeface="宋体" panose="02010600030101010101" pitchFamily="2" charset="-122"/>
              </a:endParaRPr>
            </a:p>
          </p:txBody>
        </p:sp>
        <p:sp>
          <p:nvSpPr>
            <p:cNvPr id="48135" name="Text Box 8"/>
            <p:cNvSpPr txBox="1"/>
            <p:nvPr/>
          </p:nvSpPr>
          <p:spPr>
            <a:xfrm>
              <a:off x="1980" y="1824"/>
              <a:ext cx="712" cy="411"/>
            </a:xfrm>
            <a:prstGeom prst="rect">
              <a:avLst/>
            </a:prstGeom>
            <a:noFill/>
            <a:ln w="9525" cap="flat" cmpd="sng">
              <a:solidFill>
                <a:srgbClr val="000000"/>
              </a:solidFill>
              <a:prstDash val="solid"/>
              <a:miter/>
              <a:headEnd type="none" w="med" len="med"/>
              <a:tailEnd type="none" w="med" len="med"/>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数据</a:t>
              </a:r>
            </a:p>
            <a:p>
              <a:pPr algn="ctr" eaLnBrk="0" hangingPunct="0"/>
              <a:r>
                <a:rPr lang="zh-CN" altLang="en-US" sz="2000" b="1" dirty="0">
                  <a:latin typeface="Verdana" panose="020B0604030504040204" pitchFamily="34" charset="0"/>
                  <a:ea typeface="宋体" panose="02010600030101010101" pitchFamily="2" charset="-122"/>
                </a:rPr>
                <a:t>存储</a:t>
              </a:r>
            </a:p>
          </p:txBody>
        </p:sp>
        <p:sp>
          <p:nvSpPr>
            <p:cNvPr id="48136" name="Text Box 9"/>
            <p:cNvSpPr txBox="1"/>
            <p:nvPr/>
          </p:nvSpPr>
          <p:spPr>
            <a:xfrm>
              <a:off x="4656" y="2016"/>
              <a:ext cx="713" cy="418"/>
            </a:xfrm>
            <a:prstGeom prst="rect">
              <a:avLst/>
            </a:prstGeom>
            <a:noFill/>
            <a:ln w="9525">
              <a:noFill/>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信息要求</a:t>
              </a:r>
              <a:endParaRPr lang="zh-CN" altLang="en-US" dirty="0">
                <a:latin typeface="Verdana" panose="020B0604030504040204" pitchFamily="34" charset="0"/>
                <a:ea typeface="宋体" panose="02010600030101010101" pitchFamily="2" charset="-122"/>
              </a:endParaRPr>
            </a:p>
          </p:txBody>
        </p:sp>
        <p:sp>
          <p:nvSpPr>
            <p:cNvPr id="48137" name="Line 10"/>
            <p:cNvSpPr/>
            <p:nvPr/>
          </p:nvSpPr>
          <p:spPr>
            <a:xfrm flipH="1">
              <a:off x="4224" y="2112"/>
              <a:ext cx="356" cy="0"/>
            </a:xfrm>
            <a:prstGeom prst="line">
              <a:avLst/>
            </a:prstGeom>
            <a:ln w="9525" cap="flat" cmpd="sng">
              <a:solidFill>
                <a:srgbClr val="000000"/>
              </a:solidFill>
              <a:prstDash val="solid"/>
              <a:round/>
              <a:headEnd type="none" w="med" len="med"/>
              <a:tailEnd type="triangle" w="med" len="med"/>
            </a:ln>
          </p:spPr>
        </p:sp>
        <p:sp>
          <p:nvSpPr>
            <p:cNvPr id="48138" name="Text Box 11"/>
            <p:cNvSpPr txBox="1"/>
            <p:nvPr/>
          </p:nvSpPr>
          <p:spPr>
            <a:xfrm>
              <a:off x="768" y="2750"/>
              <a:ext cx="713" cy="514"/>
            </a:xfrm>
            <a:prstGeom prst="rect">
              <a:avLst/>
            </a:prstGeom>
            <a:noFill/>
            <a:ln w="9525" cap="flat" cmpd="sng">
              <a:solidFill>
                <a:srgbClr val="000000"/>
              </a:solidFill>
              <a:prstDash val="solid"/>
              <a:miter/>
              <a:headEnd type="none" w="med" len="med"/>
              <a:tailEnd type="none" w="med" len="med"/>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数据</a:t>
              </a:r>
              <a:endParaRPr lang="zh-CN" altLang="en-US" b="1" dirty="0">
                <a:latin typeface="Verdana" panose="020B0604030504040204" pitchFamily="34" charset="0"/>
                <a:ea typeface="宋体" panose="02010600030101010101" pitchFamily="2" charset="-122"/>
              </a:endParaRPr>
            </a:p>
            <a:p>
              <a:pPr algn="ctr" eaLnBrk="0" hangingPunct="0"/>
              <a:r>
                <a:rPr lang="zh-CN" altLang="en-US" sz="2000" b="1" dirty="0">
                  <a:latin typeface="Verdana" panose="020B0604030504040204" pitchFamily="34" charset="0"/>
                  <a:ea typeface="宋体" panose="02010600030101010101" pitchFamily="2" charset="-122"/>
                </a:rPr>
                <a:t>来源</a:t>
              </a:r>
              <a:endParaRPr lang="zh-CN" altLang="en-US" b="1" dirty="0">
                <a:latin typeface="Verdana" panose="020B0604030504040204" pitchFamily="34" charset="0"/>
                <a:ea typeface="宋体" panose="02010600030101010101" pitchFamily="2" charset="-122"/>
              </a:endParaRPr>
            </a:p>
          </p:txBody>
        </p:sp>
        <p:sp>
          <p:nvSpPr>
            <p:cNvPr id="48139" name="Line 12"/>
            <p:cNvSpPr/>
            <p:nvPr/>
          </p:nvSpPr>
          <p:spPr>
            <a:xfrm>
              <a:off x="1481" y="2955"/>
              <a:ext cx="499" cy="0"/>
            </a:xfrm>
            <a:prstGeom prst="line">
              <a:avLst/>
            </a:prstGeom>
            <a:ln w="9525" cap="flat" cmpd="sng">
              <a:solidFill>
                <a:srgbClr val="000000"/>
              </a:solidFill>
              <a:prstDash val="solid"/>
              <a:round/>
              <a:headEnd type="none" w="med" len="med"/>
              <a:tailEnd type="triangle" w="med" len="med"/>
            </a:ln>
          </p:spPr>
        </p:sp>
        <p:sp>
          <p:nvSpPr>
            <p:cNvPr id="48140" name="Text Box 13"/>
            <p:cNvSpPr txBox="1"/>
            <p:nvPr/>
          </p:nvSpPr>
          <p:spPr>
            <a:xfrm>
              <a:off x="2122" y="2750"/>
              <a:ext cx="428" cy="308"/>
            </a:xfrm>
            <a:prstGeom prst="rect">
              <a:avLst/>
            </a:prstGeom>
            <a:noFill/>
            <a:ln w="9525">
              <a:noFill/>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处理</a:t>
              </a:r>
              <a:endParaRPr lang="zh-CN" altLang="en-US" b="1" dirty="0">
                <a:latin typeface="Verdana" panose="020B0604030504040204" pitchFamily="34" charset="0"/>
                <a:ea typeface="宋体" panose="02010600030101010101" pitchFamily="2" charset="-122"/>
              </a:endParaRPr>
            </a:p>
          </p:txBody>
        </p:sp>
        <p:sp>
          <p:nvSpPr>
            <p:cNvPr id="48141" name="Line 14"/>
            <p:cNvSpPr/>
            <p:nvPr/>
          </p:nvSpPr>
          <p:spPr>
            <a:xfrm>
              <a:off x="2692" y="2955"/>
              <a:ext cx="571" cy="0"/>
            </a:xfrm>
            <a:prstGeom prst="line">
              <a:avLst/>
            </a:prstGeom>
            <a:ln w="9525" cap="flat" cmpd="sng">
              <a:solidFill>
                <a:srgbClr val="000000"/>
              </a:solidFill>
              <a:prstDash val="solid"/>
              <a:round/>
              <a:headEnd type="none" w="med" len="med"/>
              <a:tailEnd type="triangle" w="med" len="med"/>
            </a:ln>
          </p:spPr>
        </p:sp>
        <p:sp>
          <p:nvSpPr>
            <p:cNvPr id="48142" name="Text Box 15"/>
            <p:cNvSpPr txBox="1"/>
            <p:nvPr/>
          </p:nvSpPr>
          <p:spPr>
            <a:xfrm>
              <a:off x="3263" y="2750"/>
              <a:ext cx="855" cy="514"/>
            </a:xfrm>
            <a:prstGeom prst="rect">
              <a:avLst/>
            </a:prstGeom>
            <a:noFill/>
            <a:ln w="9525" cap="flat" cmpd="sng">
              <a:solidFill>
                <a:srgbClr val="000000"/>
              </a:solidFill>
              <a:prstDash val="solid"/>
              <a:miter/>
              <a:headEnd type="none" w="med" len="med"/>
              <a:tailEnd type="none" w="med" len="med"/>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数据</a:t>
              </a:r>
              <a:endParaRPr lang="zh-CN" altLang="en-US" b="1" dirty="0">
                <a:latin typeface="Verdana" panose="020B0604030504040204" pitchFamily="34" charset="0"/>
                <a:ea typeface="宋体" panose="02010600030101010101" pitchFamily="2" charset="-122"/>
              </a:endParaRPr>
            </a:p>
            <a:p>
              <a:pPr algn="ctr" eaLnBrk="0" hangingPunct="0"/>
              <a:r>
                <a:rPr lang="zh-CN" altLang="en-US" sz="2000" b="1" dirty="0">
                  <a:latin typeface="Verdana" panose="020B0604030504040204" pitchFamily="34" charset="0"/>
                  <a:ea typeface="宋体" panose="02010600030101010101" pitchFamily="2" charset="-122"/>
                </a:rPr>
                <a:t>输出</a:t>
              </a:r>
            </a:p>
          </p:txBody>
        </p:sp>
        <p:sp>
          <p:nvSpPr>
            <p:cNvPr id="48143" name="Line 16"/>
            <p:cNvSpPr/>
            <p:nvPr/>
          </p:nvSpPr>
          <p:spPr>
            <a:xfrm flipH="1">
              <a:off x="4320" y="2976"/>
              <a:ext cx="285" cy="0"/>
            </a:xfrm>
            <a:prstGeom prst="line">
              <a:avLst/>
            </a:prstGeom>
            <a:ln w="9525" cap="flat" cmpd="sng">
              <a:solidFill>
                <a:srgbClr val="000000"/>
              </a:solidFill>
              <a:prstDash val="solid"/>
              <a:round/>
              <a:headEnd type="none" w="med" len="med"/>
              <a:tailEnd type="triangle" w="med" len="med"/>
            </a:ln>
          </p:spPr>
        </p:sp>
        <p:sp>
          <p:nvSpPr>
            <p:cNvPr id="48144" name="Text Box 17"/>
            <p:cNvSpPr txBox="1"/>
            <p:nvPr/>
          </p:nvSpPr>
          <p:spPr>
            <a:xfrm>
              <a:off x="4663" y="2832"/>
              <a:ext cx="713" cy="329"/>
            </a:xfrm>
            <a:prstGeom prst="rect">
              <a:avLst/>
            </a:prstGeom>
            <a:noFill/>
            <a:ln w="9525">
              <a:noFill/>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处理要求</a:t>
              </a:r>
              <a:endParaRPr lang="zh-CN" altLang="en-US" dirty="0">
                <a:latin typeface="Verdana" panose="020B0604030504040204" pitchFamily="34" charset="0"/>
                <a:ea typeface="宋体" panose="02010600030101010101" pitchFamily="2" charset="-122"/>
              </a:endParaRPr>
            </a:p>
          </p:txBody>
        </p:sp>
        <p:sp>
          <p:nvSpPr>
            <p:cNvPr id="48145" name="Line 18"/>
            <p:cNvSpPr/>
            <p:nvPr/>
          </p:nvSpPr>
          <p:spPr>
            <a:xfrm>
              <a:off x="2336" y="2235"/>
              <a:ext cx="0" cy="412"/>
            </a:xfrm>
            <a:prstGeom prst="line">
              <a:avLst/>
            </a:prstGeom>
            <a:ln w="9525" cap="flat" cmpd="sng">
              <a:solidFill>
                <a:srgbClr val="000000"/>
              </a:solidFill>
              <a:prstDash val="solid"/>
              <a:round/>
              <a:headEnd type="triangle" w="med" len="med"/>
              <a:tailEnd type="triangle" w="med" len="med"/>
            </a:ln>
          </p:spPr>
        </p:sp>
      </p:gr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3"/>
          <p:cNvSpPr>
            <a:spLocks noGrp="1"/>
          </p:cNvSpPr>
          <p:nvPr>
            <p:ph idx="1"/>
          </p:nvPr>
        </p:nvSpPr>
        <p:spPr/>
        <p:txBody>
          <a:bodyPr vert="horz" wrap="square" lIns="91440" tIns="45720" rIns="91440" bIns="45720" anchor="t" anchorCtr="0"/>
          <a:lstStyle/>
          <a:p>
            <a:pPr>
              <a:buNone/>
            </a:pPr>
            <a:r>
              <a:rPr lang="en-US" altLang="zh-CN" dirty="0"/>
              <a:t>2</a:t>
            </a:r>
            <a:r>
              <a:rPr lang="zh-CN" altLang="en-US" dirty="0"/>
              <a:t>．分解处理功能和数据</a:t>
            </a:r>
          </a:p>
          <a:p>
            <a:pPr>
              <a:buNone/>
            </a:pPr>
            <a:r>
              <a:rPr lang="zh-CN" altLang="en-US" sz="2800" dirty="0"/>
              <a:t>（</a:t>
            </a:r>
            <a:r>
              <a:rPr lang="en-US" altLang="zh-CN" sz="2800" dirty="0"/>
              <a:t>1</a:t>
            </a:r>
            <a:r>
              <a:rPr lang="zh-CN" altLang="en-US" sz="2800" dirty="0"/>
              <a:t>）分解处理功能</a:t>
            </a:r>
          </a:p>
          <a:p>
            <a:pPr marL="1162050" lvl="2" indent="-394970"/>
            <a:r>
              <a:rPr lang="zh-CN" altLang="en-US" dirty="0"/>
              <a:t>将处理功能的具体内容分解为若干子功能，再将每个子功能继续分解，直到把系统的工作过程表达清楚为止。</a:t>
            </a:r>
          </a:p>
          <a:p>
            <a:pPr>
              <a:buNone/>
            </a:pPr>
            <a:r>
              <a:rPr lang="zh-CN" altLang="en-US" sz="2800" dirty="0"/>
              <a:t>（</a:t>
            </a:r>
            <a:r>
              <a:rPr lang="en-US" altLang="zh-CN" sz="2800" dirty="0"/>
              <a:t>2</a:t>
            </a:r>
            <a:r>
              <a:rPr lang="zh-CN" altLang="en-US" sz="2800" dirty="0"/>
              <a:t>）分解数据</a:t>
            </a:r>
          </a:p>
          <a:p>
            <a:pPr marL="1162050" lvl="2" indent="-394970"/>
            <a:r>
              <a:rPr lang="zh-CN" altLang="en-US" dirty="0"/>
              <a:t>在处理功能逐步分解的同时，其所用的数据也逐级分解，形成若干层次的</a:t>
            </a:r>
            <a:r>
              <a:rPr lang="zh-CN" altLang="en-US" dirty="0">
                <a:solidFill>
                  <a:srgbClr val="FF0000"/>
                </a:solidFill>
              </a:rPr>
              <a:t>数据流图</a:t>
            </a:r>
          </a:p>
          <a:p>
            <a:pPr marL="1162050" lvl="2" indent="-394970"/>
            <a:r>
              <a:rPr lang="zh-CN" altLang="en-US" dirty="0"/>
              <a:t> 数据流图表达了数据和处理过程的关系</a:t>
            </a:r>
          </a:p>
          <a:p>
            <a:pPr>
              <a:buNone/>
            </a:pPr>
            <a:endParaRPr lang="en-US" altLang="zh-CN" sz="2800" dirty="0"/>
          </a:p>
        </p:txBody>
      </p:sp>
      <p:sp>
        <p:nvSpPr>
          <p:cNvPr id="50178" name="Rectangle 2"/>
          <p:cNvSpPr>
            <a:spLocks noGrp="1"/>
          </p:cNvSpPr>
          <p:nvPr>
            <p:ph type="title"/>
          </p:nvPr>
        </p:nvSpPr>
        <p:spPr/>
        <p:txBody>
          <a:bodyPr vert="horz" wrap="square" lIns="91440" tIns="45720" rIns="91440" bIns="45720" anchor="b" anchorCtr="0"/>
          <a:lstStyle/>
          <a:p>
            <a:r>
              <a:rPr lang="zh-CN" altLang="en-US" sz="3200" dirty="0"/>
              <a:t>进一步分析和表达用户需求（续）</a:t>
            </a: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3"/>
          <p:cNvSpPr>
            <a:spLocks noGrp="1"/>
          </p:cNvSpPr>
          <p:nvPr>
            <p:ph idx="1"/>
          </p:nvPr>
        </p:nvSpPr>
        <p:spPr/>
        <p:txBody>
          <a:bodyPr vert="horz" wrap="square" lIns="91440" tIns="45720" rIns="91440" bIns="45720" anchor="t" anchorCtr="0"/>
          <a:lstStyle/>
          <a:p>
            <a:pPr>
              <a:lnSpc>
                <a:spcPct val="160000"/>
              </a:lnSpc>
              <a:buNone/>
            </a:pPr>
            <a:r>
              <a:rPr lang="zh-CN" altLang="en-US" sz="2800" dirty="0"/>
              <a:t>（</a:t>
            </a:r>
            <a:r>
              <a:rPr lang="en-US" altLang="zh-CN" sz="2800" dirty="0"/>
              <a:t>3</a:t>
            </a:r>
            <a:r>
              <a:rPr lang="zh-CN" altLang="en-US" sz="2800" dirty="0"/>
              <a:t>）表达方法</a:t>
            </a:r>
            <a:endParaRPr lang="zh-CN" altLang="en-US" dirty="0"/>
          </a:p>
          <a:p>
            <a:pPr lvl="2" indent="-394970">
              <a:lnSpc>
                <a:spcPct val="150000"/>
              </a:lnSpc>
            </a:pPr>
            <a:r>
              <a:rPr lang="zh-CN" altLang="en-US" dirty="0"/>
              <a:t> </a:t>
            </a:r>
            <a:r>
              <a:rPr lang="zh-CN" altLang="en-US" sz="2800" dirty="0"/>
              <a:t>处理过程：用判定表或判定树来描述</a:t>
            </a:r>
          </a:p>
          <a:p>
            <a:pPr lvl="2" indent="-394970">
              <a:lnSpc>
                <a:spcPct val="150000"/>
              </a:lnSpc>
            </a:pPr>
            <a:r>
              <a:rPr lang="zh-CN" altLang="en-US" sz="2800" dirty="0"/>
              <a:t> 数据：用数据字典来描述</a:t>
            </a:r>
          </a:p>
          <a:p>
            <a:pPr>
              <a:lnSpc>
                <a:spcPct val="150000"/>
              </a:lnSpc>
              <a:buNone/>
            </a:pPr>
            <a:r>
              <a:rPr lang="zh-CN" altLang="en-US" sz="3200" dirty="0"/>
              <a:t> </a:t>
            </a:r>
            <a:r>
              <a:rPr lang="en-US" altLang="zh-CN" sz="3200" dirty="0"/>
              <a:t>3</a:t>
            </a:r>
            <a:r>
              <a:rPr lang="zh-CN" altLang="en-US" sz="3200" dirty="0"/>
              <a:t>．将分析结果再次提交给用户，征得用户的认可</a:t>
            </a:r>
          </a:p>
          <a:p>
            <a:pPr>
              <a:lnSpc>
                <a:spcPct val="150000"/>
              </a:lnSpc>
              <a:buNone/>
            </a:pPr>
            <a:endParaRPr lang="zh-CN" altLang="en-US" sz="3600" dirty="0"/>
          </a:p>
        </p:txBody>
      </p:sp>
      <p:sp>
        <p:nvSpPr>
          <p:cNvPr id="51202" name="Rectangle 2"/>
          <p:cNvSpPr>
            <a:spLocks noGrp="1"/>
          </p:cNvSpPr>
          <p:nvPr>
            <p:ph type="title"/>
          </p:nvPr>
        </p:nvSpPr>
        <p:spPr/>
        <p:txBody>
          <a:bodyPr vert="horz" wrap="square" lIns="91440" tIns="45720" rIns="91440" bIns="45720" anchor="b" anchorCtr="0"/>
          <a:lstStyle/>
          <a:p>
            <a:r>
              <a:rPr lang="zh-CN" altLang="en-US" sz="3200" dirty="0"/>
              <a:t>进一步分析和表达用户需求（续）</a:t>
            </a: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p:cNvSpPr>
          <p:nvPr>
            <p:ph type="title"/>
          </p:nvPr>
        </p:nvSpPr>
        <p:spPr/>
        <p:txBody>
          <a:bodyPr vert="horz" wrap="square" lIns="91440" tIns="45720" rIns="91440" bIns="45720" anchor="b" anchorCtr="0"/>
          <a:lstStyle/>
          <a:p>
            <a:r>
              <a:rPr lang="zh-CN" altLang="en-US" dirty="0"/>
              <a:t>四、需求分析过程</a:t>
            </a:r>
          </a:p>
        </p:txBody>
      </p:sp>
      <p:pic>
        <p:nvPicPr>
          <p:cNvPr id="52226" name="Picture 4" descr="6"/>
          <p:cNvPicPr>
            <a:picLocks noChangeAspect="1"/>
          </p:cNvPicPr>
          <p:nvPr/>
        </p:nvPicPr>
        <p:blipFill>
          <a:blip r:embed="rId2">
            <a:clrChange>
              <a:clrFrom>
                <a:srgbClr val="FFFFFF"/>
              </a:clrFrom>
              <a:clrTo>
                <a:srgbClr val="FFFFFF">
                  <a:alpha val="0"/>
                </a:srgbClr>
              </a:clrTo>
            </a:clrChange>
          </a:blip>
          <a:stretch>
            <a:fillRect/>
          </a:stretch>
        </p:blipFill>
        <p:spPr>
          <a:xfrm>
            <a:off x="2452688" y="1214438"/>
            <a:ext cx="7162800" cy="4895850"/>
          </a:xfrm>
          <a:prstGeom prst="rect">
            <a:avLst/>
          </a:prstGeom>
          <a:noFill/>
          <a:ln w="9525">
            <a:noFill/>
          </a:ln>
        </p:spPr>
      </p:pic>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3"/>
          <p:cNvSpPr>
            <a:spLocks noGrp="1"/>
          </p:cNvSpPr>
          <p:nvPr>
            <p:ph idx="1"/>
          </p:nvPr>
        </p:nvSpPr>
        <p:spPr/>
        <p:txBody>
          <a:bodyPr vert="horz" wrap="square" lIns="91440" tIns="45720" rIns="91440" bIns="45720" anchor="t" anchorCtr="0"/>
          <a:lstStyle/>
          <a:p>
            <a:pPr>
              <a:lnSpc>
                <a:spcPct val="160000"/>
              </a:lnSpc>
              <a:buNone/>
            </a:pPr>
            <a:r>
              <a:rPr lang="en-US" altLang="zh-CN" dirty="0"/>
              <a:t>7.2.1  </a:t>
            </a:r>
            <a:r>
              <a:rPr lang="zh-CN" altLang="en-US" dirty="0"/>
              <a:t>需求分析的任务</a:t>
            </a:r>
          </a:p>
          <a:p>
            <a:pPr>
              <a:lnSpc>
                <a:spcPct val="160000"/>
              </a:lnSpc>
              <a:buNone/>
            </a:pPr>
            <a:r>
              <a:rPr lang="en-US" altLang="zh-CN" dirty="0"/>
              <a:t>7.2.2  </a:t>
            </a:r>
            <a:r>
              <a:rPr lang="zh-CN" altLang="en-US" dirty="0"/>
              <a:t>需求分析的方法</a:t>
            </a:r>
          </a:p>
          <a:p>
            <a:pPr>
              <a:lnSpc>
                <a:spcPct val="160000"/>
              </a:lnSpc>
              <a:buNone/>
            </a:pPr>
            <a:r>
              <a:rPr lang="en-US" altLang="zh-CN" dirty="0">
                <a:solidFill>
                  <a:schemeClr val="accent2"/>
                </a:solidFill>
              </a:rPr>
              <a:t>7.2.3  </a:t>
            </a:r>
            <a:r>
              <a:rPr lang="zh-CN" altLang="en-US" dirty="0">
                <a:solidFill>
                  <a:schemeClr val="accent2"/>
                </a:solidFill>
              </a:rPr>
              <a:t>数据字典（软件工程中已经讲解，此处可以不再讲解）</a:t>
            </a:r>
          </a:p>
        </p:txBody>
      </p:sp>
      <p:sp>
        <p:nvSpPr>
          <p:cNvPr id="53250" name="Rectangle 2"/>
          <p:cNvSpPr>
            <a:spLocks noGrp="1"/>
          </p:cNvSpPr>
          <p:nvPr>
            <p:ph type="title"/>
          </p:nvPr>
        </p:nvSpPr>
        <p:spPr/>
        <p:txBody>
          <a:bodyPr vert="horz" wrap="square" lIns="91440" tIns="45720" rIns="91440" bIns="45720" anchor="b" anchorCtr="0"/>
          <a:lstStyle/>
          <a:p>
            <a:r>
              <a:rPr lang="en-US" altLang="zh-CN" dirty="0"/>
              <a:t>7.2  </a:t>
            </a:r>
            <a:r>
              <a:rPr lang="zh-CN" altLang="en-US" dirty="0"/>
              <a:t>需求分析</a:t>
            </a: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3"/>
          <p:cNvSpPr>
            <a:spLocks noGrp="1"/>
          </p:cNvSpPr>
          <p:nvPr>
            <p:ph idx="1"/>
          </p:nvPr>
        </p:nvSpPr>
        <p:spPr/>
        <p:txBody>
          <a:bodyPr vert="horz" wrap="square" lIns="91440" tIns="45720" rIns="91440" bIns="45720" anchor="t" anchorCtr="0"/>
          <a:lstStyle/>
          <a:p>
            <a:pPr>
              <a:lnSpc>
                <a:spcPct val="180000"/>
              </a:lnSpc>
            </a:pPr>
            <a:r>
              <a:rPr lang="zh-CN" altLang="en-US" sz="2800" dirty="0"/>
              <a:t> 数据字典是关于</a:t>
            </a:r>
            <a:r>
              <a:rPr lang="zh-CN" altLang="en-US" sz="2800" b="1" dirty="0">
                <a:solidFill>
                  <a:srgbClr val="FF0000"/>
                </a:solidFill>
              </a:rPr>
              <a:t>数据库中数据的描述</a:t>
            </a:r>
            <a:r>
              <a:rPr lang="zh-CN" altLang="en-US" sz="2800" dirty="0"/>
              <a:t>，即元数据，不是数据本身 </a:t>
            </a:r>
            <a:endParaRPr lang="en-US" altLang="zh-CN" sz="2800" dirty="0"/>
          </a:p>
          <a:p>
            <a:pPr>
              <a:lnSpc>
                <a:spcPct val="180000"/>
              </a:lnSpc>
            </a:pPr>
            <a:r>
              <a:rPr lang="zh-CN" altLang="en-US" sz="2800" dirty="0">
                <a:solidFill>
                  <a:srgbClr val="FF0000"/>
                </a:solidFill>
              </a:rPr>
              <a:t>数据字典</a:t>
            </a:r>
            <a:r>
              <a:rPr lang="zh-CN" altLang="en-US" sz="2800" dirty="0"/>
              <a:t>在</a:t>
            </a:r>
            <a:r>
              <a:rPr lang="zh-CN" altLang="en-US" sz="2800" dirty="0">
                <a:solidFill>
                  <a:srgbClr val="FF0000"/>
                </a:solidFill>
              </a:rPr>
              <a:t>需求分析阶段</a:t>
            </a:r>
            <a:r>
              <a:rPr lang="zh-CN" altLang="en-US" sz="2800" dirty="0"/>
              <a:t>建立，在数据库设计过程中不断修改、充实、完善 </a:t>
            </a:r>
            <a:endParaRPr lang="en-US" altLang="zh-CN" sz="2800" dirty="0"/>
          </a:p>
          <a:p>
            <a:pPr>
              <a:lnSpc>
                <a:spcPct val="180000"/>
              </a:lnSpc>
            </a:pPr>
            <a:r>
              <a:rPr lang="zh-CN" altLang="en-US" sz="2800" dirty="0"/>
              <a:t>数据字典是进行详细的数据收集和数据分析所获得的主要结果</a:t>
            </a:r>
            <a:endParaRPr lang="en-US" altLang="zh-CN" dirty="0"/>
          </a:p>
        </p:txBody>
      </p:sp>
      <p:sp>
        <p:nvSpPr>
          <p:cNvPr id="54274" name="Rectangle 2"/>
          <p:cNvSpPr>
            <a:spLocks noGrp="1"/>
          </p:cNvSpPr>
          <p:nvPr>
            <p:ph type="title"/>
          </p:nvPr>
        </p:nvSpPr>
        <p:spPr/>
        <p:txBody>
          <a:bodyPr vert="horz" wrap="square" lIns="91440" tIns="45720" rIns="91440" bIns="45720" anchor="b" anchorCtr="0"/>
          <a:lstStyle/>
          <a:p>
            <a:r>
              <a:rPr lang="zh-CN" altLang="en-US" dirty="0"/>
              <a:t>一、数据字典</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3"/>
          <p:cNvSpPr>
            <a:spLocks noGrp="1"/>
          </p:cNvSpPr>
          <p:nvPr>
            <p:ph idx="1"/>
          </p:nvPr>
        </p:nvSpPr>
        <p:spPr>
          <a:xfrm>
            <a:off x="817880" y="1214755"/>
            <a:ext cx="9516745" cy="4500245"/>
          </a:xfrm>
        </p:spPr>
        <p:txBody>
          <a:bodyPr vert="horz" wrap="square" lIns="91440" tIns="45720" rIns="91440" bIns="45720" anchor="t" anchorCtr="0"/>
          <a:lstStyle/>
          <a:p>
            <a:pPr>
              <a:lnSpc>
                <a:spcPct val="90000"/>
              </a:lnSpc>
            </a:pPr>
            <a:r>
              <a:rPr lang="zh-CN" altLang="en-US" sz="2800" dirty="0"/>
              <a:t>数据字典的内容</a:t>
            </a:r>
          </a:p>
          <a:p>
            <a:pPr marL="469900" lvl="1" indent="0">
              <a:lnSpc>
                <a:spcPct val="90000"/>
              </a:lnSpc>
              <a:buNone/>
            </a:pPr>
            <a:r>
              <a:rPr lang="en-US" altLang="zh-CN" sz="2400" dirty="0"/>
              <a:t>1.</a:t>
            </a:r>
            <a:r>
              <a:rPr lang="zh-CN" altLang="en-US" sz="2400" dirty="0"/>
              <a:t>数据项</a:t>
            </a:r>
          </a:p>
          <a:p>
            <a:pPr marL="469900" lvl="1" indent="0">
              <a:lnSpc>
                <a:spcPct val="90000"/>
              </a:lnSpc>
              <a:buNone/>
            </a:pPr>
            <a:r>
              <a:rPr lang="en-US" altLang="zh-CN" sz="2400" dirty="0"/>
              <a:t>2.</a:t>
            </a:r>
            <a:r>
              <a:rPr lang="zh-CN" altLang="en-US" sz="2400" dirty="0"/>
              <a:t>数据结构</a:t>
            </a:r>
          </a:p>
          <a:p>
            <a:pPr marL="469900" lvl="1" indent="0">
              <a:lnSpc>
                <a:spcPct val="90000"/>
              </a:lnSpc>
              <a:buNone/>
            </a:pPr>
            <a:r>
              <a:rPr lang="en-US" altLang="zh-CN" sz="2400" dirty="0"/>
              <a:t>3.</a:t>
            </a:r>
            <a:r>
              <a:rPr lang="zh-CN" altLang="en-US" sz="2400" dirty="0"/>
              <a:t>数据流</a:t>
            </a:r>
          </a:p>
          <a:p>
            <a:pPr marL="469900" lvl="1" indent="0">
              <a:lnSpc>
                <a:spcPct val="90000"/>
              </a:lnSpc>
              <a:buNone/>
            </a:pPr>
            <a:r>
              <a:rPr lang="en-US" altLang="zh-CN" sz="2400" dirty="0"/>
              <a:t>4.</a:t>
            </a:r>
            <a:r>
              <a:rPr lang="zh-CN" altLang="en-US" sz="2400" dirty="0"/>
              <a:t>数据存储</a:t>
            </a:r>
          </a:p>
          <a:p>
            <a:pPr marL="469900" lvl="1" indent="0">
              <a:lnSpc>
                <a:spcPct val="90000"/>
              </a:lnSpc>
              <a:buNone/>
            </a:pPr>
            <a:r>
              <a:rPr lang="en-US" altLang="zh-CN" sz="2400" dirty="0"/>
              <a:t>5.</a:t>
            </a:r>
            <a:r>
              <a:rPr lang="zh-CN" altLang="en-US" sz="2400" dirty="0"/>
              <a:t>处理过程</a:t>
            </a:r>
          </a:p>
          <a:p>
            <a:pPr>
              <a:lnSpc>
                <a:spcPct val="90000"/>
              </a:lnSpc>
            </a:pPr>
            <a:r>
              <a:rPr lang="zh-CN" altLang="en-US" sz="2800" dirty="0"/>
              <a:t> 数据项是数据的最小组成单位</a:t>
            </a:r>
          </a:p>
          <a:p>
            <a:pPr>
              <a:lnSpc>
                <a:spcPct val="90000"/>
              </a:lnSpc>
            </a:pPr>
            <a:r>
              <a:rPr lang="zh-CN" altLang="en-US" sz="2800" dirty="0"/>
              <a:t> 若干个数据项可以组成一个数据结构</a:t>
            </a:r>
          </a:p>
          <a:p>
            <a:pPr>
              <a:lnSpc>
                <a:spcPct val="90000"/>
              </a:lnSpc>
            </a:pPr>
            <a:r>
              <a:rPr lang="zh-CN" altLang="en-US" sz="2800" dirty="0"/>
              <a:t> 数据字典通过对</a:t>
            </a:r>
            <a:r>
              <a:rPr lang="zh-CN" altLang="en-US" sz="2800" b="1" dirty="0">
                <a:solidFill>
                  <a:srgbClr val="0000FF"/>
                </a:solidFill>
              </a:rPr>
              <a:t>数据项和数据结构</a:t>
            </a:r>
            <a:r>
              <a:rPr lang="zh-CN" altLang="en-US" sz="2800" dirty="0"/>
              <a:t>的定义来描述</a:t>
            </a:r>
            <a:r>
              <a:rPr lang="zh-CN" altLang="en-US" sz="2800" b="1" dirty="0">
                <a:solidFill>
                  <a:srgbClr val="0000FF"/>
                </a:solidFill>
              </a:rPr>
              <a:t>数据流、数据存储</a:t>
            </a:r>
            <a:r>
              <a:rPr lang="zh-CN" altLang="en-US" sz="2800" dirty="0"/>
              <a:t>的逻辑内容。</a:t>
            </a:r>
          </a:p>
        </p:txBody>
      </p:sp>
      <p:sp>
        <p:nvSpPr>
          <p:cNvPr id="55298" name="Rectangle 2"/>
          <p:cNvSpPr>
            <a:spLocks noGrp="1"/>
          </p:cNvSpPr>
          <p:nvPr>
            <p:ph type="title"/>
          </p:nvPr>
        </p:nvSpPr>
        <p:spPr/>
        <p:txBody>
          <a:bodyPr vert="horz" wrap="square" lIns="91440" tIns="45720" rIns="91440" bIns="45720" anchor="b" anchorCtr="0"/>
          <a:lstStyle/>
          <a:p>
            <a:r>
              <a:rPr lang="zh-CN" altLang="en-US" dirty="0"/>
              <a:t>二、数据字典的内容</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p:cNvSpPr>
            <a:spLocks noGrp="1"/>
          </p:cNvSpPr>
          <p:nvPr>
            <p:ph idx="1"/>
          </p:nvPr>
        </p:nvSpPr>
        <p:spPr/>
        <p:txBody>
          <a:bodyPr vert="horz" wrap="square" lIns="91440" tIns="45720" rIns="91440" bIns="45720" anchor="t" anchorCtr="0"/>
          <a:lstStyle/>
          <a:p>
            <a:pPr>
              <a:lnSpc>
                <a:spcPct val="90000"/>
              </a:lnSpc>
            </a:pPr>
            <a:r>
              <a:rPr lang="zh-CN" altLang="en-US" dirty="0"/>
              <a:t>数据项是不可再分的数据单位</a:t>
            </a:r>
          </a:p>
          <a:p>
            <a:pPr>
              <a:lnSpc>
                <a:spcPct val="90000"/>
              </a:lnSpc>
              <a:spcBef>
                <a:spcPct val="60000"/>
              </a:spcBef>
            </a:pPr>
            <a:r>
              <a:rPr lang="zh-CN" altLang="en-US" dirty="0"/>
              <a:t> 对数据项的描述</a:t>
            </a:r>
            <a:endParaRPr lang="zh-CN" altLang="en-US" sz="3600" dirty="0"/>
          </a:p>
          <a:p>
            <a:pPr>
              <a:lnSpc>
                <a:spcPct val="80000"/>
              </a:lnSpc>
              <a:buNone/>
            </a:pPr>
            <a:r>
              <a:rPr lang="zh-CN" altLang="en-US" sz="2800" dirty="0"/>
              <a:t>	</a:t>
            </a:r>
            <a:r>
              <a:rPr lang="zh-CN" altLang="en-US" sz="2800" b="1" dirty="0">
                <a:solidFill>
                  <a:srgbClr val="FF0000"/>
                </a:solidFill>
              </a:rPr>
              <a:t>数据项描述＝｛数据项名，数据项含义说明，   </a:t>
            </a:r>
          </a:p>
          <a:p>
            <a:pPr>
              <a:lnSpc>
                <a:spcPct val="80000"/>
              </a:lnSpc>
              <a:buNone/>
            </a:pPr>
            <a:r>
              <a:rPr lang="zh-CN" altLang="en-US" sz="2800" b="1" dirty="0">
                <a:solidFill>
                  <a:srgbClr val="FF0000"/>
                </a:solidFill>
              </a:rPr>
              <a:t>    别名，数据类型，长度，取值范围，取值含义，与其他数据项的逻辑关系｝</a:t>
            </a:r>
          </a:p>
          <a:p>
            <a:pPr lvl="1" indent="-436245">
              <a:lnSpc>
                <a:spcPct val="90000"/>
              </a:lnSpc>
            </a:pPr>
            <a:r>
              <a:rPr lang="zh-CN" altLang="en-US" dirty="0"/>
              <a:t>取值范围、与其他数据项的逻辑关系定义了数据的完整性约束条件是设计数据检验功能的依据 </a:t>
            </a:r>
            <a:endParaRPr lang="en-US" altLang="zh-CN" dirty="0"/>
          </a:p>
          <a:p>
            <a:pPr lvl="1" indent="-436245">
              <a:lnSpc>
                <a:spcPct val="90000"/>
              </a:lnSpc>
            </a:pPr>
            <a:r>
              <a:rPr lang="zh-CN" altLang="en-US" dirty="0"/>
              <a:t>可以用关系规范化理论为指导，用数据依赖的概念分析和表示数据项之间的联系</a:t>
            </a:r>
          </a:p>
        </p:txBody>
      </p:sp>
      <p:sp>
        <p:nvSpPr>
          <p:cNvPr id="56322" name="Rectangle 2"/>
          <p:cNvSpPr>
            <a:spLocks noGrp="1"/>
          </p:cNvSpPr>
          <p:nvPr>
            <p:ph type="title"/>
          </p:nvPr>
        </p:nvSpPr>
        <p:spPr/>
        <p:txBody>
          <a:bodyPr vert="horz" wrap="square" lIns="91440" tIns="45720" rIns="91440" bIns="45720" anchor="b" anchorCtr="0"/>
          <a:lstStyle/>
          <a:p>
            <a:r>
              <a:rPr lang="en-US" altLang="zh-CN" dirty="0"/>
              <a:t>⒈ </a:t>
            </a:r>
            <a:r>
              <a:rPr lang="zh-CN" altLang="en-US" dirty="0"/>
              <a:t>数据项</a:t>
            </a: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3"/>
          <p:cNvSpPr>
            <a:spLocks noGrp="1"/>
          </p:cNvSpPr>
          <p:nvPr>
            <p:ph idx="1"/>
          </p:nvPr>
        </p:nvSpPr>
        <p:spPr>
          <a:xfrm>
            <a:off x="1118235" y="1285875"/>
            <a:ext cx="8964295" cy="4714875"/>
          </a:xfrm>
        </p:spPr>
        <p:txBody>
          <a:bodyPr vert="horz" wrap="square" lIns="91440" tIns="45720" rIns="91440" bIns="45720" anchor="t" anchorCtr="0"/>
          <a:lstStyle/>
          <a:p>
            <a:pPr>
              <a:lnSpc>
                <a:spcPct val="75000"/>
              </a:lnSpc>
              <a:buNone/>
            </a:pPr>
            <a:r>
              <a:rPr lang="zh-CN" altLang="en-US" sz="2800" dirty="0">
                <a:solidFill>
                  <a:srgbClr val="0066FF"/>
                </a:solidFill>
              </a:rPr>
              <a:t>数据项</a:t>
            </a:r>
            <a:r>
              <a:rPr lang="zh-CN" altLang="en-US" sz="2800" dirty="0"/>
              <a:t>，以</a:t>
            </a:r>
            <a:r>
              <a:rPr lang="zh-CN" altLang="en-US" sz="2800" dirty="0">
                <a:latin typeface="Times New Roman" panose="02020603050405020304" pitchFamily="18" charset="0"/>
              </a:rPr>
              <a:t>“</a:t>
            </a:r>
            <a:r>
              <a:rPr lang="zh-CN" altLang="en-US" sz="2800" dirty="0"/>
              <a:t>学号</a:t>
            </a:r>
            <a:r>
              <a:rPr lang="zh-CN" altLang="en-US" sz="2800" dirty="0">
                <a:latin typeface="Times New Roman" panose="02020603050405020304" pitchFamily="18" charset="0"/>
              </a:rPr>
              <a:t>”</a:t>
            </a:r>
            <a:r>
              <a:rPr lang="zh-CN" altLang="en-US" sz="2800" dirty="0"/>
              <a:t>为例：</a:t>
            </a:r>
          </a:p>
          <a:p>
            <a:pPr>
              <a:lnSpc>
                <a:spcPct val="75000"/>
              </a:lnSpc>
              <a:buNone/>
            </a:pPr>
            <a:r>
              <a:rPr lang="zh-CN" altLang="en-US" sz="2800" dirty="0"/>
              <a:t>    数据项：　学号</a:t>
            </a:r>
          </a:p>
          <a:p>
            <a:pPr>
              <a:lnSpc>
                <a:spcPct val="75000"/>
              </a:lnSpc>
              <a:buNone/>
            </a:pPr>
            <a:r>
              <a:rPr lang="zh-CN" altLang="en-US" sz="2800" dirty="0"/>
              <a:t>    含义说明：唯一标识每个学生</a:t>
            </a:r>
          </a:p>
          <a:p>
            <a:pPr>
              <a:lnSpc>
                <a:spcPct val="75000"/>
              </a:lnSpc>
              <a:buNone/>
            </a:pPr>
            <a:r>
              <a:rPr lang="zh-CN" altLang="en-US" sz="2800" dirty="0"/>
              <a:t>　别名：　　学生编号</a:t>
            </a:r>
          </a:p>
          <a:p>
            <a:pPr>
              <a:lnSpc>
                <a:spcPct val="75000"/>
              </a:lnSpc>
              <a:buNone/>
            </a:pPr>
            <a:r>
              <a:rPr lang="zh-CN" altLang="en-US" sz="2800" dirty="0"/>
              <a:t>    类型：　　字符型</a:t>
            </a:r>
          </a:p>
          <a:p>
            <a:pPr>
              <a:lnSpc>
                <a:spcPct val="75000"/>
              </a:lnSpc>
              <a:buNone/>
            </a:pPr>
            <a:r>
              <a:rPr lang="zh-CN" altLang="en-US" sz="2800" dirty="0"/>
              <a:t>    长度：　　 </a:t>
            </a:r>
            <a:r>
              <a:rPr lang="en-US" altLang="zh-CN" sz="2800" dirty="0"/>
              <a:t>8</a:t>
            </a:r>
          </a:p>
          <a:p>
            <a:pPr>
              <a:lnSpc>
                <a:spcPct val="75000"/>
              </a:lnSpc>
              <a:buNone/>
            </a:pPr>
            <a:r>
              <a:rPr lang="en-US" altLang="zh-CN" sz="2800" dirty="0"/>
              <a:t>    </a:t>
            </a:r>
            <a:r>
              <a:rPr lang="zh-CN" altLang="en-US" sz="2800" dirty="0"/>
              <a:t>取值范围：</a:t>
            </a:r>
            <a:r>
              <a:rPr lang="en-US" altLang="zh-CN" sz="2800" dirty="0"/>
              <a:t>00000000</a:t>
            </a:r>
            <a:r>
              <a:rPr lang="zh-CN" altLang="en-US" sz="2800" dirty="0"/>
              <a:t>至</a:t>
            </a:r>
            <a:r>
              <a:rPr lang="en-US" altLang="zh-CN" sz="2800" dirty="0"/>
              <a:t>99999999</a:t>
            </a:r>
          </a:p>
          <a:p>
            <a:pPr>
              <a:lnSpc>
                <a:spcPct val="75000"/>
              </a:lnSpc>
              <a:buNone/>
            </a:pPr>
            <a:r>
              <a:rPr lang="zh-CN" altLang="en-US" sz="2800" dirty="0"/>
              <a:t>　取值含义：前两位标别该学生所在年级，</a:t>
            </a:r>
          </a:p>
          <a:p>
            <a:pPr>
              <a:lnSpc>
                <a:spcPct val="75000"/>
              </a:lnSpc>
              <a:buNone/>
            </a:pPr>
            <a:r>
              <a:rPr lang="zh-CN" altLang="en-US" sz="2800" dirty="0"/>
              <a:t>                        后六位按顺序编号</a:t>
            </a:r>
          </a:p>
          <a:p>
            <a:pPr>
              <a:lnSpc>
                <a:spcPct val="75000"/>
              </a:lnSpc>
              <a:buNone/>
            </a:pPr>
            <a:r>
              <a:rPr lang="zh-CN" altLang="en-US" sz="2800" dirty="0"/>
              <a:t>　与其他数据项的逻辑关系：</a:t>
            </a:r>
          </a:p>
          <a:p>
            <a:pPr>
              <a:lnSpc>
                <a:spcPct val="80000"/>
              </a:lnSpc>
              <a:buNone/>
            </a:pPr>
            <a:endParaRPr lang="en-US" altLang="zh-CN" sz="2800" dirty="0"/>
          </a:p>
        </p:txBody>
      </p:sp>
      <p:sp>
        <p:nvSpPr>
          <p:cNvPr id="57346" name="Rectangle 2"/>
          <p:cNvSpPr>
            <a:spLocks noGrp="1"/>
          </p:cNvSpPr>
          <p:nvPr>
            <p:ph type="title"/>
          </p:nvPr>
        </p:nvSpPr>
        <p:spPr/>
        <p:txBody>
          <a:bodyPr vert="horz" wrap="square" lIns="91440" tIns="45720" rIns="91440" bIns="45720" anchor="b" anchorCtr="0"/>
          <a:lstStyle/>
          <a:p>
            <a:r>
              <a:rPr lang="zh-CN" altLang="en-US" dirty="0"/>
              <a:t>数据项举例</a:t>
            </a: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3"/>
          <p:cNvSpPr>
            <a:spLocks noGrp="1"/>
          </p:cNvSpPr>
          <p:nvPr>
            <p:ph idx="1"/>
          </p:nvPr>
        </p:nvSpPr>
        <p:spPr/>
        <p:txBody>
          <a:bodyPr vert="horz" wrap="square" lIns="91440" tIns="45720" rIns="91440" bIns="45720" anchor="t" anchorCtr="0"/>
          <a:lstStyle/>
          <a:p>
            <a:pPr>
              <a:spcBef>
                <a:spcPct val="60000"/>
              </a:spcBef>
            </a:pPr>
            <a:r>
              <a:rPr lang="zh-CN" altLang="en-US" sz="2800" dirty="0"/>
              <a:t>数据结构反映了数据之间的组合关系。</a:t>
            </a:r>
          </a:p>
          <a:p>
            <a:pPr>
              <a:spcBef>
                <a:spcPct val="60000"/>
              </a:spcBef>
            </a:pPr>
            <a:r>
              <a:rPr lang="zh-CN" altLang="en-US" sz="2800" dirty="0"/>
              <a:t> 一个数据结构可以由若干个数据项组成，也可以由若干个数据结构组成，或由若干个数据项和数据结构混合组成。</a:t>
            </a:r>
          </a:p>
          <a:p>
            <a:pPr>
              <a:spcBef>
                <a:spcPct val="60000"/>
              </a:spcBef>
            </a:pPr>
            <a:r>
              <a:rPr lang="zh-CN" altLang="en-US" sz="2800" dirty="0"/>
              <a:t> 对数据结构的描述</a:t>
            </a:r>
          </a:p>
          <a:p>
            <a:pPr>
              <a:lnSpc>
                <a:spcPct val="90000"/>
              </a:lnSpc>
              <a:buNone/>
            </a:pPr>
            <a:r>
              <a:rPr lang="zh-CN" altLang="en-US" sz="2800" dirty="0"/>
              <a:t>	</a:t>
            </a:r>
            <a:r>
              <a:rPr lang="zh-CN" altLang="en-US" sz="2800" dirty="0">
                <a:solidFill>
                  <a:srgbClr val="2355F3"/>
                </a:solidFill>
              </a:rPr>
              <a:t>数据结构描述＝｛数据结构名，含义说明，</a:t>
            </a:r>
          </a:p>
          <a:p>
            <a:pPr>
              <a:lnSpc>
                <a:spcPct val="90000"/>
              </a:lnSpc>
              <a:buNone/>
            </a:pPr>
            <a:r>
              <a:rPr lang="zh-CN" altLang="en-US" sz="2800" dirty="0">
                <a:solidFill>
                  <a:srgbClr val="2355F3"/>
                </a:solidFill>
              </a:rPr>
              <a:t>      组成</a:t>
            </a:r>
            <a:r>
              <a:rPr lang="en-US" altLang="zh-CN" sz="2800" dirty="0">
                <a:solidFill>
                  <a:srgbClr val="2355F3"/>
                </a:solidFill>
              </a:rPr>
              <a:t>:</a:t>
            </a:r>
            <a:r>
              <a:rPr lang="zh-CN" altLang="en-US" sz="2800" dirty="0">
                <a:solidFill>
                  <a:srgbClr val="2355F3"/>
                </a:solidFill>
              </a:rPr>
              <a:t>｛数据项或数据结构｝｝</a:t>
            </a:r>
          </a:p>
        </p:txBody>
      </p:sp>
      <p:sp>
        <p:nvSpPr>
          <p:cNvPr id="58370" name="Rectangle 2"/>
          <p:cNvSpPr>
            <a:spLocks noGrp="1"/>
          </p:cNvSpPr>
          <p:nvPr>
            <p:ph type="title"/>
          </p:nvPr>
        </p:nvSpPr>
        <p:spPr/>
        <p:txBody>
          <a:bodyPr vert="horz" wrap="square" lIns="91440" tIns="45720" rIns="91440" bIns="45720" anchor="b" anchorCtr="0"/>
          <a:lstStyle/>
          <a:p>
            <a:r>
              <a:rPr lang="en-US" altLang="zh-CN" dirty="0"/>
              <a:t>⒉ </a:t>
            </a:r>
            <a:r>
              <a:rPr lang="zh-CN" altLang="en-US" dirty="0"/>
              <a:t>数据结构</a:t>
            </a: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3"/>
          <p:cNvSpPr>
            <a:spLocks noGrp="1"/>
          </p:cNvSpPr>
          <p:nvPr>
            <p:ph idx="1"/>
          </p:nvPr>
        </p:nvSpPr>
        <p:spPr>
          <a:xfrm>
            <a:off x="793750" y="1428750"/>
            <a:ext cx="9540875" cy="4114800"/>
          </a:xfrm>
        </p:spPr>
        <p:txBody>
          <a:bodyPr vert="horz" wrap="square" lIns="91440" tIns="45720" rIns="91440" bIns="45720" anchor="t" anchorCtr="0"/>
          <a:lstStyle/>
          <a:p>
            <a:pPr>
              <a:lnSpc>
                <a:spcPct val="90000"/>
              </a:lnSpc>
              <a:buNone/>
            </a:pPr>
            <a:r>
              <a:rPr lang="zh-CN" altLang="en-US" sz="2800" dirty="0">
                <a:solidFill>
                  <a:srgbClr val="0066FF"/>
                </a:solidFill>
              </a:rPr>
              <a:t>数据结构     </a:t>
            </a:r>
            <a:r>
              <a:rPr lang="zh-CN" altLang="en-US" sz="2800" dirty="0"/>
              <a:t>以</a:t>
            </a:r>
            <a:r>
              <a:rPr lang="zh-CN" altLang="en-US" sz="2800" dirty="0">
                <a:latin typeface="Times New Roman" panose="02020603050405020304" pitchFamily="18" charset="0"/>
              </a:rPr>
              <a:t>“</a:t>
            </a:r>
            <a:r>
              <a:rPr lang="zh-CN" altLang="en-US" sz="2800" dirty="0"/>
              <a:t>学生</a:t>
            </a:r>
            <a:r>
              <a:rPr lang="zh-CN" altLang="en-US" sz="2800" dirty="0">
                <a:latin typeface="Times New Roman" panose="02020603050405020304" pitchFamily="18" charset="0"/>
              </a:rPr>
              <a:t>”</a:t>
            </a:r>
            <a:r>
              <a:rPr lang="zh-CN" altLang="en-US" sz="2800" dirty="0"/>
              <a:t>为例</a:t>
            </a:r>
          </a:p>
          <a:p>
            <a:pPr>
              <a:lnSpc>
                <a:spcPct val="90000"/>
              </a:lnSpc>
              <a:buNone/>
            </a:pPr>
            <a:r>
              <a:rPr lang="zh-CN" altLang="en-US" sz="2800" dirty="0"/>
              <a:t> 	</a:t>
            </a:r>
            <a:r>
              <a:rPr lang="zh-CN" altLang="en-US" sz="2800" dirty="0">
                <a:latin typeface="Times New Roman" panose="02020603050405020304" pitchFamily="18" charset="0"/>
              </a:rPr>
              <a:t>“</a:t>
            </a:r>
            <a:r>
              <a:rPr lang="zh-CN" altLang="en-US" sz="2800" dirty="0"/>
              <a:t>学生</a:t>
            </a:r>
            <a:r>
              <a:rPr lang="zh-CN" altLang="en-US" sz="2800" dirty="0">
                <a:latin typeface="Times New Roman" panose="02020603050405020304" pitchFamily="18" charset="0"/>
              </a:rPr>
              <a:t>”</a:t>
            </a:r>
            <a:r>
              <a:rPr lang="zh-CN" altLang="en-US" sz="2800" dirty="0"/>
              <a:t>是该系统中的一个核心数据结构：</a:t>
            </a:r>
          </a:p>
          <a:p>
            <a:pPr>
              <a:lnSpc>
                <a:spcPct val="90000"/>
              </a:lnSpc>
              <a:buNone/>
            </a:pPr>
            <a:r>
              <a:rPr lang="zh-CN" altLang="en-US" sz="2800" dirty="0"/>
              <a:t>    数据结构：　学生</a:t>
            </a:r>
          </a:p>
          <a:p>
            <a:pPr>
              <a:lnSpc>
                <a:spcPct val="80000"/>
              </a:lnSpc>
              <a:buNone/>
            </a:pPr>
            <a:r>
              <a:rPr lang="zh-CN" altLang="en-US" sz="2800" dirty="0"/>
              <a:t>    含义说明：　是学籍管理子系统的主体数据结构，定义了一个学生的有关信息</a:t>
            </a:r>
          </a:p>
          <a:p>
            <a:pPr>
              <a:lnSpc>
                <a:spcPct val="90000"/>
              </a:lnSpc>
              <a:buNone/>
            </a:pPr>
            <a:r>
              <a:rPr lang="zh-CN" altLang="en-US" sz="2800" dirty="0"/>
              <a:t>    组成：学号，姓名，性别，年龄，所在系，年级</a:t>
            </a:r>
          </a:p>
          <a:p>
            <a:pPr>
              <a:lnSpc>
                <a:spcPct val="90000"/>
              </a:lnSpc>
              <a:buNone/>
            </a:pPr>
            <a:r>
              <a:rPr lang="zh-CN" altLang="en-US" sz="2800" dirty="0"/>
              <a:t>　　</a:t>
            </a:r>
          </a:p>
        </p:txBody>
      </p:sp>
      <p:sp>
        <p:nvSpPr>
          <p:cNvPr id="59394" name="Rectangle 2"/>
          <p:cNvSpPr>
            <a:spLocks noGrp="1"/>
          </p:cNvSpPr>
          <p:nvPr>
            <p:ph type="title"/>
          </p:nvPr>
        </p:nvSpPr>
        <p:spPr/>
        <p:txBody>
          <a:bodyPr vert="horz" wrap="square" lIns="91440" tIns="45720" rIns="91440" bIns="45720" anchor="b" anchorCtr="0"/>
          <a:lstStyle/>
          <a:p>
            <a:r>
              <a:rPr lang="zh-CN" altLang="en-US" dirty="0"/>
              <a:t>数据结构举例</a:t>
            </a: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3"/>
          <p:cNvSpPr>
            <a:spLocks noGrp="1"/>
          </p:cNvSpPr>
          <p:nvPr>
            <p:ph idx="1"/>
          </p:nvPr>
        </p:nvSpPr>
        <p:spPr>
          <a:xfrm>
            <a:off x="762635" y="1214755"/>
            <a:ext cx="9662795" cy="5000625"/>
          </a:xfrm>
        </p:spPr>
        <p:txBody>
          <a:bodyPr vert="horz" wrap="square" lIns="91440" tIns="45720" rIns="91440" bIns="45720" anchor="t" anchorCtr="0"/>
          <a:lstStyle/>
          <a:p>
            <a:pPr>
              <a:lnSpc>
                <a:spcPct val="90000"/>
              </a:lnSpc>
            </a:pPr>
            <a:r>
              <a:rPr lang="en-US" altLang="zh-CN" sz="2800" dirty="0"/>
              <a:t> </a:t>
            </a:r>
            <a:r>
              <a:rPr lang="zh-CN" altLang="en-US" sz="2800" dirty="0"/>
              <a:t>数据流是数据结构在系统内传输的路径。</a:t>
            </a:r>
            <a:r>
              <a:rPr lang="zh-CN" altLang="en-US" sz="2800" b="1" dirty="0">
                <a:solidFill>
                  <a:srgbClr val="FF0000"/>
                </a:solidFill>
              </a:rPr>
              <a:t>数据流图中流线的说明。</a:t>
            </a:r>
          </a:p>
          <a:p>
            <a:pPr>
              <a:lnSpc>
                <a:spcPct val="90000"/>
              </a:lnSpc>
              <a:spcBef>
                <a:spcPct val="60000"/>
              </a:spcBef>
            </a:pPr>
            <a:r>
              <a:rPr lang="zh-CN" altLang="en-US" sz="2800" dirty="0"/>
              <a:t> 对数据流的描述</a:t>
            </a:r>
          </a:p>
          <a:p>
            <a:pPr>
              <a:lnSpc>
                <a:spcPct val="80000"/>
              </a:lnSpc>
              <a:buNone/>
            </a:pPr>
            <a:r>
              <a:rPr lang="zh-CN" altLang="en-US" sz="2800" dirty="0"/>
              <a:t>　</a:t>
            </a:r>
            <a:r>
              <a:rPr lang="zh-CN" altLang="en-US" sz="2800" dirty="0">
                <a:solidFill>
                  <a:srgbClr val="2355F3"/>
                </a:solidFill>
              </a:rPr>
              <a:t>数据流描述＝｛数据流名，说明，数据流来源，数据流去向，组成</a:t>
            </a:r>
            <a:r>
              <a:rPr lang="en-US" altLang="zh-CN" sz="2800" dirty="0">
                <a:solidFill>
                  <a:srgbClr val="2355F3"/>
                </a:solidFill>
              </a:rPr>
              <a:t>:</a:t>
            </a:r>
            <a:r>
              <a:rPr lang="zh-CN" altLang="en-US" sz="2800" dirty="0">
                <a:solidFill>
                  <a:srgbClr val="2355F3"/>
                </a:solidFill>
              </a:rPr>
              <a:t>｛数据结构｝，平均流量，高峰期流量｝</a:t>
            </a:r>
          </a:p>
          <a:p>
            <a:pPr lvl="1" indent="-436245">
              <a:lnSpc>
                <a:spcPct val="90000"/>
              </a:lnSpc>
            </a:pPr>
            <a:r>
              <a:rPr lang="zh-CN" altLang="en-US" dirty="0"/>
              <a:t>数据流</a:t>
            </a:r>
            <a:r>
              <a:rPr lang="zh-CN" altLang="en-US" dirty="0">
                <a:solidFill>
                  <a:srgbClr val="FF0000"/>
                </a:solidFill>
              </a:rPr>
              <a:t>来源</a:t>
            </a:r>
            <a:r>
              <a:rPr lang="zh-CN" altLang="en-US" dirty="0"/>
              <a:t>是说明该数据流来自哪个过程</a:t>
            </a:r>
          </a:p>
          <a:p>
            <a:pPr lvl="1" indent="-436245">
              <a:lnSpc>
                <a:spcPct val="90000"/>
              </a:lnSpc>
            </a:pPr>
            <a:r>
              <a:rPr lang="zh-CN" altLang="en-US" dirty="0"/>
              <a:t>数据流</a:t>
            </a:r>
            <a:r>
              <a:rPr lang="zh-CN" altLang="en-US" dirty="0">
                <a:solidFill>
                  <a:srgbClr val="FF0000"/>
                </a:solidFill>
              </a:rPr>
              <a:t>去向</a:t>
            </a:r>
            <a:r>
              <a:rPr lang="zh-CN" altLang="en-US" dirty="0"/>
              <a:t>是说明该数据流将到哪个过程去</a:t>
            </a:r>
          </a:p>
          <a:p>
            <a:pPr lvl="1" indent="-436245">
              <a:lnSpc>
                <a:spcPct val="90000"/>
              </a:lnSpc>
            </a:pPr>
            <a:r>
              <a:rPr lang="zh-CN" altLang="en-US" dirty="0">
                <a:solidFill>
                  <a:srgbClr val="FF0000"/>
                </a:solidFill>
              </a:rPr>
              <a:t>平均流量</a:t>
            </a:r>
            <a:r>
              <a:rPr lang="zh-CN" altLang="en-US" dirty="0"/>
              <a:t>是指在单位时间（每天、每周、每月等）里的传输次数</a:t>
            </a:r>
          </a:p>
          <a:p>
            <a:pPr lvl="1" indent="-436245">
              <a:lnSpc>
                <a:spcPct val="90000"/>
              </a:lnSpc>
            </a:pPr>
            <a:r>
              <a:rPr lang="zh-CN" altLang="en-US" dirty="0">
                <a:solidFill>
                  <a:srgbClr val="FF0000"/>
                </a:solidFill>
              </a:rPr>
              <a:t>高峰期流量</a:t>
            </a:r>
            <a:r>
              <a:rPr lang="zh-CN" altLang="en-US" dirty="0"/>
              <a:t>则是指在高峰时期的数据流量</a:t>
            </a:r>
            <a:endParaRPr lang="zh-CN" altLang="en-US" sz="2400" dirty="0"/>
          </a:p>
        </p:txBody>
      </p:sp>
      <p:sp>
        <p:nvSpPr>
          <p:cNvPr id="60418" name="Rectangle 2"/>
          <p:cNvSpPr>
            <a:spLocks noGrp="1"/>
          </p:cNvSpPr>
          <p:nvPr>
            <p:ph type="title"/>
          </p:nvPr>
        </p:nvSpPr>
        <p:spPr/>
        <p:txBody>
          <a:bodyPr vert="horz" wrap="square" lIns="91440" tIns="45720" rIns="91440" bIns="45720" anchor="b" anchorCtr="0"/>
          <a:lstStyle/>
          <a:p>
            <a:r>
              <a:rPr lang="en-US" altLang="zh-CN" dirty="0"/>
              <a:t>⒊ </a:t>
            </a:r>
            <a:r>
              <a:rPr lang="zh-CN" altLang="en-US" dirty="0"/>
              <a:t>数据流</a:t>
            </a: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3"/>
          <p:cNvSpPr>
            <a:spLocks noGrp="1"/>
          </p:cNvSpPr>
          <p:nvPr>
            <p:ph idx="1"/>
          </p:nvPr>
        </p:nvSpPr>
        <p:spPr/>
        <p:txBody>
          <a:bodyPr vert="horz" wrap="square" lIns="91440" tIns="45720" rIns="91440" bIns="45720" anchor="t" anchorCtr="0"/>
          <a:lstStyle/>
          <a:p>
            <a:pPr>
              <a:buNone/>
            </a:pPr>
            <a:r>
              <a:rPr lang="zh-CN" altLang="en-US" sz="2800" dirty="0"/>
              <a:t>登记注册 </a:t>
            </a:r>
            <a:endParaRPr lang="en-US" altLang="zh-CN" sz="2800" dirty="0"/>
          </a:p>
          <a:p>
            <a:pPr>
              <a:buNone/>
            </a:pPr>
            <a:r>
              <a:rPr lang="zh-CN" altLang="en-US" sz="2800" dirty="0"/>
              <a:t>名 称： 登记注册 </a:t>
            </a:r>
            <a:endParaRPr lang="en-US" altLang="zh-CN" sz="2800" dirty="0"/>
          </a:p>
          <a:p>
            <a:pPr>
              <a:buNone/>
            </a:pPr>
            <a:r>
              <a:rPr lang="zh-CN" altLang="en-US" sz="2800" dirty="0"/>
              <a:t>简 述： 管理员登记入住客户信息 </a:t>
            </a:r>
            <a:endParaRPr lang="en-US" altLang="zh-CN" sz="2800" dirty="0"/>
          </a:p>
          <a:p>
            <a:pPr>
              <a:buNone/>
            </a:pPr>
            <a:r>
              <a:rPr lang="zh-CN" altLang="en-US" sz="2800" dirty="0"/>
              <a:t>数据来源： 入住客户 </a:t>
            </a:r>
            <a:endParaRPr lang="en-US" altLang="zh-CN" sz="2800" dirty="0"/>
          </a:p>
          <a:p>
            <a:pPr>
              <a:buNone/>
            </a:pPr>
            <a:r>
              <a:rPr lang="zh-CN" altLang="en-US" sz="2800" dirty="0"/>
              <a:t>数据去向： 开房登记表 数据组成： 客户姓名</a:t>
            </a:r>
            <a:r>
              <a:rPr lang="en-US" altLang="zh-CN" sz="2800" dirty="0"/>
              <a:t>+</a:t>
            </a:r>
            <a:r>
              <a:rPr lang="zh-CN" altLang="en-US" sz="2800" dirty="0"/>
              <a:t>性别</a:t>
            </a:r>
            <a:r>
              <a:rPr lang="en-US" altLang="zh-CN" sz="2800" dirty="0"/>
              <a:t>+</a:t>
            </a:r>
            <a:r>
              <a:rPr lang="zh-CN" altLang="en-US" sz="2800" dirty="0"/>
              <a:t>年龄</a:t>
            </a:r>
            <a:r>
              <a:rPr lang="en-US" altLang="zh-CN" sz="2800" dirty="0"/>
              <a:t>+</a:t>
            </a:r>
            <a:r>
              <a:rPr lang="zh-CN" altLang="en-US" sz="2800" dirty="0"/>
              <a:t>房号</a:t>
            </a:r>
            <a:r>
              <a:rPr lang="en-US" altLang="zh-CN" sz="2800" dirty="0"/>
              <a:t>+</a:t>
            </a:r>
            <a:r>
              <a:rPr lang="zh-CN" altLang="en-US" sz="2800" dirty="0"/>
              <a:t>订餐密码</a:t>
            </a:r>
            <a:r>
              <a:rPr lang="en-US" altLang="zh-CN" sz="2800" dirty="0"/>
              <a:t>+</a:t>
            </a:r>
            <a:r>
              <a:rPr lang="zh-CN" altLang="en-US" sz="2800" dirty="0"/>
              <a:t>证件类型</a:t>
            </a:r>
            <a:r>
              <a:rPr lang="en-US" altLang="zh-CN" sz="2800" dirty="0"/>
              <a:t>+</a:t>
            </a:r>
            <a:r>
              <a:rPr lang="zh-CN" altLang="en-US" sz="2800" dirty="0"/>
              <a:t>证件号码</a:t>
            </a:r>
            <a:r>
              <a:rPr lang="en-US" altLang="zh-CN" sz="2800" dirty="0"/>
              <a:t>+</a:t>
            </a:r>
            <a:r>
              <a:rPr lang="zh-CN" altLang="en-US" sz="2800" dirty="0"/>
              <a:t>详细地址</a:t>
            </a:r>
            <a:r>
              <a:rPr lang="en-US" altLang="zh-CN" sz="2800" dirty="0"/>
              <a:t>+</a:t>
            </a:r>
            <a:r>
              <a:rPr lang="zh-CN" altLang="en-US" sz="2800" dirty="0"/>
              <a:t>电话</a:t>
            </a:r>
            <a:r>
              <a:rPr lang="en-US" altLang="zh-CN" sz="2800" dirty="0"/>
              <a:t>+</a:t>
            </a:r>
            <a:r>
              <a:rPr lang="zh-CN" altLang="en-US" sz="2800" dirty="0"/>
              <a:t>入住时间</a:t>
            </a:r>
            <a:r>
              <a:rPr lang="en-US" altLang="zh-CN" sz="2800" dirty="0"/>
              <a:t>+</a:t>
            </a:r>
            <a:r>
              <a:rPr lang="zh-CN" altLang="en-US" sz="2800" dirty="0"/>
              <a:t>入住天数</a:t>
            </a:r>
            <a:r>
              <a:rPr lang="en-US" altLang="zh-CN" sz="2800" dirty="0"/>
              <a:t>+</a:t>
            </a:r>
            <a:r>
              <a:rPr lang="zh-CN" altLang="en-US" sz="2800" dirty="0"/>
              <a:t>离店时间</a:t>
            </a:r>
            <a:endParaRPr lang="en-US" altLang="zh-CN" sz="2800" dirty="0"/>
          </a:p>
        </p:txBody>
      </p:sp>
      <p:sp>
        <p:nvSpPr>
          <p:cNvPr id="61442" name="Rectangle 2"/>
          <p:cNvSpPr>
            <a:spLocks noGrp="1"/>
          </p:cNvSpPr>
          <p:nvPr>
            <p:ph type="title"/>
          </p:nvPr>
        </p:nvSpPr>
        <p:spPr/>
        <p:txBody>
          <a:bodyPr vert="horz" wrap="square" lIns="91440" tIns="45720" rIns="91440" bIns="45720" anchor="b" anchorCtr="0"/>
          <a:lstStyle/>
          <a:p>
            <a:r>
              <a:rPr lang="zh-CN" altLang="en-US" dirty="0"/>
              <a:t>数据流举例</a:t>
            </a:r>
            <a:r>
              <a:rPr lang="en-US" altLang="zh-CN" dirty="0"/>
              <a:t>1</a:t>
            </a:r>
            <a:endParaRPr lang="zh-CN" altLang="en-US" dirty="0"/>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
          <p:cNvSpPr>
            <a:spLocks noGrp="1"/>
          </p:cNvSpPr>
          <p:nvPr>
            <p:ph type="title"/>
          </p:nvPr>
        </p:nvSpPr>
        <p:spPr/>
        <p:txBody>
          <a:bodyPr vert="horz" wrap="square" lIns="91440" tIns="45720" rIns="91440" bIns="45720" anchor="b" anchorCtr="0"/>
          <a:lstStyle/>
          <a:p>
            <a:r>
              <a:rPr lang="zh-CN" altLang="en-US" dirty="0"/>
              <a:t>数据流举例</a:t>
            </a:r>
            <a:r>
              <a:rPr lang="en-US" altLang="zh-CN" dirty="0"/>
              <a:t>2</a:t>
            </a:r>
            <a:endParaRPr lang="zh-CN" altLang="en-US" dirty="0"/>
          </a:p>
        </p:txBody>
      </p:sp>
      <p:sp>
        <p:nvSpPr>
          <p:cNvPr id="62466" name="内容占位符 2"/>
          <p:cNvSpPr>
            <a:spLocks noGrp="1"/>
          </p:cNvSpPr>
          <p:nvPr>
            <p:ph idx="1"/>
          </p:nvPr>
        </p:nvSpPr>
        <p:spPr/>
        <p:txBody>
          <a:bodyPr vert="horz" wrap="square" lIns="91440" tIns="45720" rIns="91440" bIns="45720" anchor="t" anchorCtr="0"/>
          <a:lstStyle/>
          <a:p>
            <a:r>
              <a:rPr lang="zh-CN" altLang="en-US" sz="3200" dirty="0"/>
              <a:t>浏览选购 </a:t>
            </a:r>
            <a:endParaRPr lang="en-US" altLang="zh-CN" sz="3200" dirty="0"/>
          </a:p>
          <a:p>
            <a:r>
              <a:rPr lang="zh-CN" altLang="en-US" sz="3200" dirty="0"/>
              <a:t>名 称： 浏览选购 简 述： </a:t>
            </a:r>
            <a:endParaRPr lang="en-US" altLang="zh-CN" sz="3200" dirty="0"/>
          </a:p>
          <a:p>
            <a:r>
              <a:rPr lang="zh-CN" altLang="en-US" sz="3200" dirty="0"/>
              <a:t>客户选购菜品并将其加入餐车 </a:t>
            </a:r>
            <a:endParaRPr lang="en-US" altLang="zh-CN" sz="3200" dirty="0"/>
          </a:p>
          <a:p>
            <a:r>
              <a:rPr lang="zh-CN" altLang="en-US" sz="3200" dirty="0"/>
              <a:t>数据来源： 客户根据菜单选购的餐品 </a:t>
            </a:r>
            <a:endParaRPr lang="en-US" altLang="zh-CN" sz="3200" dirty="0"/>
          </a:p>
          <a:p>
            <a:r>
              <a:rPr lang="zh-CN" altLang="en-US" sz="3200" dirty="0"/>
              <a:t>数据去向： 放入餐车 </a:t>
            </a:r>
            <a:endParaRPr lang="en-US" altLang="zh-CN" sz="3200" dirty="0"/>
          </a:p>
          <a:p>
            <a:r>
              <a:rPr lang="zh-CN" altLang="en-US" sz="3200" dirty="0"/>
              <a:t>数据组成： 菜名</a:t>
            </a:r>
            <a:r>
              <a:rPr lang="en-US" altLang="zh-CN" sz="3200" dirty="0"/>
              <a:t>+</a:t>
            </a:r>
            <a:r>
              <a:rPr lang="zh-CN" altLang="en-US" sz="3200" dirty="0"/>
              <a:t>价格</a:t>
            </a:r>
            <a:r>
              <a:rPr lang="en-US" altLang="zh-CN" sz="3200" dirty="0"/>
              <a:t>+</a:t>
            </a:r>
            <a:r>
              <a:rPr lang="zh-CN" altLang="en-US" sz="3200" dirty="0"/>
              <a:t>数量</a:t>
            </a:r>
            <a:endParaRPr lang="zh-CN" altLang="en-US" dirty="0"/>
          </a:p>
        </p:txBody>
      </p:sp>
    </p:spTree>
  </p:cSld>
  <p:clrMapOvr>
    <a:masterClrMapping/>
  </p:clrMapOvr>
  <p:transition advClick="0"/>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3"/>
          <p:cNvSpPr>
            <a:spLocks noGrp="1"/>
          </p:cNvSpPr>
          <p:nvPr>
            <p:ph idx="1"/>
          </p:nvPr>
        </p:nvSpPr>
        <p:spPr>
          <a:xfrm>
            <a:off x="697865" y="1285875"/>
            <a:ext cx="9762490" cy="4929505"/>
          </a:xfrm>
        </p:spPr>
        <p:txBody>
          <a:bodyPr vert="horz" wrap="square" lIns="91440" tIns="45720" rIns="91440" bIns="45720" anchor="t" anchorCtr="0"/>
          <a:lstStyle/>
          <a:p>
            <a:pPr>
              <a:lnSpc>
                <a:spcPct val="90000"/>
              </a:lnSpc>
            </a:pPr>
            <a:r>
              <a:rPr lang="zh-CN" altLang="en-US" sz="2800" dirty="0"/>
              <a:t>数据存储是数据结构停留或保存的地方，也是数据流的来源和去向之一。</a:t>
            </a:r>
          </a:p>
          <a:p>
            <a:pPr>
              <a:lnSpc>
                <a:spcPct val="90000"/>
              </a:lnSpc>
            </a:pPr>
            <a:r>
              <a:rPr lang="zh-CN" altLang="en-US" sz="2800" dirty="0"/>
              <a:t>对数据存储的描述</a:t>
            </a:r>
          </a:p>
          <a:p>
            <a:pPr>
              <a:lnSpc>
                <a:spcPct val="80000"/>
              </a:lnSpc>
              <a:buNone/>
            </a:pPr>
            <a:r>
              <a:rPr lang="zh-CN" altLang="en-US" sz="2800" dirty="0"/>
              <a:t>　</a:t>
            </a:r>
            <a:r>
              <a:rPr lang="zh-CN" altLang="en-US" dirty="0">
                <a:solidFill>
                  <a:srgbClr val="2355F3"/>
                </a:solidFill>
              </a:rPr>
              <a:t>数据存储描述＝｛数据存储名，说明，编号，</a:t>
            </a:r>
          </a:p>
          <a:p>
            <a:pPr>
              <a:lnSpc>
                <a:spcPct val="80000"/>
              </a:lnSpc>
              <a:buNone/>
            </a:pPr>
            <a:r>
              <a:rPr lang="zh-CN" altLang="en-US" dirty="0">
                <a:solidFill>
                  <a:srgbClr val="2355F3"/>
                </a:solidFill>
              </a:rPr>
              <a:t>流入的数据流 ，流出的数据流 ，</a:t>
            </a:r>
          </a:p>
          <a:p>
            <a:pPr>
              <a:lnSpc>
                <a:spcPct val="80000"/>
              </a:lnSpc>
              <a:buNone/>
            </a:pPr>
            <a:r>
              <a:rPr lang="zh-CN" altLang="en-US" dirty="0">
                <a:solidFill>
                  <a:srgbClr val="2355F3"/>
                </a:solidFill>
              </a:rPr>
              <a:t>组成</a:t>
            </a:r>
            <a:r>
              <a:rPr lang="en-US" altLang="zh-CN" dirty="0">
                <a:solidFill>
                  <a:srgbClr val="2355F3"/>
                </a:solidFill>
              </a:rPr>
              <a:t>:</a:t>
            </a:r>
            <a:r>
              <a:rPr lang="zh-CN" altLang="en-US" dirty="0">
                <a:solidFill>
                  <a:srgbClr val="2355F3"/>
                </a:solidFill>
              </a:rPr>
              <a:t>｛数据结构｝，数据量，存取方式｝</a:t>
            </a:r>
            <a:endParaRPr lang="zh-CN" altLang="en-US" dirty="0"/>
          </a:p>
          <a:p>
            <a:pPr lvl="1" indent="-436245">
              <a:lnSpc>
                <a:spcPct val="90000"/>
              </a:lnSpc>
            </a:pPr>
            <a:r>
              <a:rPr lang="zh-CN" altLang="en-US" sz="2400" dirty="0"/>
              <a:t>流入的数据流：指出数据来源</a:t>
            </a:r>
          </a:p>
          <a:p>
            <a:pPr lvl="1" indent="-436245">
              <a:lnSpc>
                <a:spcPct val="90000"/>
              </a:lnSpc>
            </a:pPr>
            <a:r>
              <a:rPr lang="zh-CN" altLang="en-US" sz="2400" dirty="0"/>
              <a:t>流出的数据流：指出数据去向</a:t>
            </a:r>
          </a:p>
          <a:p>
            <a:pPr lvl="1" indent="-436245">
              <a:lnSpc>
                <a:spcPct val="90000"/>
              </a:lnSpc>
            </a:pPr>
            <a:r>
              <a:rPr lang="zh-CN" altLang="en-US" sz="2400" dirty="0"/>
              <a:t>数据量：每次存取多少数据，每天（或每小时、每周等）存取几次等信息</a:t>
            </a:r>
          </a:p>
        </p:txBody>
      </p:sp>
      <p:sp>
        <p:nvSpPr>
          <p:cNvPr id="63490" name="Rectangle 2"/>
          <p:cNvSpPr>
            <a:spLocks noGrp="1"/>
          </p:cNvSpPr>
          <p:nvPr>
            <p:ph type="title"/>
          </p:nvPr>
        </p:nvSpPr>
        <p:spPr/>
        <p:txBody>
          <a:bodyPr vert="horz" wrap="square" lIns="91440" tIns="45720" rIns="91440" bIns="45720" anchor="b" anchorCtr="0"/>
          <a:lstStyle/>
          <a:p>
            <a:r>
              <a:rPr lang="en-US" altLang="zh-CN" dirty="0"/>
              <a:t>⒋ </a:t>
            </a:r>
            <a:r>
              <a:rPr lang="zh-CN" altLang="en-US" dirty="0"/>
              <a:t>数据存储</a:t>
            </a: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3"/>
          <p:cNvSpPr>
            <a:spLocks noGrp="1"/>
          </p:cNvSpPr>
          <p:nvPr>
            <p:ph idx="1"/>
          </p:nvPr>
        </p:nvSpPr>
        <p:spPr/>
        <p:txBody>
          <a:bodyPr vert="horz" wrap="square" lIns="91440" tIns="45720" rIns="91440" bIns="45720" anchor="t" anchorCtr="0"/>
          <a:lstStyle/>
          <a:p>
            <a:pPr>
              <a:lnSpc>
                <a:spcPct val="90000"/>
              </a:lnSpc>
              <a:buNone/>
            </a:pPr>
            <a:r>
              <a:rPr lang="zh-CN" altLang="en-US" sz="2800" dirty="0">
                <a:solidFill>
                  <a:srgbClr val="0066FF"/>
                </a:solidFill>
              </a:rPr>
              <a:t>数据存储</a:t>
            </a:r>
            <a:r>
              <a:rPr lang="zh-CN" altLang="en-US" sz="2800" dirty="0">
                <a:latin typeface="Times New Roman" panose="02020603050405020304" pitchFamily="18" charset="0"/>
              </a:rPr>
              <a:t>“</a:t>
            </a:r>
            <a:r>
              <a:rPr lang="zh-CN" altLang="en-US" sz="2800" dirty="0"/>
              <a:t>学生登记表</a:t>
            </a:r>
            <a:r>
              <a:rPr lang="zh-CN" altLang="en-US" sz="2800" dirty="0">
                <a:latin typeface="Times New Roman" panose="02020603050405020304" pitchFamily="18" charset="0"/>
              </a:rPr>
              <a:t>”</a:t>
            </a:r>
            <a:r>
              <a:rPr lang="zh-CN" altLang="en-US" sz="2800" dirty="0"/>
              <a:t>可如下描述：</a:t>
            </a:r>
          </a:p>
          <a:p>
            <a:pPr>
              <a:lnSpc>
                <a:spcPct val="90000"/>
              </a:lnSpc>
              <a:buNone/>
            </a:pPr>
            <a:r>
              <a:rPr lang="zh-CN" altLang="en-US" sz="2800" dirty="0"/>
              <a:t>    数据存储：　学生登记表</a:t>
            </a:r>
          </a:p>
          <a:p>
            <a:pPr>
              <a:lnSpc>
                <a:spcPct val="90000"/>
              </a:lnSpc>
              <a:buNone/>
            </a:pPr>
            <a:r>
              <a:rPr lang="zh-CN" altLang="en-US" sz="2800" dirty="0"/>
              <a:t>    说明：　　　记录学生的基本情况</a:t>
            </a:r>
          </a:p>
          <a:p>
            <a:pPr>
              <a:lnSpc>
                <a:spcPct val="90000"/>
              </a:lnSpc>
              <a:buNone/>
            </a:pPr>
            <a:r>
              <a:rPr lang="zh-CN" altLang="en-US" sz="2800" dirty="0"/>
              <a:t>　流入数据流：</a:t>
            </a:r>
            <a:r>
              <a:rPr lang="en-US" altLang="zh-CN" sz="2800" dirty="0">
                <a:latin typeface="Times New Roman" panose="02020603050405020304" pitchFamily="18" charset="0"/>
              </a:rPr>
              <a:t>……</a:t>
            </a:r>
            <a:endParaRPr lang="en-US" altLang="zh-CN" sz="2800" dirty="0"/>
          </a:p>
          <a:p>
            <a:pPr>
              <a:lnSpc>
                <a:spcPct val="90000"/>
              </a:lnSpc>
              <a:buNone/>
            </a:pPr>
            <a:r>
              <a:rPr lang="en-US" altLang="zh-CN" sz="2800" dirty="0"/>
              <a:t>    </a:t>
            </a:r>
            <a:r>
              <a:rPr lang="zh-CN" altLang="en-US" sz="2800" dirty="0"/>
              <a:t>流出数据流：</a:t>
            </a:r>
            <a:r>
              <a:rPr lang="en-US" altLang="zh-CN" sz="2800" dirty="0">
                <a:latin typeface="Times New Roman" panose="02020603050405020304" pitchFamily="18" charset="0"/>
              </a:rPr>
              <a:t>……</a:t>
            </a:r>
            <a:endParaRPr lang="en-US" altLang="zh-CN" sz="2800" dirty="0"/>
          </a:p>
          <a:p>
            <a:pPr>
              <a:lnSpc>
                <a:spcPct val="90000"/>
              </a:lnSpc>
              <a:buNone/>
            </a:pPr>
            <a:r>
              <a:rPr lang="en-US" altLang="zh-CN" sz="2800" dirty="0"/>
              <a:t>    </a:t>
            </a:r>
            <a:r>
              <a:rPr lang="zh-CN" altLang="en-US" sz="2800" dirty="0"/>
              <a:t>组成：　　　</a:t>
            </a:r>
            <a:r>
              <a:rPr lang="en-US" altLang="zh-CN" sz="2800" dirty="0">
                <a:latin typeface="Times New Roman" panose="02020603050405020304" pitchFamily="18" charset="0"/>
              </a:rPr>
              <a:t>……</a:t>
            </a:r>
            <a:endParaRPr lang="en-US" altLang="zh-CN" sz="2800" dirty="0"/>
          </a:p>
          <a:p>
            <a:pPr>
              <a:lnSpc>
                <a:spcPct val="90000"/>
              </a:lnSpc>
              <a:buNone/>
            </a:pPr>
            <a:r>
              <a:rPr lang="en-US" altLang="zh-CN" sz="2800" dirty="0"/>
              <a:t>    </a:t>
            </a:r>
            <a:r>
              <a:rPr lang="zh-CN" altLang="en-US" sz="2800" dirty="0"/>
              <a:t>数据量：　　每年</a:t>
            </a:r>
            <a:r>
              <a:rPr lang="en-US" altLang="zh-CN" sz="2800" dirty="0"/>
              <a:t>3000</a:t>
            </a:r>
            <a:r>
              <a:rPr lang="zh-CN" altLang="en-US" sz="2800" dirty="0"/>
              <a:t>张</a:t>
            </a:r>
          </a:p>
          <a:p>
            <a:pPr>
              <a:lnSpc>
                <a:spcPct val="90000"/>
              </a:lnSpc>
              <a:buNone/>
            </a:pPr>
            <a:r>
              <a:rPr lang="zh-CN" altLang="en-US" sz="2800" dirty="0"/>
              <a:t>    存取方式：　随机存取</a:t>
            </a:r>
          </a:p>
          <a:p>
            <a:pPr>
              <a:lnSpc>
                <a:spcPct val="90000"/>
              </a:lnSpc>
              <a:buNone/>
            </a:pPr>
            <a:r>
              <a:rPr lang="zh-CN" altLang="en-US" sz="2800" dirty="0"/>
              <a:t>    </a:t>
            </a:r>
          </a:p>
        </p:txBody>
      </p:sp>
      <p:sp>
        <p:nvSpPr>
          <p:cNvPr id="64514" name="Rectangle 2"/>
          <p:cNvSpPr>
            <a:spLocks noGrp="1"/>
          </p:cNvSpPr>
          <p:nvPr>
            <p:ph type="title"/>
          </p:nvPr>
        </p:nvSpPr>
        <p:spPr/>
        <p:txBody>
          <a:bodyPr vert="horz" wrap="square" lIns="91440" tIns="45720" rIns="91440" bIns="45720" anchor="b" anchorCtr="0"/>
          <a:lstStyle/>
          <a:p>
            <a:r>
              <a:rPr lang="zh-CN" altLang="en-US" dirty="0"/>
              <a:t>数据存储举例</a:t>
            </a: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3"/>
          <p:cNvSpPr>
            <a:spLocks noGrp="1"/>
          </p:cNvSpPr>
          <p:nvPr>
            <p:ph idx="1"/>
          </p:nvPr>
        </p:nvSpPr>
        <p:spPr>
          <a:xfrm>
            <a:off x="767398" y="1340485"/>
            <a:ext cx="8839200" cy="4114800"/>
          </a:xfrm>
        </p:spPr>
        <p:txBody>
          <a:bodyPr vert="horz" wrap="square" lIns="91440" tIns="45720" rIns="91440" bIns="45720" anchor="t" anchorCtr="0"/>
          <a:lstStyle/>
          <a:p>
            <a:r>
              <a:rPr lang="zh-CN" altLang="en-US" sz="2800" dirty="0"/>
              <a:t>处理过程的具体处理逻辑一般用判定表或判定树来描述。数据字典中只需要描述处理过程的说明性信息</a:t>
            </a:r>
          </a:p>
          <a:p>
            <a:pPr>
              <a:spcBef>
                <a:spcPct val="60000"/>
              </a:spcBef>
            </a:pPr>
            <a:r>
              <a:rPr lang="zh-CN" altLang="en-US" sz="2800" dirty="0"/>
              <a:t>处理过程说明性信息的描述</a:t>
            </a:r>
          </a:p>
          <a:p>
            <a:pPr>
              <a:lnSpc>
                <a:spcPct val="90000"/>
              </a:lnSpc>
              <a:buNone/>
            </a:pPr>
            <a:r>
              <a:rPr lang="zh-CN" altLang="en-US" sz="2800" dirty="0"/>
              <a:t>　</a:t>
            </a:r>
            <a:r>
              <a:rPr lang="zh-CN" altLang="en-US" sz="2800" dirty="0">
                <a:solidFill>
                  <a:srgbClr val="2355F3"/>
                </a:solidFill>
              </a:rPr>
              <a:t>处理过程描述＝｛处理过程名，说明，</a:t>
            </a:r>
          </a:p>
          <a:p>
            <a:pPr>
              <a:lnSpc>
                <a:spcPct val="90000"/>
              </a:lnSpc>
              <a:buNone/>
            </a:pPr>
            <a:r>
              <a:rPr lang="zh-CN" altLang="en-US" sz="2800" dirty="0">
                <a:solidFill>
                  <a:srgbClr val="2355F3"/>
                </a:solidFill>
              </a:rPr>
              <a:t>                      输入</a:t>
            </a:r>
            <a:r>
              <a:rPr lang="en-US" altLang="zh-CN" sz="2800" dirty="0">
                <a:solidFill>
                  <a:srgbClr val="2355F3"/>
                </a:solidFill>
              </a:rPr>
              <a:t>:</a:t>
            </a:r>
            <a:r>
              <a:rPr lang="zh-CN" altLang="en-US" sz="2800" dirty="0">
                <a:solidFill>
                  <a:srgbClr val="2355F3"/>
                </a:solidFill>
              </a:rPr>
              <a:t>｛数据流｝，输出</a:t>
            </a:r>
            <a:r>
              <a:rPr lang="en-US" altLang="zh-CN" sz="2800" dirty="0">
                <a:solidFill>
                  <a:srgbClr val="2355F3"/>
                </a:solidFill>
              </a:rPr>
              <a:t>:</a:t>
            </a:r>
            <a:r>
              <a:rPr lang="zh-CN" altLang="en-US" sz="2800" dirty="0">
                <a:solidFill>
                  <a:srgbClr val="2355F3"/>
                </a:solidFill>
              </a:rPr>
              <a:t>｛数据流｝，</a:t>
            </a:r>
          </a:p>
          <a:p>
            <a:pPr>
              <a:lnSpc>
                <a:spcPct val="90000"/>
              </a:lnSpc>
              <a:buNone/>
            </a:pPr>
            <a:r>
              <a:rPr lang="zh-CN" altLang="en-US" sz="2800" dirty="0">
                <a:solidFill>
                  <a:srgbClr val="2355F3"/>
                </a:solidFill>
              </a:rPr>
              <a:t>                      处理</a:t>
            </a:r>
            <a:r>
              <a:rPr lang="en-US" altLang="zh-CN" sz="2800" dirty="0">
                <a:solidFill>
                  <a:srgbClr val="2355F3"/>
                </a:solidFill>
              </a:rPr>
              <a:t>:</a:t>
            </a:r>
            <a:r>
              <a:rPr lang="zh-CN" altLang="en-US" sz="2800" dirty="0">
                <a:solidFill>
                  <a:srgbClr val="2355F3"/>
                </a:solidFill>
              </a:rPr>
              <a:t>｛简要说明｝｝</a:t>
            </a:r>
          </a:p>
          <a:p>
            <a:pPr lvl="1" indent="-436245">
              <a:lnSpc>
                <a:spcPct val="90000"/>
              </a:lnSpc>
              <a:buNone/>
            </a:pPr>
            <a:endParaRPr lang="en-US" altLang="zh-CN" sz="2400" dirty="0"/>
          </a:p>
        </p:txBody>
      </p:sp>
      <p:sp>
        <p:nvSpPr>
          <p:cNvPr id="65538" name="Rectangle 2"/>
          <p:cNvSpPr>
            <a:spLocks noGrp="1"/>
          </p:cNvSpPr>
          <p:nvPr>
            <p:ph type="title"/>
          </p:nvPr>
        </p:nvSpPr>
        <p:spPr/>
        <p:txBody>
          <a:bodyPr vert="horz" wrap="square" lIns="91440" tIns="45720" rIns="91440" bIns="45720" anchor="b" anchorCtr="0"/>
          <a:lstStyle/>
          <a:p>
            <a:r>
              <a:rPr lang="en-US" altLang="zh-CN" dirty="0"/>
              <a:t>⒌ </a:t>
            </a:r>
            <a:r>
              <a:rPr lang="zh-CN" altLang="en-US" dirty="0"/>
              <a:t>处理过程</a:t>
            </a: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3"/>
          <p:cNvSpPr>
            <a:spLocks noGrp="1"/>
          </p:cNvSpPr>
          <p:nvPr>
            <p:ph idx="1"/>
          </p:nvPr>
        </p:nvSpPr>
        <p:spPr>
          <a:xfrm>
            <a:off x="695325" y="1340168"/>
            <a:ext cx="8839200" cy="4114800"/>
          </a:xfrm>
        </p:spPr>
        <p:txBody>
          <a:bodyPr vert="horz" wrap="square" lIns="91440" tIns="45720" rIns="91440" bIns="45720" anchor="t" anchorCtr="0"/>
          <a:lstStyle/>
          <a:p>
            <a:pPr lvl="1" indent="-436245">
              <a:spcBef>
                <a:spcPct val="60000"/>
              </a:spcBef>
            </a:pPr>
            <a:r>
              <a:rPr lang="zh-CN" altLang="en-US" dirty="0"/>
              <a:t>简要说明：主要说明该处理过程的功能及处理要求</a:t>
            </a:r>
          </a:p>
          <a:p>
            <a:pPr lvl="2" indent="-394970">
              <a:spcBef>
                <a:spcPct val="60000"/>
              </a:spcBef>
            </a:pPr>
            <a:r>
              <a:rPr lang="zh-CN" altLang="en-US" sz="2800" dirty="0"/>
              <a:t>功能：该处理过程用来做什么</a:t>
            </a:r>
          </a:p>
          <a:p>
            <a:pPr lvl="2" indent="-394970">
              <a:spcBef>
                <a:spcPct val="60000"/>
              </a:spcBef>
            </a:pPr>
            <a:r>
              <a:rPr lang="zh-CN" altLang="en-US" sz="2800" dirty="0"/>
              <a:t>处理要求：处理频度要求（如单位时间里处理多少事务，多少数据量）；响应时间要求等</a:t>
            </a:r>
          </a:p>
          <a:p>
            <a:pPr lvl="2" indent="-394970">
              <a:spcBef>
                <a:spcPct val="60000"/>
              </a:spcBef>
            </a:pPr>
            <a:r>
              <a:rPr lang="zh-CN" altLang="en-US" sz="2800" dirty="0"/>
              <a:t>处理要求是后面物理设计的输入及性能评价的标准</a:t>
            </a:r>
            <a:endParaRPr lang="zh-CN" altLang="en-US" sz="2000" dirty="0"/>
          </a:p>
        </p:txBody>
      </p:sp>
      <p:sp>
        <p:nvSpPr>
          <p:cNvPr id="66562" name="Rectangle 2"/>
          <p:cNvSpPr>
            <a:spLocks noGrp="1"/>
          </p:cNvSpPr>
          <p:nvPr>
            <p:ph type="title"/>
          </p:nvPr>
        </p:nvSpPr>
        <p:spPr/>
        <p:txBody>
          <a:bodyPr vert="horz" wrap="square" lIns="91440" tIns="45720" rIns="91440" bIns="45720" anchor="b" anchorCtr="0"/>
          <a:lstStyle/>
          <a:p>
            <a:r>
              <a:rPr lang="zh-CN" altLang="en-US" dirty="0"/>
              <a:t>处理过程（续）</a:t>
            </a: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3"/>
          <p:cNvSpPr>
            <a:spLocks noGrp="1"/>
          </p:cNvSpPr>
          <p:nvPr>
            <p:ph idx="1"/>
          </p:nvPr>
        </p:nvSpPr>
        <p:spPr>
          <a:xfrm>
            <a:off x="839153" y="1268413"/>
            <a:ext cx="8534400" cy="4786312"/>
          </a:xfrm>
        </p:spPr>
        <p:txBody>
          <a:bodyPr vert="horz" wrap="square" lIns="91440" tIns="45720" rIns="91440" bIns="45720" anchor="t" anchorCtr="0"/>
          <a:lstStyle/>
          <a:p>
            <a:pPr>
              <a:lnSpc>
                <a:spcPct val="90000"/>
              </a:lnSpc>
              <a:buNone/>
            </a:pPr>
            <a:r>
              <a:rPr lang="zh-CN" altLang="en-US" sz="2800" dirty="0">
                <a:latin typeface="Times New Roman" panose="02020603050405020304" pitchFamily="18" charset="0"/>
              </a:rPr>
              <a:t>“</a:t>
            </a:r>
            <a:r>
              <a:rPr lang="zh-CN" altLang="en-US" sz="2800" dirty="0"/>
              <a:t>分配宿舍</a:t>
            </a:r>
            <a:r>
              <a:rPr lang="zh-CN" altLang="en-US" sz="2800" dirty="0">
                <a:latin typeface="Times New Roman" panose="02020603050405020304" pitchFamily="18" charset="0"/>
              </a:rPr>
              <a:t>”</a:t>
            </a:r>
            <a:r>
              <a:rPr lang="zh-CN" altLang="en-US" sz="2800" dirty="0"/>
              <a:t>可如下描述：</a:t>
            </a:r>
          </a:p>
          <a:p>
            <a:pPr>
              <a:lnSpc>
                <a:spcPct val="90000"/>
              </a:lnSpc>
              <a:buNone/>
            </a:pPr>
            <a:r>
              <a:rPr lang="zh-CN" altLang="en-US" sz="2800" dirty="0"/>
              <a:t>　处理过程：分配宿舍</a:t>
            </a:r>
          </a:p>
          <a:p>
            <a:pPr>
              <a:lnSpc>
                <a:spcPct val="90000"/>
              </a:lnSpc>
              <a:buNone/>
            </a:pPr>
            <a:r>
              <a:rPr lang="zh-CN" altLang="en-US" sz="2800" dirty="0"/>
              <a:t>　说明：　　为所有新生分配学生宿舍</a:t>
            </a:r>
          </a:p>
          <a:p>
            <a:pPr>
              <a:lnSpc>
                <a:spcPct val="90000"/>
              </a:lnSpc>
              <a:buNone/>
            </a:pPr>
            <a:r>
              <a:rPr lang="zh-CN" altLang="en-US" sz="2800" dirty="0"/>
              <a:t>　输入：　　学生，宿舍，</a:t>
            </a:r>
          </a:p>
          <a:p>
            <a:pPr>
              <a:lnSpc>
                <a:spcPct val="90000"/>
              </a:lnSpc>
              <a:buNone/>
            </a:pPr>
            <a:r>
              <a:rPr lang="zh-CN" altLang="en-US" sz="2800" dirty="0"/>
              <a:t>　输出：　　宿舍安排</a:t>
            </a:r>
          </a:p>
          <a:p>
            <a:pPr>
              <a:lnSpc>
                <a:spcPct val="70000"/>
              </a:lnSpc>
              <a:buNone/>
            </a:pPr>
            <a:r>
              <a:rPr lang="zh-CN" altLang="en-US" sz="2800" dirty="0"/>
              <a:t>　处理：　　在新生报到后，为所有新生分配学</a:t>
            </a:r>
          </a:p>
          <a:p>
            <a:pPr>
              <a:lnSpc>
                <a:spcPct val="70000"/>
              </a:lnSpc>
              <a:buNone/>
            </a:pPr>
            <a:r>
              <a:rPr lang="zh-CN" altLang="en-US" sz="2800" dirty="0"/>
              <a:t>                        生宿舍。要求同一间宿舍只能安排</a:t>
            </a:r>
          </a:p>
          <a:p>
            <a:pPr>
              <a:lnSpc>
                <a:spcPct val="70000"/>
              </a:lnSpc>
              <a:buNone/>
            </a:pPr>
            <a:r>
              <a:rPr lang="zh-CN" altLang="en-US" sz="2800" dirty="0"/>
              <a:t>                        同一性别的学生，同一个学生只能</a:t>
            </a:r>
          </a:p>
          <a:p>
            <a:pPr>
              <a:lnSpc>
                <a:spcPct val="70000"/>
              </a:lnSpc>
              <a:buNone/>
            </a:pPr>
            <a:r>
              <a:rPr lang="zh-CN" altLang="en-US" sz="2800" dirty="0"/>
              <a:t>                        安排在一个宿舍中。每个学生的居 </a:t>
            </a:r>
          </a:p>
          <a:p>
            <a:pPr>
              <a:lnSpc>
                <a:spcPct val="70000"/>
              </a:lnSpc>
              <a:buNone/>
            </a:pPr>
            <a:r>
              <a:rPr lang="zh-CN" altLang="en-US" sz="2800" dirty="0"/>
              <a:t>                        住面积不小于</a:t>
            </a:r>
            <a:r>
              <a:rPr lang="en-US" altLang="zh-CN" sz="2800" dirty="0"/>
              <a:t>3</a:t>
            </a:r>
            <a:r>
              <a:rPr lang="zh-CN" altLang="en-US" sz="2800" dirty="0"/>
              <a:t>平方米。    </a:t>
            </a:r>
          </a:p>
        </p:txBody>
      </p:sp>
      <p:sp>
        <p:nvSpPr>
          <p:cNvPr id="67586" name="Rectangle 2"/>
          <p:cNvSpPr>
            <a:spLocks noGrp="1"/>
          </p:cNvSpPr>
          <p:nvPr>
            <p:ph type="title"/>
          </p:nvPr>
        </p:nvSpPr>
        <p:spPr/>
        <p:txBody>
          <a:bodyPr vert="horz" wrap="square" lIns="91440" tIns="45720" rIns="91440" bIns="45720" anchor="b" anchorCtr="0"/>
          <a:lstStyle/>
          <a:p>
            <a:r>
              <a:rPr lang="zh-CN" altLang="en-US" sz="4000" dirty="0">
                <a:solidFill>
                  <a:srgbClr val="0066FF"/>
                </a:solidFill>
              </a:rPr>
              <a:t>处理过程举例</a:t>
            </a:r>
            <a:endParaRPr lang="zh-CN" altLang="en-US" dirty="0"/>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a:spLocks noGrp="1"/>
          </p:cNvSpPr>
          <p:nvPr>
            <p:ph type="title"/>
          </p:nvPr>
        </p:nvSpPr>
        <p:spPr/>
        <p:txBody>
          <a:bodyPr vert="horz" wrap="square" lIns="91440" tIns="45720" rIns="91440" bIns="45720" anchor="b" anchorCtr="0"/>
          <a:lstStyle/>
          <a:p>
            <a:pPr>
              <a:buNone/>
            </a:pPr>
            <a:r>
              <a:rPr lang="zh-CN" altLang="en-US" dirty="0"/>
              <a:t>强调两点</a:t>
            </a:r>
          </a:p>
        </p:txBody>
      </p:sp>
      <p:sp>
        <p:nvSpPr>
          <p:cNvPr id="68610" name="内容占位符 2"/>
          <p:cNvSpPr>
            <a:spLocks noGrp="1"/>
          </p:cNvSpPr>
          <p:nvPr>
            <p:ph idx="1"/>
          </p:nvPr>
        </p:nvSpPr>
        <p:spPr/>
        <p:txBody>
          <a:bodyPr vert="horz" wrap="square" lIns="91440" tIns="45720" rIns="91440" bIns="45720" anchor="t" anchorCtr="0"/>
          <a:lstStyle/>
          <a:p>
            <a:r>
              <a:rPr lang="zh-CN" altLang="en-US" dirty="0"/>
              <a:t>需求分析阶段的任务是：收集将来应用所涉及的数据，设计人员要充分考虑可能的扩展和改变，使设计已更改，易扩展。</a:t>
            </a:r>
            <a:endParaRPr lang="en-US" altLang="zh-CN" dirty="0"/>
          </a:p>
          <a:p>
            <a:r>
              <a:rPr lang="zh-CN" altLang="en-US" dirty="0"/>
              <a:t>必须强调用户的参与。设计人员和用户取得共同语言，充分沟通。</a:t>
            </a:r>
          </a:p>
        </p:txBody>
      </p:sp>
    </p:spTree>
  </p:cSld>
  <p:clrMapOvr>
    <a:masterClrMapping/>
  </p:clrMapOvr>
  <p:transition advClick="0"/>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1"/>
          <p:cNvSpPr>
            <a:spLocks noGrp="1"/>
          </p:cNvSpPr>
          <p:nvPr>
            <p:ph type="title"/>
          </p:nvPr>
        </p:nvSpPr>
        <p:spPr/>
        <p:txBody>
          <a:bodyPr vert="horz" wrap="square" lIns="91440" tIns="45720" rIns="91440" bIns="45720" anchor="b" anchorCtr="0"/>
          <a:lstStyle/>
          <a:p>
            <a:r>
              <a:rPr lang="zh-CN" altLang="en-US" dirty="0"/>
              <a:t/>
            </a:r>
            <a:br>
              <a:rPr lang="zh-CN" altLang="en-US" dirty="0"/>
            </a:br>
            <a:r>
              <a:rPr lang="zh-CN" altLang="en-US" b="1" dirty="0"/>
              <a:t>第七章 数据库设计 </a:t>
            </a:r>
            <a:endParaRPr lang="zh-CN" altLang="en-US" dirty="0"/>
          </a:p>
        </p:txBody>
      </p:sp>
      <p:sp>
        <p:nvSpPr>
          <p:cNvPr id="88066" name="内容占位符 2"/>
          <p:cNvSpPr>
            <a:spLocks noGrp="1"/>
          </p:cNvSpPr>
          <p:nvPr>
            <p:ph idx="1"/>
          </p:nvPr>
        </p:nvSpPr>
        <p:spPr/>
        <p:txBody>
          <a:bodyPr vert="horz" wrap="square" lIns="91440" tIns="45720" rIns="91440" bIns="45720" anchor="t" anchorCtr="0"/>
          <a:lstStyle/>
          <a:p>
            <a:r>
              <a:rPr lang="en-US" altLang="zh-CN" b="1" dirty="0"/>
              <a:t>7.1 </a:t>
            </a:r>
            <a:r>
              <a:rPr lang="zh-CN" altLang="en-US" b="1" dirty="0"/>
              <a:t>数据库设计概述 </a:t>
            </a:r>
          </a:p>
          <a:p>
            <a:r>
              <a:rPr lang="en-US" altLang="zh-CN" b="1" dirty="0"/>
              <a:t>7.2 </a:t>
            </a:r>
            <a:r>
              <a:rPr lang="zh-CN" altLang="en-US" b="1" dirty="0"/>
              <a:t>需求分析 </a:t>
            </a:r>
          </a:p>
          <a:p>
            <a:r>
              <a:rPr lang="en-US" altLang="zh-CN" b="1" dirty="0"/>
              <a:t>7.3 </a:t>
            </a:r>
            <a:r>
              <a:rPr lang="zh-CN" altLang="en-US" b="1" dirty="0"/>
              <a:t>概念结构设计 </a:t>
            </a:r>
          </a:p>
          <a:p>
            <a:r>
              <a:rPr lang="en-US" altLang="zh-CN" b="1" dirty="0"/>
              <a:t>7.4 </a:t>
            </a:r>
            <a:r>
              <a:rPr lang="zh-CN" altLang="en-US" b="1" dirty="0">
                <a:solidFill>
                  <a:srgbClr val="FF0000"/>
                </a:solidFill>
              </a:rPr>
              <a:t>逻辑结构设计 </a:t>
            </a:r>
          </a:p>
          <a:p>
            <a:r>
              <a:rPr lang="en-US" altLang="zh-CN" b="1" dirty="0"/>
              <a:t>7.5 </a:t>
            </a:r>
            <a:r>
              <a:rPr lang="zh-CN" altLang="en-US" b="1" dirty="0"/>
              <a:t>物理结构设计 </a:t>
            </a:r>
          </a:p>
          <a:p>
            <a:r>
              <a:rPr lang="en-US" altLang="zh-CN" b="1" dirty="0"/>
              <a:t>7.6 </a:t>
            </a:r>
            <a:r>
              <a:rPr lang="zh-CN" altLang="en-US" b="1" dirty="0"/>
              <a:t>数据库的实施和维护 </a:t>
            </a:r>
            <a:endParaRPr lang="zh-CN" altLang="en-US" dirty="0"/>
          </a:p>
        </p:txBody>
      </p:sp>
    </p:spTree>
    <p:extLst>
      <p:ext uri="{BB962C8B-B14F-4D97-AF65-F5344CB8AC3E}">
        <p14:creationId xmlns:p14="http://schemas.microsoft.com/office/powerpoint/2010/main" val="1015560096"/>
      </p:ext>
    </p:extLst>
  </p:cSld>
  <p:clrMapOvr>
    <a:masterClrMapping/>
  </p:clrMapOvr>
  <p:transition advClick="0"/>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3570" y="214313"/>
            <a:ext cx="8001000" cy="73501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lang="en-US" altLang="zh-CN" b="1" dirty="0">
                <a:sym typeface="+mn-ea"/>
              </a:rPr>
              <a:t>7.4 </a:t>
            </a: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逻辑结构设计</a:t>
            </a:r>
            <a:endParaRPr kumimoji="0" lang="zh-CN" altLang="en-US" sz="3800" b="0" i="0" u="none" strike="noStrike" kern="0" cap="none" spc="0" normalizeH="0" baseline="0" noProof="0" dirty="0">
              <a:ln>
                <a:noFill/>
              </a:ln>
              <a:solidFill>
                <a:schemeClr val="tx2"/>
              </a:solidFill>
              <a:effectLst/>
              <a:uLnTx/>
              <a:uFillTx/>
              <a:latin typeface="+mj-lt"/>
              <a:ea typeface="+mj-ea"/>
              <a:cs typeface="+mj-cs"/>
            </a:endParaRPr>
          </a:p>
        </p:txBody>
      </p:sp>
      <p:sp>
        <p:nvSpPr>
          <p:cNvPr id="89090" name="内容占位符 2"/>
          <p:cNvSpPr>
            <a:spLocks noGrp="1"/>
          </p:cNvSpPr>
          <p:nvPr>
            <p:ph idx="1"/>
          </p:nvPr>
        </p:nvSpPr>
        <p:spPr>
          <a:xfrm>
            <a:off x="755650" y="1143000"/>
            <a:ext cx="11137900" cy="4876800"/>
          </a:xfrm>
        </p:spPr>
        <p:txBody>
          <a:bodyPr vert="horz" wrap="square" lIns="91440" tIns="45720" rIns="91440" bIns="45720" anchor="t" anchorCtr="0"/>
          <a:lstStyle/>
          <a:p>
            <a:r>
              <a:rPr lang="zh-CN" altLang="en-US" dirty="0"/>
              <a:t>任务：把</a:t>
            </a:r>
            <a:r>
              <a:rPr lang="zh-CN" altLang="en-US" b="1" dirty="0">
                <a:solidFill>
                  <a:srgbClr val="FF0000"/>
                </a:solidFill>
              </a:rPr>
              <a:t>概念结构设计阶段</a:t>
            </a:r>
            <a:r>
              <a:rPr lang="zh-CN" altLang="en-US" dirty="0"/>
              <a:t>设计好的</a:t>
            </a:r>
            <a:r>
              <a:rPr lang="zh-CN" altLang="en-US" b="1" dirty="0">
                <a:solidFill>
                  <a:srgbClr val="FF0000"/>
                </a:solidFill>
              </a:rPr>
              <a:t>基本</a:t>
            </a:r>
            <a:r>
              <a:rPr lang="en-US" altLang="zh-CN" b="1" dirty="0">
                <a:solidFill>
                  <a:srgbClr val="FF0000"/>
                </a:solidFill>
              </a:rPr>
              <a:t>E-R</a:t>
            </a:r>
            <a:r>
              <a:rPr lang="zh-CN" altLang="en-US" b="1" dirty="0">
                <a:solidFill>
                  <a:srgbClr val="FF0000"/>
                </a:solidFill>
              </a:rPr>
              <a:t>图</a:t>
            </a:r>
            <a:r>
              <a:rPr lang="zh-CN" altLang="en-US" dirty="0"/>
              <a:t>转换为与选用数据库管理系统产品所支持的数据模型相符合的</a:t>
            </a:r>
            <a:r>
              <a:rPr lang="zh-CN" altLang="en-US" b="1" dirty="0">
                <a:solidFill>
                  <a:srgbClr val="FF0000"/>
                </a:solidFill>
              </a:rPr>
              <a:t>逻辑结构 </a:t>
            </a:r>
            <a:r>
              <a:rPr lang="zh-CN" altLang="en-US" dirty="0"/>
              <a:t>。</a:t>
            </a:r>
          </a:p>
          <a:p>
            <a:r>
              <a:rPr lang="zh-CN" altLang="en-US" dirty="0"/>
              <a:t>简单说就是：</a:t>
            </a:r>
            <a:r>
              <a:rPr lang="en-US" altLang="zh-CN" dirty="0"/>
              <a:t>E-R</a:t>
            </a:r>
            <a:r>
              <a:rPr lang="zh-CN" altLang="en-US" dirty="0"/>
              <a:t>图转成表</a:t>
            </a:r>
          </a:p>
          <a:p>
            <a:r>
              <a:rPr lang="en-US" altLang="zh-CN" b="1" dirty="0">
                <a:solidFill>
                  <a:srgbClr val="FF0000"/>
                </a:solidFill>
              </a:rPr>
              <a:t>7.4.1 E-R</a:t>
            </a:r>
            <a:r>
              <a:rPr lang="zh-CN" altLang="en-US" b="1" dirty="0">
                <a:solidFill>
                  <a:srgbClr val="FF0000"/>
                </a:solidFill>
              </a:rPr>
              <a:t>图向关系模型的转换 </a:t>
            </a:r>
          </a:p>
          <a:p>
            <a:r>
              <a:rPr lang="en-US" altLang="zh-CN" b="1" dirty="0"/>
              <a:t>7.4.2 </a:t>
            </a:r>
            <a:r>
              <a:rPr lang="zh-CN" altLang="en-US" b="1" dirty="0"/>
              <a:t>数据模型的优化 </a:t>
            </a:r>
          </a:p>
          <a:p>
            <a:r>
              <a:rPr lang="en-US" altLang="zh-CN" b="1" dirty="0"/>
              <a:t>7.4.3 </a:t>
            </a:r>
            <a:r>
              <a:rPr lang="zh-CN" altLang="en-US" b="1" dirty="0"/>
              <a:t>设计用户子模式 </a:t>
            </a:r>
            <a:endParaRPr lang="zh-CN" altLang="en-US" dirty="0"/>
          </a:p>
        </p:txBody>
      </p:sp>
    </p:spTree>
    <p:extLst>
      <p:ext uri="{BB962C8B-B14F-4D97-AF65-F5344CB8AC3E}">
        <p14:creationId xmlns:p14="http://schemas.microsoft.com/office/powerpoint/2010/main" val="3587365366"/>
      </p:ext>
    </p:extLst>
  </p:cSld>
  <p:clrMapOvr>
    <a:masterClrMapping/>
  </p:clrMapOvr>
  <p:transition advClick="0"/>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325" y="214313"/>
            <a:ext cx="8001000" cy="73501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转换内容 </a:t>
            </a:r>
            <a:endParaRPr kumimoji="0" lang="zh-CN" altLang="en-US" sz="3800" b="0" i="0" u="none" strike="noStrike" kern="0" cap="none" spc="0" normalizeH="0" baseline="0" noProof="0" dirty="0">
              <a:ln>
                <a:noFill/>
              </a:ln>
              <a:solidFill>
                <a:schemeClr val="tx2"/>
              </a:solidFill>
              <a:effectLst/>
              <a:uLnTx/>
              <a:uFillTx/>
              <a:latin typeface="+mj-lt"/>
              <a:ea typeface="+mj-ea"/>
              <a:cs typeface="+mj-cs"/>
            </a:endParaRPr>
          </a:p>
        </p:txBody>
      </p:sp>
      <p:sp>
        <p:nvSpPr>
          <p:cNvPr id="90114" name="内容占位符 2"/>
          <p:cNvSpPr>
            <a:spLocks noGrp="1"/>
          </p:cNvSpPr>
          <p:nvPr>
            <p:ph idx="1"/>
          </p:nvPr>
        </p:nvSpPr>
        <p:spPr/>
        <p:txBody>
          <a:bodyPr vert="horz" wrap="square" lIns="91440" tIns="45720" rIns="91440" bIns="45720" anchor="t" anchorCtr="0"/>
          <a:lstStyle/>
          <a:p>
            <a:r>
              <a:rPr lang="en-US" altLang="zh-CN" b="1" dirty="0"/>
              <a:t>E-R</a:t>
            </a:r>
            <a:r>
              <a:rPr lang="zh-CN" altLang="en-US" b="1" dirty="0"/>
              <a:t>图由实体型、实体的属性和实体型之间的联系</a:t>
            </a:r>
            <a:r>
              <a:rPr lang="zh-CN" altLang="en-US" b="1" dirty="0">
                <a:solidFill>
                  <a:srgbClr val="FF0000"/>
                </a:solidFill>
              </a:rPr>
              <a:t>三个要素</a:t>
            </a:r>
            <a:r>
              <a:rPr lang="zh-CN" altLang="en-US" b="1" dirty="0"/>
              <a:t>组成 </a:t>
            </a:r>
          </a:p>
          <a:p>
            <a:r>
              <a:rPr lang="zh-CN" altLang="en-US" dirty="0"/>
              <a:t>将</a:t>
            </a:r>
            <a:r>
              <a:rPr lang="en-US" altLang="zh-CN" b="1" dirty="0"/>
              <a:t>E-R</a:t>
            </a:r>
            <a:r>
              <a:rPr lang="zh-CN" altLang="en-US" b="1" dirty="0"/>
              <a:t>图转换为关系模型：将</a:t>
            </a:r>
            <a:r>
              <a:rPr lang="zh-CN" altLang="en-US" b="1" dirty="0">
                <a:solidFill>
                  <a:srgbClr val="FF0000"/>
                </a:solidFill>
              </a:rPr>
              <a:t>实体型</a:t>
            </a:r>
            <a:r>
              <a:rPr lang="zh-CN" altLang="en-US" b="1" dirty="0"/>
              <a:t>、</a:t>
            </a:r>
            <a:r>
              <a:rPr lang="zh-CN" altLang="en-US" b="1" dirty="0">
                <a:solidFill>
                  <a:srgbClr val="FF0000"/>
                </a:solidFill>
              </a:rPr>
              <a:t>实体的属性</a:t>
            </a:r>
            <a:r>
              <a:rPr lang="zh-CN" altLang="en-US" b="1" dirty="0"/>
              <a:t>和</a:t>
            </a:r>
            <a:r>
              <a:rPr lang="zh-CN" altLang="en-US" b="1" dirty="0">
                <a:solidFill>
                  <a:srgbClr val="FF0000"/>
                </a:solidFill>
              </a:rPr>
              <a:t>实体型之间的联系</a:t>
            </a:r>
            <a:r>
              <a:rPr lang="zh-CN" altLang="en-US" b="1" dirty="0"/>
              <a:t>转化为关系模式 </a:t>
            </a:r>
          </a:p>
          <a:p>
            <a:endParaRPr lang="zh-CN" altLang="en-US" dirty="0"/>
          </a:p>
        </p:txBody>
      </p:sp>
    </p:spTree>
    <p:extLst>
      <p:ext uri="{BB962C8B-B14F-4D97-AF65-F5344CB8AC3E}">
        <p14:creationId xmlns:p14="http://schemas.microsoft.com/office/powerpoint/2010/main" val="374554640"/>
      </p:ext>
    </p:extLst>
  </p:cSld>
  <p:clrMapOvr>
    <a:masterClrMapping/>
  </p:clrMapOvr>
  <p:transition advClick="0"/>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325" y="214313"/>
            <a:ext cx="8001000" cy="73501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转换原则 </a:t>
            </a:r>
            <a:endParaRPr kumimoji="0" lang="zh-CN" altLang="en-US" sz="3800" b="0" i="0" u="none" strike="noStrike" kern="0" cap="none" spc="0" normalizeH="0" baseline="0" noProof="0" dirty="0">
              <a:ln>
                <a:noFill/>
              </a:ln>
              <a:solidFill>
                <a:schemeClr val="tx2"/>
              </a:solidFill>
              <a:effectLst/>
              <a:uLnTx/>
              <a:uFillTx/>
              <a:latin typeface="+mj-lt"/>
              <a:ea typeface="+mj-ea"/>
              <a:cs typeface="+mj-cs"/>
            </a:endParaRPr>
          </a:p>
        </p:txBody>
      </p:sp>
      <p:sp>
        <p:nvSpPr>
          <p:cNvPr id="91138" name="内容占位符 2"/>
          <p:cNvSpPr>
            <a:spLocks noGrp="1"/>
          </p:cNvSpPr>
          <p:nvPr>
            <p:ph idx="1"/>
          </p:nvPr>
        </p:nvSpPr>
        <p:spPr/>
        <p:txBody>
          <a:bodyPr vert="horz" wrap="square" lIns="91440" tIns="45720" rIns="91440" bIns="45720" anchor="t" anchorCtr="0"/>
          <a:lstStyle/>
          <a:p>
            <a:r>
              <a:rPr lang="en-US" altLang="zh-CN" b="1" dirty="0"/>
              <a:t>1. </a:t>
            </a:r>
            <a:r>
              <a:rPr lang="zh-CN" altLang="en-US" b="1" dirty="0"/>
              <a:t>一个实体型转换为一个关系模式。 </a:t>
            </a:r>
          </a:p>
          <a:p>
            <a:pPr marL="0" indent="0">
              <a:buNone/>
            </a:pPr>
            <a:r>
              <a:rPr lang="zh-CN" altLang="en-US" dirty="0" smtClean="0"/>
              <a:t></a:t>
            </a:r>
            <a:r>
              <a:rPr lang="en-US" altLang="zh-CN" dirty="0" smtClean="0"/>
              <a:t>	</a:t>
            </a:r>
            <a:r>
              <a:rPr lang="zh-CN" altLang="en-US" dirty="0" smtClean="0"/>
              <a:t>关系</a:t>
            </a:r>
            <a:r>
              <a:rPr lang="zh-CN" altLang="en-US" dirty="0"/>
              <a:t>的属性：实体的属性 </a:t>
            </a:r>
          </a:p>
          <a:p>
            <a:pPr marL="0" indent="0">
              <a:buNone/>
            </a:pPr>
            <a:r>
              <a:rPr lang="zh-CN" altLang="en-US" dirty="0" smtClean="0"/>
              <a:t></a:t>
            </a:r>
            <a:r>
              <a:rPr lang="en-US" altLang="zh-CN" dirty="0" smtClean="0"/>
              <a:t>	</a:t>
            </a:r>
            <a:r>
              <a:rPr lang="zh-CN" altLang="en-US" dirty="0" smtClean="0"/>
              <a:t>关系</a:t>
            </a:r>
            <a:r>
              <a:rPr lang="zh-CN" altLang="en-US" dirty="0"/>
              <a:t>的码：实体的码 </a:t>
            </a:r>
          </a:p>
          <a:p>
            <a:r>
              <a:rPr lang="en-US" altLang="zh-CN" b="1" dirty="0"/>
              <a:t>2. </a:t>
            </a:r>
            <a:r>
              <a:rPr lang="zh-CN" altLang="en-US" b="1" dirty="0"/>
              <a:t>实体型间的联系有以下不同情况 </a:t>
            </a:r>
          </a:p>
          <a:p>
            <a:pPr marL="0" indent="0">
              <a:buNone/>
            </a:pPr>
            <a:r>
              <a:rPr lang="en-US" altLang="zh-CN" dirty="0" smtClean="0"/>
              <a:t>	</a:t>
            </a:r>
            <a:r>
              <a:rPr lang="zh-CN" altLang="en-US" dirty="0" smtClean="0"/>
              <a:t>（</a:t>
            </a:r>
            <a:r>
              <a:rPr lang="en-US" altLang="zh-CN" dirty="0"/>
              <a:t>1</a:t>
            </a:r>
            <a:r>
              <a:rPr lang="zh-CN" altLang="en-US" dirty="0"/>
              <a:t>）</a:t>
            </a:r>
            <a:r>
              <a:rPr lang="en-US" altLang="zh-CN" sz="2800" b="1" dirty="0"/>
              <a:t> 1:1</a:t>
            </a:r>
            <a:r>
              <a:rPr lang="zh-CN" altLang="en-US" sz="2800" b="1" dirty="0"/>
              <a:t>联系</a:t>
            </a:r>
            <a:endParaRPr lang="en-US" altLang="zh-CN" dirty="0"/>
          </a:p>
          <a:p>
            <a:pPr marL="0" indent="0">
              <a:buNone/>
            </a:pPr>
            <a:r>
              <a:rPr lang="en-US" altLang="zh-CN" dirty="0" smtClean="0"/>
              <a:t>	</a:t>
            </a:r>
            <a:r>
              <a:rPr lang="zh-CN" altLang="en-US" dirty="0" smtClean="0"/>
              <a:t>（</a:t>
            </a:r>
            <a:r>
              <a:rPr lang="en-US" altLang="zh-CN" dirty="0"/>
              <a:t>2</a:t>
            </a:r>
            <a:r>
              <a:rPr lang="zh-CN" altLang="en-US" dirty="0"/>
              <a:t>）</a:t>
            </a:r>
            <a:r>
              <a:rPr lang="en-US" altLang="zh-CN" sz="2800" b="1" dirty="0"/>
              <a:t> 1:m</a:t>
            </a:r>
            <a:r>
              <a:rPr lang="zh-CN" altLang="en-US" sz="2800" b="1" dirty="0"/>
              <a:t>联系</a:t>
            </a:r>
            <a:endParaRPr lang="en-US" altLang="zh-CN" dirty="0"/>
          </a:p>
          <a:p>
            <a:pPr marL="0" indent="0">
              <a:buNone/>
            </a:pPr>
            <a:r>
              <a:rPr lang="en-US" altLang="zh-CN" dirty="0" smtClean="0"/>
              <a:t>	</a:t>
            </a:r>
            <a:r>
              <a:rPr lang="zh-CN" altLang="en-US" dirty="0" smtClean="0"/>
              <a:t>（</a:t>
            </a:r>
            <a:r>
              <a:rPr lang="en-US" altLang="zh-CN" dirty="0"/>
              <a:t>3</a:t>
            </a:r>
            <a:r>
              <a:rPr lang="zh-CN" altLang="en-US" dirty="0"/>
              <a:t>）</a:t>
            </a:r>
            <a:r>
              <a:rPr lang="en-US" altLang="zh-CN" sz="2800" b="1" dirty="0"/>
              <a:t> m:n</a:t>
            </a:r>
            <a:r>
              <a:rPr lang="zh-CN" altLang="en-US" sz="2800" b="1" dirty="0"/>
              <a:t>联系</a:t>
            </a:r>
            <a:endParaRPr lang="zh-CN" altLang="en-US" dirty="0"/>
          </a:p>
        </p:txBody>
      </p:sp>
    </p:spTree>
    <p:extLst>
      <p:ext uri="{BB962C8B-B14F-4D97-AF65-F5344CB8AC3E}">
        <p14:creationId xmlns:p14="http://schemas.microsoft.com/office/powerpoint/2010/main" val="623523066"/>
      </p:ext>
    </p:extLst>
  </p:cSld>
  <p:clrMapOvr>
    <a:masterClrMapping/>
  </p:clrMapOvr>
  <p:transition advClick="0"/>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内容占位符 2"/>
          <p:cNvSpPr>
            <a:spLocks noGrp="1"/>
          </p:cNvSpPr>
          <p:nvPr>
            <p:ph idx="1"/>
          </p:nvPr>
        </p:nvSpPr>
        <p:spPr>
          <a:xfrm>
            <a:off x="695400" y="1216025"/>
            <a:ext cx="10657184" cy="4876800"/>
          </a:xfrm>
        </p:spPr>
        <p:txBody>
          <a:bodyPr vert="horz" wrap="square" lIns="91440" tIns="45720" rIns="91440" bIns="45720" anchor="t" anchorCtr="0"/>
          <a:lstStyle/>
          <a:p>
            <a:r>
              <a:rPr lang="zh-CN" altLang="en-US" sz="3200" b="1" dirty="0"/>
              <a:t>一个</a:t>
            </a:r>
            <a:r>
              <a:rPr lang="en-US" altLang="zh-CN" sz="3200" b="1" dirty="0"/>
              <a:t>1:1</a:t>
            </a:r>
            <a:r>
              <a:rPr lang="zh-CN" altLang="en-US" sz="3200" b="1" dirty="0"/>
              <a:t>联系可以转换为一个独立的关系模式，也可以与任意一端对应的关系模式合并。 </a:t>
            </a:r>
          </a:p>
          <a:p>
            <a:pPr marL="0" indent="0">
              <a:buNone/>
            </a:pPr>
            <a:r>
              <a:rPr lang="en-US" altLang="zh-CN" sz="2400" dirty="0" smtClean="0"/>
              <a:t>	</a:t>
            </a:r>
            <a:r>
              <a:rPr lang="zh-CN" altLang="en-US" sz="2800" dirty="0" smtClean="0"/>
              <a:t>① </a:t>
            </a:r>
            <a:r>
              <a:rPr lang="zh-CN" altLang="en-US" sz="2800" dirty="0"/>
              <a:t>转换为一个独立的关系模式 </a:t>
            </a:r>
          </a:p>
          <a:p>
            <a:r>
              <a:rPr lang="zh-CN" altLang="en-US" sz="2800" dirty="0"/>
              <a:t>关系的属性：与该联系相连的各实体的码以及联系本身的属性 </a:t>
            </a:r>
          </a:p>
          <a:p>
            <a:r>
              <a:rPr lang="zh-CN" altLang="en-US" sz="2800" dirty="0"/>
              <a:t>关系的候选码：每个实体的码均是该关系的候选码 </a:t>
            </a:r>
            <a:endParaRPr lang="zh-CN" altLang="en-US" sz="3200" dirty="0"/>
          </a:p>
          <a:p>
            <a:pPr marL="0" indent="0">
              <a:buNone/>
            </a:pPr>
            <a:r>
              <a:rPr lang="en-US" altLang="zh-CN" sz="2800" dirty="0" smtClean="0"/>
              <a:t>	</a:t>
            </a:r>
            <a:r>
              <a:rPr lang="zh-CN" altLang="en-US" sz="2800" dirty="0" smtClean="0"/>
              <a:t>②</a:t>
            </a:r>
            <a:r>
              <a:rPr lang="zh-CN" altLang="en-US" sz="2800" dirty="0"/>
              <a:t>与某一端实体对应的关系模式合并 </a:t>
            </a:r>
          </a:p>
          <a:p>
            <a:r>
              <a:rPr lang="zh-CN" altLang="en-US" sz="2800" dirty="0"/>
              <a:t>合并后关系的属性：加入对应关系的码和联系本身的属性 </a:t>
            </a:r>
          </a:p>
          <a:p>
            <a:r>
              <a:rPr lang="zh-CN" altLang="en-US" sz="2800" dirty="0"/>
              <a:t>合并后关系的码：不变 </a:t>
            </a:r>
          </a:p>
        </p:txBody>
      </p:sp>
      <p:sp>
        <p:nvSpPr>
          <p:cNvPr id="3" name="标题 1"/>
          <p:cNvSpPr>
            <a:spLocks noGrp="1"/>
          </p:cNvSpPr>
          <p:nvPr>
            <p:ph type="title"/>
          </p:nvPr>
        </p:nvSpPr>
        <p:spPr>
          <a:xfrm>
            <a:off x="767715" y="213678"/>
            <a:ext cx="8001000" cy="73501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3800" b="0" i="0" u="none" strike="noStrike" kern="0" cap="none" spc="0" normalizeH="0" baseline="0" noProof="0" dirty="0" smtClean="0">
                <a:ln>
                  <a:noFill/>
                </a:ln>
                <a:solidFill>
                  <a:schemeClr val="tx1"/>
                </a:solidFill>
                <a:effectLst/>
                <a:uLnTx/>
                <a:uFillTx/>
                <a:latin typeface="+mn-lt"/>
                <a:ea typeface="+mn-ea"/>
                <a:cs typeface="+mn-cs"/>
              </a:rPr>
              <a:t>1</a:t>
            </a: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3800" b="0" i="0" u="none" strike="noStrike" kern="0" cap="none" spc="0" normalizeH="0" baseline="0" noProof="0" dirty="0" smtClean="0">
                <a:ln>
                  <a:noFill/>
                </a:ln>
                <a:solidFill>
                  <a:schemeClr val="tx1"/>
                </a:solidFill>
                <a:effectLst/>
                <a:uLnTx/>
                <a:uFillTx/>
                <a:latin typeface="+mn-lt"/>
                <a:ea typeface="+mn-ea"/>
                <a:cs typeface="+mn-cs"/>
              </a:rPr>
              <a:t>1:1</a:t>
            </a: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的联系 </a:t>
            </a:r>
            <a:endParaRPr kumimoji="0" lang="zh-CN" altLang="en-US" sz="3800" b="0"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val="2792939473"/>
      </p:ext>
    </p:extLst>
  </p:cSld>
  <p:clrMapOvr>
    <a:masterClrMapping/>
  </p:clrMapOvr>
  <p:transition advClick="0"/>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1"/>
          <p:cNvSpPr>
            <a:spLocks noGrp="1"/>
          </p:cNvSpPr>
          <p:nvPr>
            <p:ph type="title"/>
          </p:nvPr>
        </p:nvSpPr>
        <p:spPr/>
        <p:txBody>
          <a:bodyPr vert="horz" wrap="square" lIns="91440" tIns="45720" rIns="91440" bIns="45720" anchor="b" anchorCtr="0"/>
          <a:lstStyle/>
          <a:p>
            <a:r>
              <a:rPr lang="zh-CN" altLang="en-US" dirty="0"/>
              <a:t>例题：</a:t>
            </a:r>
          </a:p>
        </p:txBody>
      </p:sp>
      <p:sp>
        <p:nvSpPr>
          <p:cNvPr id="81923" name="内容占位符 2"/>
          <p:cNvSpPr>
            <a:spLocks noGrp="1"/>
          </p:cNvSpPr>
          <p:nvPr>
            <p:ph idx="1"/>
          </p:nvPr>
        </p:nvSpPr>
        <p:spPr>
          <a:xfrm>
            <a:off x="708025" y="1143000"/>
            <a:ext cx="7908925" cy="4876800"/>
          </a:xfrm>
        </p:spPr>
        <p:txBody>
          <a:bodyPr vert="horz" wrap="square" lIns="91440" tIns="45720" rIns="91440" bIns="45720" anchor="t" anchorCtr="0"/>
          <a:lstStyle/>
          <a:p>
            <a:r>
              <a:rPr lang="en-US" altLang="zh-CN" sz="2400" dirty="0"/>
              <a:t>1.</a:t>
            </a:r>
            <a:r>
              <a:rPr lang="zh-CN" altLang="en-US" sz="2400" dirty="0"/>
              <a:t>转成三个表</a:t>
            </a:r>
            <a:endParaRPr lang="en-US" altLang="zh-CN" sz="2400" dirty="0"/>
          </a:p>
          <a:p>
            <a:pPr marL="0" indent="0">
              <a:buNone/>
            </a:pPr>
            <a:r>
              <a:rPr lang="zh-CN" altLang="en-US" sz="2400" dirty="0"/>
              <a:t>院系（</a:t>
            </a:r>
            <a:r>
              <a:rPr lang="zh-CN" altLang="en-US" sz="2400" u="sng" dirty="0"/>
              <a:t>院系编号</a:t>
            </a:r>
            <a:r>
              <a:rPr lang="zh-CN" altLang="en-US" sz="2400" dirty="0"/>
              <a:t>，院系名称，院系地址，</a:t>
            </a:r>
            <a:r>
              <a:rPr lang="en-US" altLang="zh-CN" sz="2400" dirty="0"/>
              <a:t>…</a:t>
            </a:r>
            <a:r>
              <a:rPr lang="zh-CN" altLang="en-US" sz="2400" dirty="0"/>
              <a:t>）</a:t>
            </a:r>
            <a:endParaRPr lang="en-US" altLang="zh-CN" sz="2400" dirty="0"/>
          </a:p>
          <a:p>
            <a:pPr marL="0" indent="0">
              <a:buNone/>
            </a:pPr>
            <a:r>
              <a:rPr lang="zh-CN" altLang="en-US" sz="2400" dirty="0"/>
              <a:t>院长（</a:t>
            </a:r>
            <a:r>
              <a:rPr lang="zh-CN" altLang="en-US" sz="2400" u="sng" dirty="0"/>
              <a:t>院长工号</a:t>
            </a:r>
            <a:r>
              <a:rPr lang="zh-CN" altLang="en-US" sz="2400" dirty="0"/>
              <a:t>，姓名，性别</a:t>
            </a:r>
            <a:r>
              <a:rPr lang="en-US" altLang="zh-CN" sz="2400" dirty="0"/>
              <a:t>…..</a:t>
            </a:r>
            <a:r>
              <a:rPr lang="zh-CN" altLang="en-US" sz="2400" dirty="0"/>
              <a:t>）</a:t>
            </a:r>
            <a:endParaRPr lang="en-US" altLang="zh-CN" sz="2400" dirty="0"/>
          </a:p>
          <a:p>
            <a:pPr marL="0" indent="0">
              <a:buNone/>
            </a:pPr>
            <a:r>
              <a:rPr lang="zh-CN" altLang="en-US" sz="2400" dirty="0"/>
              <a:t>院系</a:t>
            </a:r>
            <a:r>
              <a:rPr lang="en-US" altLang="zh-CN" sz="2400" dirty="0"/>
              <a:t>-</a:t>
            </a:r>
            <a:r>
              <a:rPr lang="zh-CN" altLang="en-US" sz="2400" dirty="0"/>
              <a:t>院长（院系编号，院长工号，任期）</a:t>
            </a:r>
            <a:endParaRPr lang="en-US" altLang="zh-CN" sz="2400" dirty="0"/>
          </a:p>
          <a:p>
            <a:endParaRPr lang="en-US" altLang="zh-CN" sz="2400" dirty="0"/>
          </a:p>
          <a:p>
            <a:r>
              <a:rPr lang="en-US" altLang="zh-CN" sz="2400" dirty="0"/>
              <a:t>2.</a:t>
            </a:r>
            <a:r>
              <a:rPr lang="zh-CN" altLang="en-US" sz="2400" dirty="0"/>
              <a:t>转成两个表</a:t>
            </a:r>
            <a:endParaRPr lang="en-US" altLang="zh-CN" sz="2400" dirty="0"/>
          </a:p>
          <a:p>
            <a:pPr marL="0" indent="0">
              <a:buNone/>
            </a:pPr>
            <a:r>
              <a:rPr lang="zh-CN" altLang="en-US" sz="2400" dirty="0"/>
              <a:t>院系（</a:t>
            </a:r>
            <a:r>
              <a:rPr lang="zh-CN" altLang="en-US" sz="2400" u="sng" dirty="0"/>
              <a:t>院系编号</a:t>
            </a:r>
            <a:r>
              <a:rPr lang="zh-CN" altLang="en-US" sz="2400" dirty="0"/>
              <a:t>，院系名称，院系地址，</a:t>
            </a:r>
            <a:r>
              <a:rPr lang="en-US" altLang="zh-CN" sz="2400" dirty="0"/>
              <a:t>…</a:t>
            </a:r>
            <a:r>
              <a:rPr lang="zh-CN" altLang="en-US" sz="2400" dirty="0"/>
              <a:t>）</a:t>
            </a:r>
            <a:endParaRPr lang="en-US" altLang="zh-CN" sz="2400" dirty="0"/>
          </a:p>
          <a:p>
            <a:pPr marL="0" indent="0">
              <a:buNone/>
            </a:pPr>
            <a:r>
              <a:rPr lang="zh-CN" altLang="en-US" sz="2400" dirty="0"/>
              <a:t>院长（</a:t>
            </a:r>
            <a:r>
              <a:rPr lang="zh-CN" altLang="en-US" sz="2400" u="sng" dirty="0"/>
              <a:t>院长工号</a:t>
            </a:r>
            <a:r>
              <a:rPr lang="zh-CN" altLang="en-US" sz="2400" dirty="0"/>
              <a:t>，</a:t>
            </a:r>
            <a:r>
              <a:rPr lang="zh-CN" altLang="en-US" sz="2400" b="1" dirty="0">
                <a:solidFill>
                  <a:srgbClr val="0000FF"/>
                </a:solidFill>
              </a:rPr>
              <a:t>院系编号，任期，</a:t>
            </a:r>
            <a:r>
              <a:rPr lang="zh-CN" altLang="en-US" sz="2400" dirty="0"/>
              <a:t>姓名，性别</a:t>
            </a:r>
            <a:r>
              <a:rPr lang="en-US" altLang="zh-CN" sz="2400" dirty="0"/>
              <a:t>…..</a:t>
            </a:r>
            <a:r>
              <a:rPr lang="zh-CN" altLang="en-US" sz="2400" dirty="0"/>
              <a:t>）</a:t>
            </a:r>
            <a:endParaRPr lang="en-US" altLang="zh-CN" sz="2400" dirty="0"/>
          </a:p>
          <a:p>
            <a:endParaRPr lang="zh-CN" altLang="en-US" sz="2400" dirty="0"/>
          </a:p>
        </p:txBody>
      </p:sp>
      <p:grpSp>
        <p:nvGrpSpPr>
          <p:cNvPr id="93187" name="组合 31"/>
          <p:cNvGrpSpPr/>
          <p:nvPr/>
        </p:nvGrpSpPr>
        <p:grpSpPr>
          <a:xfrm>
            <a:off x="7319963" y="1844675"/>
            <a:ext cx="3786187" cy="4000500"/>
            <a:chOff x="2500298" y="1785926"/>
            <a:chExt cx="3786214" cy="4000528"/>
          </a:xfrm>
        </p:grpSpPr>
        <p:grpSp>
          <p:nvGrpSpPr>
            <p:cNvPr id="93188" name="Group 5"/>
            <p:cNvGrpSpPr/>
            <p:nvPr/>
          </p:nvGrpSpPr>
          <p:grpSpPr>
            <a:xfrm>
              <a:off x="3643306" y="2571744"/>
              <a:ext cx="1368425" cy="2841076"/>
              <a:chOff x="1056" y="1344"/>
              <a:chExt cx="1008" cy="2736"/>
            </a:xfrm>
          </p:grpSpPr>
          <p:sp>
            <p:nvSpPr>
              <p:cNvPr id="93189" name="Text Box 6"/>
              <p:cNvSpPr txBox="1"/>
              <p:nvPr/>
            </p:nvSpPr>
            <p:spPr>
              <a:xfrm>
                <a:off x="1105" y="1344"/>
                <a:ext cx="815"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院系</a:t>
                </a:r>
              </a:p>
            </p:txBody>
          </p:sp>
          <p:sp>
            <p:nvSpPr>
              <p:cNvPr id="93190" name="AutoShape 7"/>
              <p:cNvSpPr/>
              <p:nvPr/>
            </p:nvSpPr>
            <p:spPr>
              <a:xfrm>
                <a:off x="1056" y="2112"/>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dirty="0">
                    <a:latin typeface="楷体_GB2312" pitchFamily="49" charset="-122"/>
                    <a:ea typeface="楷体_GB2312" pitchFamily="49" charset="-122"/>
                  </a:rPr>
                  <a:t>院系</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院长</a:t>
                </a:r>
              </a:p>
            </p:txBody>
          </p:sp>
          <p:sp>
            <p:nvSpPr>
              <p:cNvPr id="93191" name="Text Box 8"/>
              <p:cNvSpPr txBox="1"/>
              <p:nvPr/>
            </p:nvSpPr>
            <p:spPr>
              <a:xfrm>
                <a:off x="1152" y="3166"/>
                <a:ext cx="816"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正院长</a:t>
                </a:r>
              </a:p>
            </p:txBody>
          </p:sp>
          <p:sp>
            <p:nvSpPr>
              <p:cNvPr id="93192" name="Line 9"/>
              <p:cNvSpPr/>
              <p:nvPr/>
            </p:nvSpPr>
            <p:spPr>
              <a:xfrm flipV="1">
                <a:off x="1536" y="1632"/>
                <a:ext cx="0" cy="480"/>
              </a:xfrm>
              <a:prstGeom prst="line">
                <a:avLst/>
              </a:prstGeom>
              <a:ln w="9525" cap="flat" cmpd="sng">
                <a:solidFill>
                  <a:schemeClr val="tx1"/>
                </a:solidFill>
                <a:prstDash val="solid"/>
                <a:round/>
                <a:headEnd type="none" w="med" len="med"/>
                <a:tailEnd type="none" w="med" len="med"/>
              </a:ln>
            </p:spPr>
          </p:sp>
          <p:sp>
            <p:nvSpPr>
              <p:cNvPr id="93193" name="Line 10"/>
              <p:cNvSpPr/>
              <p:nvPr/>
            </p:nvSpPr>
            <p:spPr>
              <a:xfrm>
                <a:off x="1536" y="2592"/>
                <a:ext cx="0" cy="576"/>
              </a:xfrm>
              <a:prstGeom prst="line">
                <a:avLst/>
              </a:prstGeom>
              <a:ln w="9525" cap="flat" cmpd="sng">
                <a:solidFill>
                  <a:schemeClr val="tx1"/>
                </a:solidFill>
                <a:prstDash val="solid"/>
                <a:round/>
                <a:headEnd type="none" w="med" len="med"/>
                <a:tailEnd type="none" w="med" len="med"/>
              </a:ln>
            </p:spPr>
          </p:sp>
          <p:sp>
            <p:nvSpPr>
              <p:cNvPr id="93194" name="Text Box 11"/>
              <p:cNvSpPr txBox="1"/>
              <p:nvPr/>
            </p:nvSpPr>
            <p:spPr>
              <a:xfrm>
                <a:off x="1152" y="177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1</a:t>
                </a:r>
              </a:p>
            </p:txBody>
          </p:sp>
          <p:sp>
            <p:nvSpPr>
              <p:cNvPr id="93195" name="Text Box 12"/>
              <p:cNvSpPr txBox="1"/>
              <p:nvPr/>
            </p:nvSpPr>
            <p:spPr>
              <a:xfrm>
                <a:off x="1200" y="273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1</a:t>
                </a:r>
              </a:p>
            </p:txBody>
          </p:sp>
          <p:sp>
            <p:nvSpPr>
              <p:cNvPr id="93196" name="Text Box 13"/>
              <p:cNvSpPr txBox="1"/>
              <p:nvPr/>
            </p:nvSpPr>
            <p:spPr>
              <a:xfrm>
                <a:off x="1200" y="3696"/>
                <a:ext cx="864" cy="384"/>
              </a:xfrm>
              <a:prstGeom prst="rect">
                <a:avLst/>
              </a:prstGeom>
              <a:noFill/>
              <a:ln w="9525">
                <a:noFill/>
              </a:ln>
            </p:spPr>
            <p:txBody>
              <a:bodyPr anchor="t" anchorCtr="0">
                <a:spAutoFit/>
              </a:bodyPr>
              <a:lstStyle/>
              <a:p>
                <a:pPr>
                  <a:spcBef>
                    <a:spcPct val="50000"/>
                  </a:spcBef>
                </a:pPr>
                <a:endParaRPr lang="zh-CN" altLang="en-US" sz="2000" b="1" dirty="0">
                  <a:latin typeface="楷体_GB2312" pitchFamily="49" charset="-122"/>
                  <a:ea typeface="楷体_GB2312" pitchFamily="49" charset="-122"/>
                </a:endParaRPr>
              </a:p>
            </p:txBody>
          </p:sp>
        </p:grpSp>
        <p:sp>
          <p:nvSpPr>
            <p:cNvPr id="19" name="椭圆 18"/>
            <p:cNvSpPr/>
            <p:nvPr/>
          </p:nvSpPr>
          <p:spPr>
            <a:xfrm>
              <a:off x="2857488"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院系号</a:t>
              </a:r>
            </a:p>
          </p:txBody>
        </p:sp>
        <p:sp>
          <p:nvSpPr>
            <p:cNvPr id="20" name="椭圆 19"/>
            <p:cNvSpPr/>
            <p:nvPr/>
          </p:nvSpPr>
          <p:spPr>
            <a:xfrm>
              <a:off x="4429124"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院系名</a:t>
              </a:r>
            </a:p>
          </p:txBody>
        </p:sp>
        <p:sp>
          <p:nvSpPr>
            <p:cNvPr id="21" name="椭圆 20"/>
            <p:cNvSpPr/>
            <p:nvPr/>
          </p:nvSpPr>
          <p:spPr>
            <a:xfrm>
              <a:off x="250029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工号</a:t>
              </a:r>
            </a:p>
          </p:txBody>
        </p:sp>
        <p:sp>
          <p:nvSpPr>
            <p:cNvPr id="22" name="椭圆 21"/>
            <p:cNvSpPr/>
            <p:nvPr/>
          </p:nvSpPr>
          <p:spPr>
            <a:xfrm>
              <a:off x="392905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姓名</a:t>
              </a:r>
            </a:p>
          </p:txBody>
        </p:sp>
        <p:sp>
          <p:nvSpPr>
            <p:cNvPr id="23" name="椭圆 22"/>
            <p:cNvSpPr/>
            <p:nvPr/>
          </p:nvSpPr>
          <p:spPr>
            <a:xfrm>
              <a:off x="5214942"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性别</a:t>
              </a:r>
            </a:p>
          </p:txBody>
        </p:sp>
        <p:cxnSp>
          <p:nvCxnSpPr>
            <p:cNvPr id="24" name="直接连接符 23"/>
            <p:cNvCxnSpPr>
              <a:stCxn id="19" idx="5"/>
            </p:cNvCxnSpPr>
            <p:nvPr/>
          </p:nvCxnSpPr>
          <p:spPr>
            <a:xfrm rot="16200000" flipH="1">
              <a:off x="3746493" y="2176453"/>
              <a:ext cx="412753" cy="3619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0" idx="4"/>
            </p:cNvCxnSpPr>
            <p:nvPr/>
          </p:nvCxnSpPr>
          <p:spPr>
            <a:xfrm rot="5400000">
              <a:off x="4590255" y="2196297"/>
              <a:ext cx="357191" cy="3937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93191" idx="2"/>
            </p:cNvCxnSpPr>
            <p:nvPr/>
          </p:nvCxnSpPr>
          <p:spPr>
            <a:xfrm rot="5400000">
              <a:off x="3557422" y="4572166"/>
              <a:ext cx="419103" cy="112237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3" idx="0"/>
            </p:cNvCxnSpPr>
            <p:nvPr/>
          </p:nvCxnSpPr>
          <p:spPr>
            <a:xfrm>
              <a:off x="4857752" y="4929198"/>
              <a:ext cx="893769" cy="4286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endCxn id="22" idx="0"/>
            </p:cNvCxnSpPr>
            <p:nvPr/>
          </p:nvCxnSpPr>
          <p:spPr>
            <a:xfrm rot="16200000" flipH="1">
              <a:off x="4196552" y="5090331"/>
              <a:ext cx="428628" cy="1063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4965703" y="3617914"/>
              <a:ext cx="534992" cy="793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椭圆 30"/>
          <p:cNvSpPr/>
          <p:nvPr/>
        </p:nvSpPr>
        <p:spPr bwMode="auto">
          <a:xfrm>
            <a:off x="10033953" y="3416300"/>
            <a:ext cx="1071563" cy="428625"/>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任期</a:t>
            </a:r>
          </a:p>
        </p:txBody>
      </p:sp>
    </p:spTree>
    <p:extLst>
      <p:ext uri="{BB962C8B-B14F-4D97-AF65-F5344CB8AC3E}">
        <p14:creationId xmlns:p14="http://schemas.microsoft.com/office/powerpoint/2010/main" val="3713354599"/>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 calcmode="lin" valueType="num">
                                      <p:cBhvr additive="base">
                                        <p:cTn id="7" dur="500" fill="hold"/>
                                        <p:tgtEl>
                                          <p:spTgt spid="819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23">
                                            <p:txEl>
                                              <p:pRg st="1" end="1"/>
                                            </p:txEl>
                                          </p:spTgt>
                                        </p:tgtEl>
                                        <p:attrNameLst>
                                          <p:attrName>style.visibility</p:attrName>
                                        </p:attrNameLst>
                                      </p:cBhvr>
                                      <p:to>
                                        <p:strVal val="visible"/>
                                      </p:to>
                                    </p:set>
                                    <p:anim calcmode="lin" valueType="num">
                                      <p:cBhvr additive="base">
                                        <p:cTn id="13" dur="500" fill="hold"/>
                                        <p:tgtEl>
                                          <p:spTgt spid="819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923">
                                            <p:txEl>
                                              <p:pRg st="2" end="2"/>
                                            </p:txEl>
                                          </p:spTgt>
                                        </p:tgtEl>
                                        <p:attrNameLst>
                                          <p:attrName>style.visibility</p:attrName>
                                        </p:attrNameLst>
                                      </p:cBhvr>
                                      <p:to>
                                        <p:strVal val="visible"/>
                                      </p:to>
                                    </p:set>
                                    <p:anim calcmode="lin" valueType="num">
                                      <p:cBhvr additive="base">
                                        <p:cTn id="19" dur="500" fill="hold"/>
                                        <p:tgtEl>
                                          <p:spTgt spid="819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1923">
                                            <p:txEl>
                                              <p:pRg st="3" end="3"/>
                                            </p:txEl>
                                          </p:spTgt>
                                        </p:tgtEl>
                                        <p:attrNameLst>
                                          <p:attrName>style.visibility</p:attrName>
                                        </p:attrNameLst>
                                      </p:cBhvr>
                                      <p:to>
                                        <p:strVal val="visible"/>
                                      </p:to>
                                    </p:set>
                                    <p:anim calcmode="lin" valueType="num">
                                      <p:cBhvr additive="base">
                                        <p:cTn id="25" dur="500" fill="hold"/>
                                        <p:tgtEl>
                                          <p:spTgt spid="819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1923">
                                            <p:txEl>
                                              <p:pRg st="5" end="5"/>
                                            </p:txEl>
                                          </p:spTgt>
                                        </p:tgtEl>
                                        <p:attrNameLst>
                                          <p:attrName>style.visibility</p:attrName>
                                        </p:attrNameLst>
                                      </p:cBhvr>
                                      <p:to>
                                        <p:strVal val="visible"/>
                                      </p:to>
                                    </p:set>
                                    <p:anim calcmode="lin" valueType="num">
                                      <p:cBhvr additive="base">
                                        <p:cTn id="31" dur="500" fill="hold"/>
                                        <p:tgtEl>
                                          <p:spTgt spid="8192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192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1923">
                                            <p:txEl>
                                              <p:pRg st="6" end="6"/>
                                            </p:txEl>
                                          </p:spTgt>
                                        </p:tgtEl>
                                        <p:attrNameLst>
                                          <p:attrName>style.visibility</p:attrName>
                                        </p:attrNameLst>
                                      </p:cBhvr>
                                      <p:to>
                                        <p:strVal val="visible"/>
                                      </p:to>
                                    </p:set>
                                    <p:anim calcmode="lin" valueType="num">
                                      <p:cBhvr additive="base">
                                        <p:cTn id="37" dur="500" fill="hold"/>
                                        <p:tgtEl>
                                          <p:spTgt spid="8192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192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1923">
                                            <p:txEl>
                                              <p:pRg st="7" end="7"/>
                                            </p:txEl>
                                          </p:spTgt>
                                        </p:tgtEl>
                                        <p:attrNameLst>
                                          <p:attrName>style.visibility</p:attrName>
                                        </p:attrNameLst>
                                      </p:cBhvr>
                                      <p:to>
                                        <p:strVal val="visible"/>
                                      </p:to>
                                    </p:set>
                                    <p:anim calcmode="lin" valueType="num">
                                      <p:cBhvr additive="base">
                                        <p:cTn id="43" dur="500" fill="hold"/>
                                        <p:tgtEl>
                                          <p:spTgt spid="8192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192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p:cNvSpPr>
            <a:spLocks noGrp="1"/>
          </p:cNvSpPr>
          <p:nvPr>
            <p:ph type="title"/>
          </p:nvPr>
        </p:nvSpPr>
        <p:spPr/>
        <p:txBody>
          <a:bodyPr vert="horz" wrap="square" lIns="91440" tIns="45720" rIns="91440" bIns="45720" anchor="b" anchorCtr="0"/>
          <a:lstStyle/>
          <a:p>
            <a:r>
              <a:rPr lang="zh-CN" altLang="en-US" dirty="0"/>
              <a:t>提问：</a:t>
            </a:r>
          </a:p>
        </p:txBody>
      </p:sp>
      <p:grpSp>
        <p:nvGrpSpPr>
          <p:cNvPr id="94210" name="组合 31"/>
          <p:cNvGrpSpPr/>
          <p:nvPr/>
        </p:nvGrpSpPr>
        <p:grpSpPr>
          <a:xfrm>
            <a:off x="4013200" y="1674813"/>
            <a:ext cx="3786188" cy="4000500"/>
            <a:chOff x="2500298" y="1785926"/>
            <a:chExt cx="3786214" cy="4000528"/>
          </a:xfrm>
        </p:grpSpPr>
        <p:grpSp>
          <p:nvGrpSpPr>
            <p:cNvPr id="94211" name="Group 5"/>
            <p:cNvGrpSpPr/>
            <p:nvPr/>
          </p:nvGrpSpPr>
          <p:grpSpPr>
            <a:xfrm>
              <a:off x="3643306" y="2571744"/>
              <a:ext cx="1368425" cy="2841076"/>
              <a:chOff x="1056" y="1344"/>
              <a:chExt cx="1008" cy="2736"/>
            </a:xfrm>
          </p:grpSpPr>
          <p:sp>
            <p:nvSpPr>
              <p:cNvPr id="94212" name="Text Box 6"/>
              <p:cNvSpPr txBox="1"/>
              <p:nvPr/>
            </p:nvSpPr>
            <p:spPr>
              <a:xfrm>
                <a:off x="1105" y="1344"/>
                <a:ext cx="815"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经理</a:t>
                </a:r>
              </a:p>
            </p:txBody>
          </p:sp>
          <p:sp>
            <p:nvSpPr>
              <p:cNvPr id="94213" name="AutoShape 7"/>
              <p:cNvSpPr/>
              <p:nvPr/>
            </p:nvSpPr>
            <p:spPr>
              <a:xfrm>
                <a:off x="1056" y="2112"/>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dirty="0">
                    <a:latin typeface="楷体_GB2312" pitchFamily="49" charset="-122"/>
                    <a:ea typeface="楷体_GB2312" pitchFamily="49" charset="-122"/>
                  </a:rPr>
                  <a:t>管理</a:t>
                </a:r>
              </a:p>
            </p:txBody>
          </p:sp>
          <p:sp>
            <p:nvSpPr>
              <p:cNvPr id="94214" name="Text Box 8"/>
              <p:cNvSpPr txBox="1"/>
              <p:nvPr/>
            </p:nvSpPr>
            <p:spPr>
              <a:xfrm>
                <a:off x="1152" y="3166"/>
                <a:ext cx="816"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商店</a:t>
                </a:r>
              </a:p>
            </p:txBody>
          </p:sp>
          <p:sp>
            <p:nvSpPr>
              <p:cNvPr id="94215" name="Line 9"/>
              <p:cNvSpPr/>
              <p:nvPr/>
            </p:nvSpPr>
            <p:spPr>
              <a:xfrm flipV="1">
                <a:off x="1536" y="1632"/>
                <a:ext cx="0" cy="480"/>
              </a:xfrm>
              <a:prstGeom prst="line">
                <a:avLst/>
              </a:prstGeom>
              <a:ln w="9525" cap="flat" cmpd="sng">
                <a:solidFill>
                  <a:schemeClr val="tx1"/>
                </a:solidFill>
                <a:prstDash val="solid"/>
                <a:round/>
                <a:headEnd type="none" w="med" len="med"/>
                <a:tailEnd type="none" w="med" len="med"/>
              </a:ln>
            </p:spPr>
          </p:sp>
          <p:sp>
            <p:nvSpPr>
              <p:cNvPr id="94216" name="Line 10"/>
              <p:cNvSpPr/>
              <p:nvPr/>
            </p:nvSpPr>
            <p:spPr>
              <a:xfrm>
                <a:off x="1536" y="2592"/>
                <a:ext cx="0" cy="576"/>
              </a:xfrm>
              <a:prstGeom prst="line">
                <a:avLst/>
              </a:prstGeom>
              <a:ln w="9525" cap="flat" cmpd="sng">
                <a:solidFill>
                  <a:schemeClr val="tx1"/>
                </a:solidFill>
                <a:prstDash val="solid"/>
                <a:round/>
                <a:headEnd type="none" w="med" len="med"/>
                <a:tailEnd type="none" w="med" len="med"/>
              </a:ln>
            </p:spPr>
          </p:sp>
          <p:sp>
            <p:nvSpPr>
              <p:cNvPr id="94217" name="Text Box 11"/>
              <p:cNvSpPr txBox="1"/>
              <p:nvPr/>
            </p:nvSpPr>
            <p:spPr>
              <a:xfrm>
                <a:off x="1152" y="177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1</a:t>
                </a:r>
              </a:p>
            </p:txBody>
          </p:sp>
          <p:sp>
            <p:nvSpPr>
              <p:cNvPr id="94218" name="Text Box 12"/>
              <p:cNvSpPr txBox="1"/>
              <p:nvPr/>
            </p:nvSpPr>
            <p:spPr>
              <a:xfrm>
                <a:off x="1200" y="273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1</a:t>
                </a:r>
              </a:p>
            </p:txBody>
          </p:sp>
          <p:sp>
            <p:nvSpPr>
              <p:cNvPr id="94219" name="Text Box 13"/>
              <p:cNvSpPr txBox="1"/>
              <p:nvPr/>
            </p:nvSpPr>
            <p:spPr>
              <a:xfrm>
                <a:off x="1200" y="3696"/>
                <a:ext cx="864" cy="384"/>
              </a:xfrm>
              <a:prstGeom prst="rect">
                <a:avLst/>
              </a:prstGeom>
              <a:noFill/>
              <a:ln w="9525">
                <a:noFill/>
              </a:ln>
            </p:spPr>
            <p:txBody>
              <a:bodyPr anchor="t" anchorCtr="0">
                <a:spAutoFit/>
              </a:bodyPr>
              <a:lstStyle/>
              <a:p>
                <a:pPr>
                  <a:spcBef>
                    <a:spcPct val="50000"/>
                  </a:spcBef>
                </a:pPr>
                <a:endParaRPr lang="zh-CN" altLang="en-US" sz="2000" b="1" dirty="0">
                  <a:latin typeface="楷体_GB2312" pitchFamily="49" charset="-122"/>
                  <a:ea typeface="楷体_GB2312" pitchFamily="49" charset="-122"/>
                </a:endParaRPr>
              </a:p>
            </p:txBody>
          </p:sp>
        </p:grpSp>
        <p:sp>
          <p:nvSpPr>
            <p:cNvPr id="17" name="椭圆 16"/>
            <p:cNvSpPr/>
            <p:nvPr/>
          </p:nvSpPr>
          <p:spPr>
            <a:xfrm>
              <a:off x="2857488" y="1785926"/>
              <a:ext cx="1071569"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经理号</a:t>
              </a:r>
            </a:p>
          </p:txBody>
        </p:sp>
        <p:sp>
          <p:nvSpPr>
            <p:cNvPr id="18" name="椭圆 17"/>
            <p:cNvSpPr/>
            <p:nvPr/>
          </p:nvSpPr>
          <p:spPr>
            <a:xfrm>
              <a:off x="4429124" y="1785926"/>
              <a:ext cx="1071569"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经理名</a:t>
              </a:r>
            </a:p>
          </p:txBody>
        </p:sp>
        <p:sp>
          <p:nvSpPr>
            <p:cNvPr id="19" name="椭圆 18"/>
            <p:cNvSpPr/>
            <p:nvPr/>
          </p:nvSpPr>
          <p:spPr>
            <a:xfrm>
              <a:off x="250029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商店号</a:t>
              </a:r>
            </a:p>
          </p:txBody>
        </p:sp>
        <p:sp>
          <p:nvSpPr>
            <p:cNvPr id="20" name="椭圆 19"/>
            <p:cNvSpPr/>
            <p:nvPr/>
          </p:nvSpPr>
          <p:spPr>
            <a:xfrm>
              <a:off x="392905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商店名</a:t>
              </a:r>
            </a:p>
          </p:txBody>
        </p:sp>
        <p:sp>
          <p:nvSpPr>
            <p:cNvPr id="21" name="椭圆 20"/>
            <p:cNvSpPr/>
            <p:nvPr/>
          </p:nvSpPr>
          <p:spPr>
            <a:xfrm>
              <a:off x="5214942"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地址</a:t>
              </a:r>
            </a:p>
          </p:txBody>
        </p:sp>
        <p:cxnSp>
          <p:nvCxnSpPr>
            <p:cNvPr id="22" name="直接连接符 21"/>
            <p:cNvCxnSpPr>
              <a:stCxn id="17" idx="5"/>
            </p:cNvCxnSpPr>
            <p:nvPr/>
          </p:nvCxnSpPr>
          <p:spPr>
            <a:xfrm rot="16200000" flipH="1">
              <a:off x="3746495" y="2176453"/>
              <a:ext cx="412753" cy="361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8" idx="4"/>
            </p:cNvCxnSpPr>
            <p:nvPr/>
          </p:nvCxnSpPr>
          <p:spPr>
            <a:xfrm rot="5400000">
              <a:off x="4590255" y="2196297"/>
              <a:ext cx="357189" cy="3937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94214" idx="2"/>
            </p:cNvCxnSpPr>
            <p:nvPr/>
          </p:nvCxnSpPr>
          <p:spPr>
            <a:xfrm rot="5400000">
              <a:off x="3557421" y="4571530"/>
              <a:ext cx="419103" cy="11223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endCxn id="21" idx="0"/>
            </p:cNvCxnSpPr>
            <p:nvPr/>
          </p:nvCxnSpPr>
          <p:spPr>
            <a:xfrm>
              <a:off x="4857752" y="4929198"/>
              <a:ext cx="893768" cy="4286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0" idx="0"/>
            </p:cNvCxnSpPr>
            <p:nvPr/>
          </p:nvCxnSpPr>
          <p:spPr>
            <a:xfrm rot="16200000" flipH="1">
              <a:off x="4196554" y="5090330"/>
              <a:ext cx="428628" cy="1063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flipV="1">
              <a:off x="4945065" y="3608389"/>
              <a:ext cx="587379" cy="95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 name="椭圆 27"/>
          <p:cNvSpPr/>
          <p:nvPr/>
        </p:nvSpPr>
        <p:spPr bwMode="auto">
          <a:xfrm>
            <a:off x="7032625" y="3287713"/>
            <a:ext cx="1071563" cy="428625"/>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任职时间</a:t>
            </a:r>
          </a:p>
        </p:txBody>
      </p:sp>
    </p:spTree>
    <p:extLst>
      <p:ext uri="{BB962C8B-B14F-4D97-AF65-F5344CB8AC3E}">
        <p14:creationId xmlns:p14="http://schemas.microsoft.com/office/powerpoint/2010/main" val="2699490258"/>
      </p:ext>
    </p:extLst>
  </p:cSld>
  <p:clrMapOvr>
    <a:masterClrMapping/>
  </p:clrMapOvr>
  <p:transition advClick="0"/>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内容占位符 2"/>
          <p:cNvSpPr>
            <a:spLocks noGrp="1"/>
          </p:cNvSpPr>
          <p:nvPr>
            <p:ph idx="1"/>
          </p:nvPr>
        </p:nvSpPr>
        <p:spPr>
          <a:xfrm>
            <a:off x="908685" y="1025525"/>
            <a:ext cx="10618470" cy="5643880"/>
          </a:xfrm>
        </p:spPr>
        <p:txBody>
          <a:bodyPr vert="horz" wrap="square" lIns="91440" tIns="45720" rIns="91440" bIns="45720" anchor="t" anchorCtr="0"/>
          <a:lstStyle/>
          <a:p>
            <a:r>
              <a:rPr lang="zh-CN" altLang="en-US" b="1" dirty="0"/>
              <a:t>一个</a:t>
            </a:r>
            <a:r>
              <a:rPr lang="en-US" altLang="zh-CN" b="1" dirty="0"/>
              <a:t>1:n</a:t>
            </a:r>
            <a:r>
              <a:rPr lang="zh-CN" altLang="en-US" b="1" dirty="0"/>
              <a:t>联系可以转换为一个独立的关系模式，也可以与</a:t>
            </a:r>
            <a:r>
              <a:rPr lang="en-US" altLang="zh-CN" b="1" dirty="0"/>
              <a:t>n</a:t>
            </a:r>
            <a:r>
              <a:rPr lang="zh-CN" altLang="en-US" b="1" dirty="0"/>
              <a:t>端对应的关系模式合并。 </a:t>
            </a:r>
          </a:p>
          <a:p>
            <a:pPr marL="0" indent="0">
              <a:buNone/>
            </a:pPr>
            <a:r>
              <a:rPr lang="en-US" altLang="zh-CN" sz="2400" dirty="0" smtClean="0"/>
              <a:t>	</a:t>
            </a:r>
            <a:r>
              <a:rPr lang="zh-CN" altLang="en-US" sz="2400" dirty="0" smtClean="0"/>
              <a:t>①</a:t>
            </a:r>
            <a:r>
              <a:rPr lang="zh-CN" altLang="en-US" sz="2400" dirty="0"/>
              <a:t>转换为一个独立的关系模式 </a:t>
            </a:r>
          </a:p>
          <a:p>
            <a:r>
              <a:rPr lang="zh-CN" altLang="en-US" sz="2400" dirty="0"/>
              <a:t>关系的属性：与该联系相连的各实体的码以及联系本身的属性 </a:t>
            </a:r>
          </a:p>
          <a:p>
            <a:r>
              <a:rPr lang="zh-CN" altLang="en-US" sz="2400" dirty="0"/>
              <a:t>关系的码：</a:t>
            </a:r>
            <a:r>
              <a:rPr lang="en-US" altLang="zh-CN" sz="2400" b="1" dirty="0">
                <a:solidFill>
                  <a:srgbClr val="0000FF"/>
                </a:solidFill>
              </a:rPr>
              <a:t>n</a:t>
            </a:r>
            <a:r>
              <a:rPr lang="zh-CN" altLang="en-US" sz="2400" b="1" dirty="0">
                <a:solidFill>
                  <a:srgbClr val="0000FF"/>
                </a:solidFill>
              </a:rPr>
              <a:t>端实体的码 </a:t>
            </a:r>
          </a:p>
          <a:p>
            <a:pPr marL="0" indent="0">
              <a:buNone/>
            </a:pPr>
            <a:r>
              <a:rPr lang="en-US" altLang="zh-CN" sz="2400" dirty="0" smtClean="0"/>
              <a:t>	</a:t>
            </a:r>
            <a:r>
              <a:rPr lang="zh-CN" altLang="en-US" sz="2400" dirty="0" smtClean="0"/>
              <a:t>②</a:t>
            </a:r>
            <a:r>
              <a:rPr lang="zh-CN" altLang="en-US" sz="2400" dirty="0"/>
              <a:t>与</a:t>
            </a:r>
            <a:r>
              <a:rPr lang="en-US" altLang="zh-CN" sz="2400" b="1" dirty="0"/>
              <a:t>n</a:t>
            </a:r>
            <a:r>
              <a:rPr lang="zh-CN" altLang="en-US" sz="2400" b="1" dirty="0"/>
              <a:t>端对应的关系模式合并 </a:t>
            </a:r>
          </a:p>
          <a:p>
            <a:r>
              <a:rPr lang="zh-CN" altLang="en-US" sz="2400" dirty="0"/>
              <a:t>合并后关系的属性：在</a:t>
            </a:r>
            <a:r>
              <a:rPr lang="en-US" altLang="zh-CN" sz="2400" b="1" dirty="0"/>
              <a:t>n</a:t>
            </a:r>
            <a:r>
              <a:rPr lang="zh-CN" altLang="en-US" sz="2400" b="1" dirty="0"/>
              <a:t>端关系中加入</a:t>
            </a:r>
            <a:r>
              <a:rPr lang="en-US" altLang="zh-CN" sz="2400" b="1" dirty="0"/>
              <a:t>1</a:t>
            </a:r>
            <a:r>
              <a:rPr lang="zh-CN" altLang="en-US" sz="2400" b="1" dirty="0"/>
              <a:t>端关系的码和联系本身的属性 </a:t>
            </a:r>
          </a:p>
          <a:p>
            <a:r>
              <a:rPr lang="zh-CN" altLang="en-US" sz="2400" dirty="0"/>
              <a:t>合并后关系的码：不变 </a:t>
            </a:r>
          </a:p>
          <a:p>
            <a:r>
              <a:rPr lang="zh-CN" altLang="en-US" sz="2400" dirty="0"/>
              <a:t>可以减少系统中的关系个数，一般情况下更倾向于采用这种方法 </a:t>
            </a:r>
          </a:p>
        </p:txBody>
      </p:sp>
      <p:sp>
        <p:nvSpPr>
          <p:cNvPr id="3" name="标题 1"/>
          <p:cNvSpPr>
            <a:spLocks noGrp="1"/>
          </p:cNvSpPr>
          <p:nvPr>
            <p:ph type="title"/>
          </p:nvPr>
        </p:nvSpPr>
        <p:spPr>
          <a:xfrm>
            <a:off x="695325" y="214313"/>
            <a:ext cx="8001000" cy="73501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3800" b="0" i="0" u="none" strike="noStrike" kern="0" cap="none" spc="0" normalizeH="0" baseline="0" noProof="0" dirty="0" smtClean="0">
                <a:ln>
                  <a:noFill/>
                </a:ln>
                <a:solidFill>
                  <a:schemeClr val="tx1"/>
                </a:solidFill>
                <a:effectLst/>
                <a:uLnTx/>
                <a:uFillTx/>
                <a:latin typeface="+mn-lt"/>
                <a:ea typeface="+mn-ea"/>
                <a:cs typeface="+mn-cs"/>
              </a:rPr>
              <a:t>2</a:t>
            </a: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3800" b="0" i="0" u="none" strike="noStrike" kern="0" cap="none" spc="0" normalizeH="0" baseline="0" noProof="0" dirty="0" smtClean="0">
                <a:ln>
                  <a:noFill/>
                </a:ln>
                <a:solidFill>
                  <a:schemeClr val="tx1"/>
                </a:solidFill>
                <a:effectLst/>
                <a:uLnTx/>
                <a:uFillTx/>
                <a:latin typeface="+mn-lt"/>
                <a:ea typeface="+mn-ea"/>
                <a:cs typeface="+mn-cs"/>
              </a:rPr>
              <a:t>1:n</a:t>
            </a: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的联系 </a:t>
            </a:r>
            <a:endParaRPr kumimoji="0" lang="zh-CN" altLang="en-US" sz="3800" b="0"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val="3922747736"/>
      </p:ext>
    </p:extLst>
  </p:cSld>
  <p:clrMapOvr>
    <a:masterClrMapping/>
  </p:clrMapOvr>
  <p:transition advClick="0"/>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a:spLocks noGrp="1"/>
          </p:cNvSpPr>
          <p:nvPr>
            <p:ph type="title"/>
          </p:nvPr>
        </p:nvSpPr>
        <p:spPr/>
        <p:txBody>
          <a:bodyPr vert="horz" wrap="square" lIns="91440" tIns="45720" rIns="91440" bIns="45720" anchor="b" anchorCtr="0"/>
          <a:lstStyle/>
          <a:p>
            <a:r>
              <a:rPr lang="zh-CN" altLang="en-US" dirty="0"/>
              <a:t>例题：</a:t>
            </a:r>
          </a:p>
        </p:txBody>
      </p:sp>
      <p:sp>
        <p:nvSpPr>
          <p:cNvPr id="87043" name="TextBox 15"/>
          <p:cNvSpPr txBox="1"/>
          <p:nvPr/>
        </p:nvSpPr>
        <p:spPr>
          <a:xfrm>
            <a:off x="5006975" y="1556385"/>
            <a:ext cx="6939280" cy="3415030"/>
          </a:xfrm>
          <a:prstGeom prst="rect">
            <a:avLst/>
          </a:prstGeom>
          <a:noFill/>
          <a:ln w="9525">
            <a:noFill/>
          </a:ln>
        </p:spPr>
        <p:txBody>
          <a:bodyPr wrap="square" anchor="t" anchorCtr="0">
            <a:spAutoFit/>
          </a:bodyPr>
          <a:lstStyle/>
          <a:p>
            <a:pPr eaLnBrk="0" hangingPunct="0"/>
            <a:r>
              <a:rPr lang="zh-CN" altLang="en-US" sz="2400" dirty="0">
                <a:latin typeface="Verdana" panose="020B0604030504040204" pitchFamily="34" charset="0"/>
                <a:ea typeface="宋体" panose="02010600030101010101" pitchFamily="2" charset="-122"/>
              </a:rPr>
              <a:t>方法</a:t>
            </a:r>
            <a:r>
              <a:rPr lang="en-US" altLang="zh-CN" sz="2400" dirty="0">
                <a:latin typeface="Verdana" panose="020B0604030504040204" pitchFamily="34" charset="0"/>
                <a:ea typeface="宋体" panose="02010600030101010101" pitchFamily="2" charset="-122"/>
              </a:rPr>
              <a:t>1</a:t>
            </a:r>
            <a:r>
              <a:rPr lang="zh-CN" altLang="en-US" sz="2400" dirty="0">
                <a:latin typeface="Verdana" panose="020B0604030504040204" pitchFamily="34" charset="0"/>
                <a:ea typeface="宋体" panose="02010600030101010101" pitchFamily="2" charset="-122"/>
              </a:rPr>
              <a:t>：转成三个表</a:t>
            </a:r>
            <a:endParaRPr lang="en-US" altLang="zh-CN" sz="2400" dirty="0">
              <a:latin typeface="Verdana" panose="020B0604030504040204" pitchFamily="34" charset="0"/>
              <a:ea typeface="宋体" panose="02010600030101010101" pitchFamily="2" charset="-122"/>
            </a:endParaRPr>
          </a:p>
          <a:p>
            <a:pPr eaLnBrk="0" hangingPunct="0"/>
            <a:r>
              <a:rPr lang="zh-CN" altLang="en-US" sz="2400" b="1" dirty="0">
                <a:latin typeface="Verdana" panose="020B0604030504040204" pitchFamily="34" charset="0"/>
                <a:ea typeface="宋体" panose="02010600030101010101" pitchFamily="2" charset="-122"/>
              </a:rPr>
              <a:t>班级（</a:t>
            </a:r>
            <a:r>
              <a:rPr lang="zh-CN" altLang="en-US" sz="2400" b="1" u="sng" dirty="0">
                <a:latin typeface="Verdana" panose="020B0604030504040204" pitchFamily="34" charset="0"/>
                <a:ea typeface="宋体" panose="02010600030101010101" pitchFamily="2" charset="-122"/>
              </a:rPr>
              <a:t>班级号</a:t>
            </a:r>
            <a:r>
              <a:rPr lang="zh-CN" altLang="en-US" sz="2400" b="1" dirty="0">
                <a:latin typeface="Verdana" panose="020B0604030504040204" pitchFamily="34" charset="0"/>
                <a:ea typeface="宋体" panose="02010600030101010101" pitchFamily="2" charset="-122"/>
              </a:rPr>
              <a:t>，班级名称，</a:t>
            </a:r>
            <a:r>
              <a:rPr lang="en-US" altLang="zh-CN" sz="2400" b="1" dirty="0">
                <a:latin typeface="Verdana" panose="020B0604030504040204" pitchFamily="34" charset="0"/>
                <a:ea typeface="宋体" panose="02010600030101010101" pitchFamily="2" charset="-122"/>
              </a:rPr>
              <a:t>…</a:t>
            </a:r>
            <a:r>
              <a:rPr lang="zh-CN" altLang="en-US" sz="2400" b="1" dirty="0">
                <a:latin typeface="Verdana" panose="020B0604030504040204" pitchFamily="34" charset="0"/>
                <a:ea typeface="宋体" panose="02010600030101010101" pitchFamily="2" charset="-122"/>
              </a:rPr>
              <a:t>）</a:t>
            </a:r>
            <a:endParaRPr lang="en-US" altLang="zh-CN" sz="2400" b="1" dirty="0">
              <a:latin typeface="Verdana" panose="020B0604030504040204" pitchFamily="34" charset="0"/>
              <a:ea typeface="宋体" panose="02010600030101010101" pitchFamily="2" charset="-122"/>
            </a:endParaRPr>
          </a:p>
          <a:p>
            <a:pPr eaLnBrk="0" hangingPunct="0"/>
            <a:r>
              <a:rPr lang="zh-CN" altLang="en-US" sz="2400" b="1" dirty="0">
                <a:latin typeface="Verdana" panose="020B0604030504040204" pitchFamily="34" charset="0"/>
                <a:ea typeface="宋体" panose="02010600030101010101" pitchFamily="2" charset="-122"/>
              </a:rPr>
              <a:t>学生（</a:t>
            </a:r>
            <a:r>
              <a:rPr lang="zh-CN" altLang="en-US" sz="2400" b="1" u="sng" dirty="0">
                <a:latin typeface="Verdana" panose="020B0604030504040204" pitchFamily="34" charset="0"/>
                <a:ea typeface="宋体" panose="02010600030101010101" pitchFamily="2" charset="-122"/>
              </a:rPr>
              <a:t>学号</a:t>
            </a:r>
            <a:r>
              <a:rPr lang="zh-CN" altLang="en-US" sz="2400" b="1" dirty="0">
                <a:latin typeface="Verdana" panose="020B0604030504040204" pitchFamily="34" charset="0"/>
                <a:ea typeface="宋体" panose="02010600030101010101" pitchFamily="2" charset="-122"/>
              </a:rPr>
              <a:t>，姓名，性别，</a:t>
            </a:r>
            <a:r>
              <a:rPr lang="en-US" altLang="zh-CN" sz="2400" b="1" dirty="0">
                <a:latin typeface="Verdana" panose="020B0604030504040204" pitchFamily="34" charset="0"/>
                <a:ea typeface="宋体" panose="02010600030101010101" pitchFamily="2" charset="-122"/>
              </a:rPr>
              <a:t>….</a:t>
            </a:r>
            <a:r>
              <a:rPr lang="zh-CN" altLang="en-US" sz="2400" b="1" dirty="0">
                <a:latin typeface="Verdana" panose="020B0604030504040204" pitchFamily="34" charset="0"/>
                <a:ea typeface="宋体" panose="02010600030101010101" pitchFamily="2" charset="-122"/>
              </a:rPr>
              <a:t>）</a:t>
            </a:r>
            <a:endParaRPr lang="en-US" altLang="zh-CN" sz="2400" b="1" dirty="0">
              <a:latin typeface="Verdana" panose="020B0604030504040204" pitchFamily="34" charset="0"/>
              <a:ea typeface="宋体" panose="02010600030101010101" pitchFamily="2" charset="-122"/>
            </a:endParaRPr>
          </a:p>
          <a:p>
            <a:pPr eaLnBrk="0" hangingPunct="0"/>
            <a:r>
              <a:rPr lang="zh-CN" altLang="en-US" sz="2400" b="1" dirty="0">
                <a:latin typeface="Verdana" panose="020B0604030504040204" pitchFamily="34" charset="0"/>
                <a:ea typeface="宋体" panose="02010600030101010101" pitchFamily="2" charset="-122"/>
              </a:rPr>
              <a:t>学生</a:t>
            </a:r>
            <a:r>
              <a:rPr lang="en-US" altLang="zh-CN" sz="2400" b="1" dirty="0">
                <a:latin typeface="Verdana" panose="020B0604030504040204" pitchFamily="34" charset="0"/>
                <a:ea typeface="宋体" panose="02010600030101010101" pitchFamily="2" charset="-122"/>
              </a:rPr>
              <a:t>-</a:t>
            </a:r>
            <a:r>
              <a:rPr lang="zh-CN" altLang="en-US" sz="2400" b="1" dirty="0">
                <a:latin typeface="Verdana" panose="020B0604030504040204" pitchFamily="34" charset="0"/>
                <a:ea typeface="宋体" panose="02010600030101010101" pitchFamily="2" charset="-122"/>
              </a:rPr>
              <a:t>班级（</a:t>
            </a:r>
            <a:r>
              <a:rPr lang="zh-CN" altLang="en-US" sz="2400" b="1" u="sng" dirty="0">
                <a:solidFill>
                  <a:srgbClr val="FF0000"/>
                </a:solidFill>
                <a:latin typeface="Verdana" panose="020B0604030504040204" pitchFamily="34" charset="0"/>
                <a:ea typeface="宋体" panose="02010600030101010101" pitchFamily="2" charset="-122"/>
              </a:rPr>
              <a:t>学号</a:t>
            </a:r>
            <a:r>
              <a:rPr lang="zh-CN" altLang="en-US" sz="2400" b="1" dirty="0">
                <a:latin typeface="Verdana" panose="020B0604030504040204" pitchFamily="34" charset="0"/>
                <a:ea typeface="宋体" panose="02010600030101010101" pitchFamily="2" charset="-122"/>
              </a:rPr>
              <a:t>，班级号，加入时间）</a:t>
            </a:r>
            <a:endParaRPr lang="en-US" altLang="zh-CN" sz="2400" b="1" dirty="0">
              <a:latin typeface="Verdana" panose="020B0604030504040204" pitchFamily="34" charset="0"/>
              <a:ea typeface="宋体" panose="02010600030101010101" pitchFamily="2" charset="-122"/>
            </a:endParaRPr>
          </a:p>
          <a:p>
            <a:pPr eaLnBrk="0" hangingPunct="0"/>
            <a:endParaRPr lang="en-US" altLang="zh-CN" sz="2400" b="1" dirty="0">
              <a:latin typeface="Verdana" panose="020B0604030504040204" pitchFamily="34" charset="0"/>
              <a:ea typeface="宋体" panose="02010600030101010101" pitchFamily="2" charset="-122"/>
            </a:endParaRPr>
          </a:p>
          <a:p>
            <a:pPr eaLnBrk="0" hangingPunct="0"/>
            <a:r>
              <a:rPr lang="zh-CN" altLang="en-US" sz="2400" dirty="0">
                <a:latin typeface="Verdana" panose="020B0604030504040204" pitchFamily="34" charset="0"/>
                <a:ea typeface="宋体" panose="02010600030101010101" pitchFamily="2" charset="-122"/>
              </a:rPr>
              <a:t>方法</a:t>
            </a:r>
            <a:r>
              <a:rPr lang="en-US" altLang="zh-CN" sz="2400" dirty="0">
                <a:latin typeface="Verdana" panose="020B0604030504040204" pitchFamily="34" charset="0"/>
                <a:ea typeface="宋体" panose="02010600030101010101" pitchFamily="2" charset="-122"/>
              </a:rPr>
              <a:t>2</a:t>
            </a:r>
            <a:r>
              <a:rPr lang="zh-CN" altLang="en-US" sz="2400" dirty="0">
                <a:latin typeface="Verdana" panose="020B0604030504040204" pitchFamily="34" charset="0"/>
                <a:ea typeface="宋体" panose="02010600030101010101" pitchFamily="2" charset="-122"/>
              </a:rPr>
              <a:t>：转成两个表</a:t>
            </a:r>
            <a:endParaRPr lang="en-US" altLang="zh-CN" sz="2400" dirty="0">
              <a:latin typeface="Verdana" panose="020B0604030504040204" pitchFamily="34" charset="0"/>
              <a:ea typeface="宋体" panose="02010600030101010101" pitchFamily="2" charset="-122"/>
            </a:endParaRPr>
          </a:p>
          <a:p>
            <a:pPr eaLnBrk="0" hangingPunct="0"/>
            <a:r>
              <a:rPr lang="zh-CN" altLang="en-US" sz="2400" b="1" dirty="0">
                <a:latin typeface="Verdana" panose="020B0604030504040204" pitchFamily="34" charset="0"/>
                <a:ea typeface="宋体" panose="02010600030101010101" pitchFamily="2" charset="-122"/>
              </a:rPr>
              <a:t>班级（</a:t>
            </a:r>
            <a:r>
              <a:rPr lang="zh-CN" altLang="en-US" sz="2400" b="1" u="sng" dirty="0">
                <a:latin typeface="Verdana" panose="020B0604030504040204" pitchFamily="34" charset="0"/>
                <a:ea typeface="宋体" panose="02010600030101010101" pitchFamily="2" charset="-122"/>
              </a:rPr>
              <a:t>班级号</a:t>
            </a:r>
            <a:r>
              <a:rPr lang="zh-CN" altLang="en-US" sz="2400" b="1" dirty="0">
                <a:latin typeface="Verdana" panose="020B0604030504040204" pitchFamily="34" charset="0"/>
                <a:ea typeface="宋体" panose="02010600030101010101" pitchFamily="2" charset="-122"/>
              </a:rPr>
              <a:t>，班级名称，</a:t>
            </a:r>
            <a:r>
              <a:rPr lang="en-US" altLang="zh-CN" sz="2400" b="1" dirty="0">
                <a:latin typeface="Verdana" panose="020B0604030504040204" pitchFamily="34" charset="0"/>
                <a:ea typeface="宋体" panose="02010600030101010101" pitchFamily="2" charset="-122"/>
              </a:rPr>
              <a:t>… </a:t>
            </a:r>
            <a:r>
              <a:rPr lang="zh-CN" altLang="en-US" sz="2400" b="1" dirty="0">
                <a:latin typeface="Verdana" panose="020B0604030504040204" pitchFamily="34" charset="0"/>
                <a:ea typeface="宋体" panose="02010600030101010101" pitchFamily="2" charset="-122"/>
              </a:rPr>
              <a:t>）</a:t>
            </a:r>
            <a:endParaRPr lang="en-US" altLang="zh-CN" sz="2400" b="1" dirty="0">
              <a:latin typeface="Verdana" panose="020B0604030504040204" pitchFamily="34" charset="0"/>
              <a:ea typeface="宋体" panose="02010600030101010101" pitchFamily="2" charset="-122"/>
            </a:endParaRPr>
          </a:p>
          <a:p>
            <a:pPr eaLnBrk="0" hangingPunct="0"/>
            <a:r>
              <a:rPr lang="zh-CN" altLang="en-US" sz="2400" b="1" dirty="0">
                <a:latin typeface="Verdana" panose="020B0604030504040204" pitchFamily="34" charset="0"/>
                <a:ea typeface="宋体" panose="02010600030101010101" pitchFamily="2" charset="-122"/>
              </a:rPr>
              <a:t>学生（</a:t>
            </a:r>
            <a:r>
              <a:rPr lang="zh-CN" altLang="en-US" sz="2400" b="1" u="sng" dirty="0">
                <a:latin typeface="Verdana" panose="020B0604030504040204" pitchFamily="34" charset="0"/>
                <a:ea typeface="宋体" panose="02010600030101010101" pitchFamily="2" charset="-122"/>
              </a:rPr>
              <a:t>学号</a:t>
            </a:r>
            <a:r>
              <a:rPr lang="zh-CN" altLang="en-US" sz="2400" b="1" dirty="0">
                <a:latin typeface="Verdana" panose="020B0604030504040204" pitchFamily="34" charset="0"/>
                <a:ea typeface="宋体" panose="02010600030101010101" pitchFamily="2" charset="-122"/>
              </a:rPr>
              <a:t>，</a:t>
            </a:r>
            <a:r>
              <a:rPr lang="zh-CN" altLang="en-US" sz="2400" b="1" dirty="0">
                <a:solidFill>
                  <a:srgbClr val="FF0000"/>
                </a:solidFill>
                <a:latin typeface="Verdana" panose="020B0604030504040204" pitchFamily="34" charset="0"/>
                <a:ea typeface="宋体" panose="02010600030101010101" pitchFamily="2" charset="-122"/>
              </a:rPr>
              <a:t>班级号</a:t>
            </a:r>
            <a:r>
              <a:rPr lang="zh-CN" altLang="en-US" sz="2400" b="1" dirty="0">
                <a:latin typeface="Verdana" panose="020B0604030504040204" pitchFamily="34" charset="0"/>
                <a:ea typeface="宋体" panose="02010600030101010101" pitchFamily="2" charset="-122"/>
              </a:rPr>
              <a:t>，加入时间，姓名，性别，</a:t>
            </a:r>
            <a:r>
              <a:rPr lang="en-US" altLang="zh-CN" sz="2400" b="1" dirty="0">
                <a:latin typeface="Verdana" panose="020B0604030504040204" pitchFamily="34" charset="0"/>
                <a:ea typeface="宋体" panose="02010600030101010101" pitchFamily="2" charset="-122"/>
              </a:rPr>
              <a:t>…. </a:t>
            </a:r>
            <a:r>
              <a:rPr lang="zh-CN" altLang="en-US" sz="2400" b="1" dirty="0">
                <a:latin typeface="Verdana" panose="020B0604030504040204" pitchFamily="34" charset="0"/>
                <a:ea typeface="宋体" panose="02010600030101010101" pitchFamily="2" charset="-122"/>
              </a:rPr>
              <a:t>）</a:t>
            </a:r>
          </a:p>
        </p:txBody>
      </p:sp>
      <p:grpSp>
        <p:nvGrpSpPr>
          <p:cNvPr id="96259" name="组合 31"/>
          <p:cNvGrpSpPr/>
          <p:nvPr/>
        </p:nvGrpSpPr>
        <p:grpSpPr>
          <a:xfrm>
            <a:off x="469265" y="1516063"/>
            <a:ext cx="3786188" cy="4000500"/>
            <a:chOff x="2500298" y="1785926"/>
            <a:chExt cx="3786214" cy="4000528"/>
          </a:xfrm>
        </p:grpSpPr>
        <p:grpSp>
          <p:nvGrpSpPr>
            <p:cNvPr id="96260" name="Group 5"/>
            <p:cNvGrpSpPr/>
            <p:nvPr/>
          </p:nvGrpSpPr>
          <p:grpSpPr>
            <a:xfrm>
              <a:off x="3643306" y="2571744"/>
              <a:ext cx="1368425" cy="2841076"/>
              <a:chOff x="1056" y="1344"/>
              <a:chExt cx="1008" cy="2736"/>
            </a:xfrm>
          </p:grpSpPr>
          <p:sp>
            <p:nvSpPr>
              <p:cNvPr id="96261" name="Text Box 6"/>
              <p:cNvSpPr txBox="1"/>
              <p:nvPr/>
            </p:nvSpPr>
            <p:spPr>
              <a:xfrm>
                <a:off x="1105" y="1344"/>
                <a:ext cx="815"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班级</a:t>
                </a:r>
              </a:p>
            </p:txBody>
          </p:sp>
          <p:sp>
            <p:nvSpPr>
              <p:cNvPr id="96262" name="AutoShape 7"/>
              <p:cNvSpPr/>
              <p:nvPr/>
            </p:nvSpPr>
            <p:spPr>
              <a:xfrm>
                <a:off x="1056" y="2112"/>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dirty="0">
                    <a:latin typeface="楷体_GB2312" pitchFamily="49" charset="-122"/>
                    <a:ea typeface="楷体_GB2312" pitchFamily="49" charset="-122"/>
                  </a:rPr>
                  <a:t>班级</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学生</a:t>
                </a:r>
              </a:p>
            </p:txBody>
          </p:sp>
          <p:sp>
            <p:nvSpPr>
              <p:cNvPr id="96263" name="Text Box 8"/>
              <p:cNvSpPr txBox="1"/>
              <p:nvPr/>
            </p:nvSpPr>
            <p:spPr>
              <a:xfrm>
                <a:off x="1152" y="3166"/>
                <a:ext cx="816"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学生</a:t>
                </a:r>
              </a:p>
            </p:txBody>
          </p:sp>
          <p:sp>
            <p:nvSpPr>
              <p:cNvPr id="96264" name="Line 9"/>
              <p:cNvSpPr/>
              <p:nvPr/>
            </p:nvSpPr>
            <p:spPr>
              <a:xfrm flipV="1">
                <a:off x="1536" y="1632"/>
                <a:ext cx="0" cy="480"/>
              </a:xfrm>
              <a:prstGeom prst="line">
                <a:avLst/>
              </a:prstGeom>
              <a:ln w="9525" cap="flat" cmpd="sng">
                <a:solidFill>
                  <a:schemeClr val="tx1"/>
                </a:solidFill>
                <a:prstDash val="solid"/>
                <a:round/>
                <a:headEnd type="none" w="med" len="med"/>
                <a:tailEnd type="none" w="med" len="med"/>
              </a:ln>
            </p:spPr>
          </p:sp>
          <p:sp>
            <p:nvSpPr>
              <p:cNvPr id="96265" name="Line 10"/>
              <p:cNvSpPr/>
              <p:nvPr/>
            </p:nvSpPr>
            <p:spPr>
              <a:xfrm>
                <a:off x="1536" y="2592"/>
                <a:ext cx="0" cy="576"/>
              </a:xfrm>
              <a:prstGeom prst="line">
                <a:avLst/>
              </a:prstGeom>
              <a:ln w="9525" cap="flat" cmpd="sng">
                <a:solidFill>
                  <a:schemeClr val="tx1"/>
                </a:solidFill>
                <a:prstDash val="solid"/>
                <a:round/>
                <a:headEnd type="none" w="med" len="med"/>
                <a:tailEnd type="none" w="med" len="med"/>
              </a:ln>
            </p:spPr>
          </p:sp>
          <p:sp>
            <p:nvSpPr>
              <p:cNvPr id="96266" name="Text Box 11"/>
              <p:cNvSpPr txBox="1"/>
              <p:nvPr/>
            </p:nvSpPr>
            <p:spPr>
              <a:xfrm>
                <a:off x="1152" y="177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1</a:t>
                </a:r>
              </a:p>
            </p:txBody>
          </p:sp>
          <p:sp>
            <p:nvSpPr>
              <p:cNvPr id="96267" name="Text Box 12"/>
              <p:cNvSpPr txBox="1"/>
              <p:nvPr/>
            </p:nvSpPr>
            <p:spPr>
              <a:xfrm>
                <a:off x="1200" y="273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n</a:t>
                </a:r>
              </a:p>
            </p:txBody>
          </p:sp>
          <p:sp>
            <p:nvSpPr>
              <p:cNvPr id="96268" name="Text Box 13"/>
              <p:cNvSpPr txBox="1"/>
              <p:nvPr/>
            </p:nvSpPr>
            <p:spPr>
              <a:xfrm>
                <a:off x="1200" y="3696"/>
                <a:ext cx="864" cy="384"/>
              </a:xfrm>
              <a:prstGeom prst="rect">
                <a:avLst/>
              </a:prstGeom>
              <a:noFill/>
              <a:ln w="9525">
                <a:noFill/>
              </a:ln>
            </p:spPr>
            <p:txBody>
              <a:bodyPr anchor="t" anchorCtr="0">
                <a:spAutoFit/>
              </a:bodyPr>
              <a:lstStyle/>
              <a:p>
                <a:pPr>
                  <a:spcBef>
                    <a:spcPct val="50000"/>
                  </a:spcBef>
                </a:pPr>
                <a:endParaRPr lang="zh-CN" altLang="en-US" sz="2000" b="1" dirty="0">
                  <a:latin typeface="楷体_GB2312" pitchFamily="49" charset="-122"/>
                  <a:ea typeface="楷体_GB2312" pitchFamily="49" charset="-122"/>
                </a:endParaRPr>
              </a:p>
            </p:txBody>
          </p:sp>
        </p:grpSp>
        <p:sp>
          <p:nvSpPr>
            <p:cNvPr id="15" name="椭圆 14"/>
            <p:cNvSpPr/>
            <p:nvPr/>
          </p:nvSpPr>
          <p:spPr>
            <a:xfrm>
              <a:off x="2857488" y="1785926"/>
              <a:ext cx="1071569"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班号</a:t>
              </a:r>
            </a:p>
          </p:txBody>
        </p:sp>
        <p:sp>
          <p:nvSpPr>
            <p:cNvPr id="16" name="椭圆 15"/>
            <p:cNvSpPr/>
            <p:nvPr/>
          </p:nvSpPr>
          <p:spPr>
            <a:xfrm>
              <a:off x="4429124" y="1785926"/>
              <a:ext cx="1071569"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班名</a:t>
              </a:r>
            </a:p>
          </p:txBody>
        </p:sp>
        <p:sp>
          <p:nvSpPr>
            <p:cNvPr id="17" name="椭圆 16"/>
            <p:cNvSpPr/>
            <p:nvPr/>
          </p:nvSpPr>
          <p:spPr>
            <a:xfrm>
              <a:off x="250029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学号</a:t>
              </a:r>
            </a:p>
          </p:txBody>
        </p:sp>
        <p:sp>
          <p:nvSpPr>
            <p:cNvPr id="18" name="椭圆 17"/>
            <p:cNvSpPr/>
            <p:nvPr/>
          </p:nvSpPr>
          <p:spPr>
            <a:xfrm>
              <a:off x="392905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姓名</a:t>
              </a:r>
            </a:p>
          </p:txBody>
        </p:sp>
        <p:sp>
          <p:nvSpPr>
            <p:cNvPr id="19" name="椭圆 18"/>
            <p:cNvSpPr/>
            <p:nvPr/>
          </p:nvSpPr>
          <p:spPr>
            <a:xfrm>
              <a:off x="5214942"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性别</a:t>
              </a:r>
            </a:p>
          </p:txBody>
        </p:sp>
        <p:cxnSp>
          <p:nvCxnSpPr>
            <p:cNvPr id="20" name="直接连接符 19"/>
            <p:cNvCxnSpPr>
              <a:stCxn id="15" idx="5"/>
            </p:cNvCxnSpPr>
            <p:nvPr/>
          </p:nvCxnSpPr>
          <p:spPr>
            <a:xfrm rot="16200000" flipH="1">
              <a:off x="3746495" y="2176453"/>
              <a:ext cx="412753" cy="361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6" idx="4"/>
            </p:cNvCxnSpPr>
            <p:nvPr/>
          </p:nvCxnSpPr>
          <p:spPr>
            <a:xfrm rot="5400000">
              <a:off x="4590255" y="2196297"/>
              <a:ext cx="357189" cy="3937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96263" idx="2"/>
            </p:cNvCxnSpPr>
            <p:nvPr/>
          </p:nvCxnSpPr>
          <p:spPr>
            <a:xfrm rot="5400000">
              <a:off x="3557421" y="4571530"/>
              <a:ext cx="419103" cy="11223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19" idx="0"/>
            </p:cNvCxnSpPr>
            <p:nvPr/>
          </p:nvCxnSpPr>
          <p:spPr>
            <a:xfrm>
              <a:off x="4857752" y="4929198"/>
              <a:ext cx="893768" cy="4286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8" idx="0"/>
            </p:cNvCxnSpPr>
            <p:nvPr/>
          </p:nvCxnSpPr>
          <p:spPr>
            <a:xfrm rot="16200000" flipH="1">
              <a:off x="4196554" y="5090330"/>
              <a:ext cx="428628" cy="1063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4921253" y="3633789"/>
              <a:ext cx="506415" cy="142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椭圆 25"/>
          <p:cNvSpPr/>
          <p:nvPr/>
        </p:nvSpPr>
        <p:spPr bwMode="auto">
          <a:xfrm>
            <a:off x="3291840" y="3144838"/>
            <a:ext cx="1071563" cy="428625"/>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加入时间</a:t>
            </a:r>
          </a:p>
        </p:txBody>
      </p:sp>
    </p:spTree>
    <p:extLst>
      <p:ext uri="{BB962C8B-B14F-4D97-AF65-F5344CB8AC3E}">
        <p14:creationId xmlns:p14="http://schemas.microsoft.com/office/powerpoint/2010/main" val="3497424521"/>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anim calcmode="lin" valueType="num">
                                      <p:cBhvr additive="base">
                                        <p:cTn id="7" dur="500" fill="hold"/>
                                        <p:tgtEl>
                                          <p:spTgt spid="870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70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7043">
                                            <p:txEl>
                                              <p:pRg st="1" end="1"/>
                                            </p:txEl>
                                          </p:spTgt>
                                        </p:tgtEl>
                                        <p:attrNameLst>
                                          <p:attrName>style.visibility</p:attrName>
                                        </p:attrNameLst>
                                      </p:cBhvr>
                                      <p:to>
                                        <p:strVal val="visible"/>
                                      </p:to>
                                    </p:set>
                                    <p:anim calcmode="lin" valueType="num">
                                      <p:cBhvr additive="base">
                                        <p:cTn id="13" dur="500" fill="hold"/>
                                        <p:tgtEl>
                                          <p:spTgt spid="8704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70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7043">
                                            <p:txEl>
                                              <p:pRg st="2" end="2"/>
                                            </p:txEl>
                                          </p:spTgt>
                                        </p:tgtEl>
                                        <p:attrNameLst>
                                          <p:attrName>style.visibility</p:attrName>
                                        </p:attrNameLst>
                                      </p:cBhvr>
                                      <p:to>
                                        <p:strVal val="visible"/>
                                      </p:to>
                                    </p:set>
                                    <p:anim calcmode="lin" valueType="num">
                                      <p:cBhvr additive="base">
                                        <p:cTn id="19" dur="500" fill="hold"/>
                                        <p:tgtEl>
                                          <p:spTgt spid="8704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70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7043">
                                            <p:txEl>
                                              <p:pRg st="3" end="3"/>
                                            </p:txEl>
                                          </p:spTgt>
                                        </p:tgtEl>
                                        <p:attrNameLst>
                                          <p:attrName>style.visibility</p:attrName>
                                        </p:attrNameLst>
                                      </p:cBhvr>
                                      <p:to>
                                        <p:strVal val="visible"/>
                                      </p:to>
                                    </p:set>
                                    <p:anim calcmode="lin" valueType="num">
                                      <p:cBhvr additive="base">
                                        <p:cTn id="25" dur="500" fill="hold"/>
                                        <p:tgtEl>
                                          <p:spTgt spid="8704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70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7043">
                                            <p:txEl>
                                              <p:pRg st="5" end="5"/>
                                            </p:txEl>
                                          </p:spTgt>
                                        </p:tgtEl>
                                        <p:attrNameLst>
                                          <p:attrName>style.visibility</p:attrName>
                                        </p:attrNameLst>
                                      </p:cBhvr>
                                      <p:to>
                                        <p:strVal val="visible"/>
                                      </p:to>
                                    </p:set>
                                    <p:anim calcmode="lin" valueType="num">
                                      <p:cBhvr additive="base">
                                        <p:cTn id="31" dur="500" fill="hold"/>
                                        <p:tgtEl>
                                          <p:spTgt spid="8704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704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7043">
                                            <p:txEl>
                                              <p:pRg st="6" end="6"/>
                                            </p:txEl>
                                          </p:spTgt>
                                        </p:tgtEl>
                                        <p:attrNameLst>
                                          <p:attrName>style.visibility</p:attrName>
                                        </p:attrNameLst>
                                      </p:cBhvr>
                                      <p:to>
                                        <p:strVal val="visible"/>
                                      </p:to>
                                    </p:set>
                                    <p:anim calcmode="lin" valueType="num">
                                      <p:cBhvr additive="base">
                                        <p:cTn id="37" dur="500" fill="hold"/>
                                        <p:tgtEl>
                                          <p:spTgt spid="8704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704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7043">
                                            <p:txEl>
                                              <p:pRg st="7" end="7"/>
                                            </p:txEl>
                                          </p:spTgt>
                                        </p:tgtEl>
                                        <p:attrNameLst>
                                          <p:attrName>style.visibility</p:attrName>
                                        </p:attrNameLst>
                                      </p:cBhvr>
                                      <p:to>
                                        <p:strVal val="visible"/>
                                      </p:to>
                                    </p:set>
                                    <p:anim calcmode="lin" valueType="num">
                                      <p:cBhvr additive="base">
                                        <p:cTn id="43" dur="500" fill="hold"/>
                                        <p:tgtEl>
                                          <p:spTgt spid="8704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704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1"/>
          <p:cNvSpPr>
            <a:spLocks noGrp="1"/>
          </p:cNvSpPr>
          <p:nvPr>
            <p:ph type="title"/>
          </p:nvPr>
        </p:nvSpPr>
        <p:spPr/>
        <p:txBody>
          <a:bodyPr vert="horz" wrap="square" lIns="91440" tIns="45720" rIns="91440" bIns="45720" anchor="b" anchorCtr="0"/>
          <a:lstStyle/>
          <a:p>
            <a:r>
              <a:rPr lang="zh-CN" altLang="en-US" dirty="0"/>
              <a:t>提问：</a:t>
            </a:r>
          </a:p>
        </p:txBody>
      </p:sp>
      <p:sp>
        <p:nvSpPr>
          <p:cNvPr id="97282" name="内容占位符 2"/>
          <p:cNvSpPr>
            <a:spLocks noGrp="1"/>
          </p:cNvSpPr>
          <p:nvPr>
            <p:ph idx="1"/>
          </p:nvPr>
        </p:nvSpPr>
        <p:spPr>
          <a:xfrm>
            <a:off x="656590" y="1143000"/>
            <a:ext cx="4375150" cy="4876800"/>
          </a:xfrm>
        </p:spPr>
        <p:txBody>
          <a:bodyPr vert="horz" wrap="square" lIns="91440" tIns="45720" rIns="91440" bIns="45720" anchor="t" anchorCtr="0"/>
          <a:lstStyle/>
          <a:p>
            <a:r>
              <a:rPr lang="zh-CN" altLang="en-US" sz="2800" dirty="0"/>
              <a:t>商家（外卖）</a:t>
            </a:r>
            <a:endParaRPr lang="en-US" altLang="zh-CN" sz="2800" dirty="0"/>
          </a:p>
          <a:p>
            <a:r>
              <a:rPr lang="zh-CN" altLang="en-US" sz="2800" dirty="0"/>
              <a:t>商品</a:t>
            </a:r>
            <a:endParaRPr lang="en-US" altLang="zh-CN" sz="2800" dirty="0"/>
          </a:p>
          <a:p>
            <a:r>
              <a:rPr lang="zh-CN" altLang="en-US" sz="2800" dirty="0"/>
              <a:t>月销售量</a:t>
            </a:r>
            <a:endParaRPr lang="en-US" altLang="zh-CN" sz="2800" dirty="0"/>
          </a:p>
          <a:p>
            <a:endParaRPr lang="en-US" altLang="zh-CN" sz="2800" dirty="0"/>
          </a:p>
          <a:p>
            <a:r>
              <a:rPr lang="zh-CN" altLang="en-US" sz="2800" dirty="0"/>
              <a:t>队员</a:t>
            </a:r>
            <a:endParaRPr lang="en-US" altLang="zh-CN" sz="2800" dirty="0"/>
          </a:p>
          <a:p>
            <a:r>
              <a:rPr lang="zh-CN" altLang="en-US" sz="2800" dirty="0"/>
              <a:t>战队</a:t>
            </a:r>
            <a:endParaRPr lang="en-US" altLang="zh-CN" sz="2800" dirty="0"/>
          </a:p>
          <a:p>
            <a:r>
              <a:rPr lang="zh-CN" altLang="en-US" sz="2800" dirty="0"/>
              <a:t>参加时间</a:t>
            </a:r>
            <a:endParaRPr lang="en-US" altLang="zh-CN" sz="2800" dirty="0"/>
          </a:p>
          <a:p>
            <a:endParaRPr lang="en-US" altLang="zh-CN" sz="2800" dirty="0"/>
          </a:p>
          <a:p>
            <a:r>
              <a:rPr lang="zh-CN" altLang="en-US" sz="2800" dirty="0"/>
              <a:t>导游</a:t>
            </a:r>
            <a:endParaRPr lang="en-US" altLang="zh-CN" sz="2800" dirty="0"/>
          </a:p>
          <a:p>
            <a:r>
              <a:rPr lang="zh-CN" altLang="en-US" sz="2800" dirty="0"/>
              <a:t>旅游团</a:t>
            </a:r>
            <a:endParaRPr lang="en-US" altLang="zh-CN" sz="2800" dirty="0"/>
          </a:p>
        </p:txBody>
      </p:sp>
      <p:grpSp>
        <p:nvGrpSpPr>
          <p:cNvPr id="97283" name="组合 31"/>
          <p:cNvGrpSpPr/>
          <p:nvPr/>
        </p:nvGrpSpPr>
        <p:grpSpPr>
          <a:xfrm>
            <a:off x="4667250" y="1745956"/>
            <a:ext cx="3606800" cy="3984625"/>
            <a:chOff x="2782267" y="1785926"/>
            <a:chExt cx="3606489" cy="3985117"/>
          </a:xfrm>
        </p:grpSpPr>
        <p:grpSp>
          <p:nvGrpSpPr>
            <p:cNvPr id="97284" name="Group 5"/>
            <p:cNvGrpSpPr/>
            <p:nvPr/>
          </p:nvGrpSpPr>
          <p:grpSpPr>
            <a:xfrm>
              <a:off x="3641949" y="2571744"/>
              <a:ext cx="1369783" cy="2841076"/>
              <a:chOff x="1055" y="1344"/>
              <a:chExt cx="1009" cy="2736"/>
            </a:xfrm>
          </p:grpSpPr>
          <p:sp>
            <p:nvSpPr>
              <p:cNvPr id="97285" name="Text Box 6"/>
              <p:cNvSpPr txBox="1"/>
              <p:nvPr/>
            </p:nvSpPr>
            <p:spPr>
              <a:xfrm>
                <a:off x="1105" y="1344"/>
                <a:ext cx="815"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队员</a:t>
                </a:r>
              </a:p>
            </p:txBody>
          </p:sp>
          <p:sp>
            <p:nvSpPr>
              <p:cNvPr id="97286" name="AutoShape 7"/>
              <p:cNvSpPr/>
              <p:nvPr/>
            </p:nvSpPr>
            <p:spPr>
              <a:xfrm>
                <a:off x="1056" y="2112"/>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dirty="0">
                    <a:latin typeface="楷体_GB2312" pitchFamily="49" charset="-122"/>
                    <a:ea typeface="楷体_GB2312" pitchFamily="49" charset="-122"/>
                  </a:rPr>
                  <a:t>战队</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队员</a:t>
                </a:r>
              </a:p>
            </p:txBody>
          </p:sp>
          <p:sp>
            <p:nvSpPr>
              <p:cNvPr id="97287" name="Text Box 8"/>
              <p:cNvSpPr txBox="1"/>
              <p:nvPr/>
            </p:nvSpPr>
            <p:spPr>
              <a:xfrm>
                <a:off x="1152" y="3166"/>
                <a:ext cx="816"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战队</a:t>
                </a:r>
              </a:p>
            </p:txBody>
          </p:sp>
          <p:sp>
            <p:nvSpPr>
              <p:cNvPr id="97288" name="Line 9"/>
              <p:cNvSpPr/>
              <p:nvPr/>
            </p:nvSpPr>
            <p:spPr>
              <a:xfrm flipV="1">
                <a:off x="1536" y="1632"/>
                <a:ext cx="0" cy="480"/>
              </a:xfrm>
              <a:prstGeom prst="line">
                <a:avLst/>
              </a:prstGeom>
              <a:ln w="9525" cap="flat" cmpd="sng">
                <a:solidFill>
                  <a:schemeClr val="tx1"/>
                </a:solidFill>
                <a:prstDash val="solid"/>
                <a:round/>
                <a:headEnd type="none" w="med" len="med"/>
                <a:tailEnd type="none" w="med" len="med"/>
              </a:ln>
            </p:spPr>
          </p:sp>
          <p:sp>
            <p:nvSpPr>
              <p:cNvPr id="97289" name="Line 10"/>
              <p:cNvSpPr/>
              <p:nvPr/>
            </p:nvSpPr>
            <p:spPr>
              <a:xfrm>
                <a:off x="1536" y="2592"/>
                <a:ext cx="0" cy="576"/>
              </a:xfrm>
              <a:prstGeom prst="line">
                <a:avLst/>
              </a:prstGeom>
              <a:ln w="9525" cap="flat" cmpd="sng">
                <a:solidFill>
                  <a:schemeClr val="tx1"/>
                </a:solidFill>
                <a:prstDash val="solid"/>
                <a:round/>
                <a:headEnd type="none" w="med" len="med"/>
                <a:tailEnd type="none" w="med" len="med"/>
              </a:ln>
            </p:spPr>
          </p:sp>
          <p:sp>
            <p:nvSpPr>
              <p:cNvPr id="97290" name="Text Box 11"/>
              <p:cNvSpPr txBox="1"/>
              <p:nvPr/>
            </p:nvSpPr>
            <p:spPr>
              <a:xfrm>
                <a:off x="1162" y="268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1</a:t>
                </a:r>
              </a:p>
            </p:txBody>
          </p:sp>
          <p:sp>
            <p:nvSpPr>
              <p:cNvPr id="97291" name="Text Box 12"/>
              <p:cNvSpPr txBox="1"/>
              <p:nvPr/>
            </p:nvSpPr>
            <p:spPr>
              <a:xfrm>
                <a:off x="1055" y="1730"/>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n</a:t>
                </a:r>
              </a:p>
            </p:txBody>
          </p:sp>
          <p:sp>
            <p:nvSpPr>
              <p:cNvPr id="97292" name="Text Box 13"/>
              <p:cNvSpPr txBox="1"/>
              <p:nvPr/>
            </p:nvSpPr>
            <p:spPr>
              <a:xfrm>
                <a:off x="1200" y="3696"/>
                <a:ext cx="864" cy="384"/>
              </a:xfrm>
              <a:prstGeom prst="rect">
                <a:avLst/>
              </a:prstGeom>
              <a:noFill/>
              <a:ln w="9525">
                <a:noFill/>
              </a:ln>
            </p:spPr>
            <p:txBody>
              <a:bodyPr anchor="t" anchorCtr="0">
                <a:spAutoFit/>
              </a:bodyPr>
              <a:lstStyle/>
              <a:p>
                <a:pPr>
                  <a:spcBef>
                    <a:spcPct val="50000"/>
                  </a:spcBef>
                </a:pPr>
                <a:endParaRPr lang="zh-CN" altLang="en-US" sz="2000" b="1" dirty="0">
                  <a:latin typeface="楷体_GB2312" pitchFamily="49" charset="-122"/>
                  <a:ea typeface="楷体_GB2312" pitchFamily="49" charset="-122"/>
                </a:endParaRPr>
              </a:p>
            </p:txBody>
          </p:sp>
        </p:grpSp>
        <p:sp>
          <p:nvSpPr>
            <p:cNvPr id="6" name="椭圆 5"/>
            <p:cNvSpPr/>
            <p:nvPr/>
          </p:nvSpPr>
          <p:spPr>
            <a:xfrm>
              <a:off x="2856874" y="1785926"/>
              <a:ext cx="1071470" cy="42867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编号</a:t>
              </a:r>
            </a:p>
          </p:txBody>
        </p:sp>
        <p:sp>
          <p:nvSpPr>
            <p:cNvPr id="7" name="椭圆 6"/>
            <p:cNvSpPr/>
            <p:nvPr/>
          </p:nvSpPr>
          <p:spPr>
            <a:xfrm>
              <a:off x="4428363" y="1785926"/>
              <a:ext cx="1073057" cy="42867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姓名</a:t>
              </a:r>
            </a:p>
          </p:txBody>
        </p:sp>
        <p:sp>
          <p:nvSpPr>
            <p:cNvPr id="8" name="椭圆 7"/>
            <p:cNvSpPr/>
            <p:nvPr/>
          </p:nvSpPr>
          <p:spPr>
            <a:xfrm>
              <a:off x="2782267" y="5269331"/>
              <a:ext cx="1071471" cy="42867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编号</a:t>
              </a:r>
            </a:p>
          </p:txBody>
        </p:sp>
        <p:sp>
          <p:nvSpPr>
            <p:cNvPr id="9" name="椭圆 8"/>
            <p:cNvSpPr/>
            <p:nvPr/>
          </p:nvSpPr>
          <p:spPr>
            <a:xfrm>
              <a:off x="4571226" y="5342365"/>
              <a:ext cx="1073057" cy="42867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名称</a:t>
              </a:r>
            </a:p>
          </p:txBody>
        </p:sp>
        <p:cxnSp>
          <p:nvCxnSpPr>
            <p:cNvPr id="11" name="直接连接符 10"/>
            <p:cNvCxnSpPr>
              <a:stCxn id="6" idx="5"/>
            </p:cNvCxnSpPr>
            <p:nvPr/>
          </p:nvCxnSpPr>
          <p:spPr>
            <a:xfrm rot="16200000" flipH="1">
              <a:off x="3745753" y="2176536"/>
              <a:ext cx="412801" cy="3619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7" idx="4"/>
            </p:cNvCxnSpPr>
            <p:nvPr/>
          </p:nvCxnSpPr>
          <p:spPr>
            <a:xfrm rot="5400000">
              <a:off x="4590236" y="2195593"/>
              <a:ext cx="357232" cy="3952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97287" idx="2"/>
            </p:cNvCxnSpPr>
            <p:nvPr/>
          </p:nvCxnSpPr>
          <p:spPr>
            <a:xfrm flipH="1">
              <a:off x="3571822" y="4923214"/>
              <a:ext cx="755585" cy="3635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952193" y="3613365"/>
              <a:ext cx="896860" cy="111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9" idx="0"/>
            </p:cNvCxnSpPr>
            <p:nvPr/>
          </p:nvCxnSpPr>
          <p:spPr>
            <a:xfrm>
              <a:off x="4625196" y="4894635"/>
              <a:ext cx="482558" cy="4477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5309349" y="3418078"/>
              <a:ext cx="1079407" cy="576334"/>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加入时间</a:t>
              </a:r>
            </a:p>
          </p:txBody>
        </p:sp>
      </p:grpSp>
    </p:spTree>
    <p:extLst>
      <p:ext uri="{BB962C8B-B14F-4D97-AF65-F5344CB8AC3E}">
        <p14:creationId xmlns:p14="http://schemas.microsoft.com/office/powerpoint/2010/main" val="1388914830"/>
      </p:ext>
    </p:extLst>
  </p:cSld>
  <p:clrMapOvr>
    <a:masterClrMapping/>
  </p:clrMapOvr>
  <p:transition advClick="0"/>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内容占位符 2"/>
          <p:cNvSpPr>
            <a:spLocks noGrp="1"/>
          </p:cNvSpPr>
          <p:nvPr>
            <p:ph idx="1"/>
          </p:nvPr>
        </p:nvSpPr>
        <p:spPr>
          <a:xfrm>
            <a:off x="503555" y="1028700"/>
            <a:ext cx="7260590" cy="5568950"/>
          </a:xfrm>
        </p:spPr>
        <p:txBody>
          <a:bodyPr vert="horz" wrap="square" lIns="91440" tIns="45720" rIns="91440" bIns="45720" anchor="t" anchorCtr="0"/>
          <a:lstStyle/>
          <a:p>
            <a:r>
              <a:rPr lang="zh-CN" altLang="en-US" b="1" dirty="0"/>
              <a:t>一个</a:t>
            </a:r>
            <a:r>
              <a:rPr lang="en-US" altLang="zh-CN" b="1" i="1" dirty="0"/>
              <a:t>m:n</a:t>
            </a:r>
            <a:r>
              <a:rPr lang="zh-CN" altLang="en-US" b="1" i="1" dirty="0"/>
              <a:t>联系转换为一个关系模式 </a:t>
            </a:r>
          </a:p>
          <a:p>
            <a:r>
              <a:rPr lang="zh-CN" altLang="en-US" dirty="0"/>
              <a:t>关系的属性：与该联系相连的各实体的码以及联系本身的属性 </a:t>
            </a:r>
          </a:p>
          <a:p>
            <a:r>
              <a:rPr lang="zh-CN" altLang="en-US" dirty="0"/>
              <a:t>关系的码：各实体码的组合 </a:t>
            </a:r>
          </a:p>
          <a:p>
            <a:r>
              <a:rPr lang="en-US" altLang="zh-CN" b="1" dirty="0"/>
              <a:t>[</a:t>
            </a:r>
            <a:r>
              <a:rPr lang="zh-CN" altLang="en-US" b="1" dirty="0"/>
              <a:t>例</a:t>
            </a:r>
            <a:r>
              <a:rPr lang="en-US" altLang="zh-CN" b="1" dirty="0"/>
              <a:t>]</a:t>
            </a:r>
            <a:r>
              <a:rPr lang="zh-CN" altLang="en-US" b="1" dirty="0"/>
              <a:t>“选修”联系是一个</a:t>
            </a:r>
            <a:r>
              <a:rPr lang="en-US" altLang="zh-CN" b="1" dirty="0"/>
              <a:t>m:n</a:t>
            </a:r>
            <a:r>
              <a:rPr lang="zh-CN" altLang="en-US" b="1" dirty="0"/>
              <a:t>联系，可以将它转换为如下关系模式，其中学号与课程号为关系的组合码： </a:t>
            </a:r>
            <a:endParaRPr lang="en-US" altLang="zh-CN" b="1" dirty="0"/>
          </a:p>
          <a:p>
            <a:r>
              <a:rPr lang="zh-CN" altLang="en-US" b="1" dirty="0"/>
              <a:t>学生（学号，姓名，</a:t>
            </a:r>
            <a:r>
              <a:rPr lang="en-US" altLang="zh-CN" b="1" dirty="0"/>
              <a:t>…</a:t>
            </a:r>
            <a:r>
              <a:rPr lang="zh-CN" altLang="en-US" b="1" dirty="0"/>
              <a:t>）</a:t>
            </a:r>
            <a:endParaRPr lang="en-US" altLang="zh-CN" b="1" dirty="0"/>
          </a:p>
          <a:p>
            <a:r>
              <a:rPr lang="zh-CN" altLang="en-US" b="1" dirty="0"/>
              <a:t>课程（课号，课程名，</a:t>
            </a:r>
            <a:r>
              <a:rPr lang="en-US" altLang="zh-CN" b="1" dirty="0"/>
              <a:t>…</a:t>
            </a:r>
            <a:r>
              <a:rPr lang="zh-CN" altLang="en-US" b="1" dirty="0"/>
              <a:t>）</a:t>
            </a:r>
          </a:p>
          <a:p>
            <a:r>
              <a:rPr lang="zh-CN" altLang="en-US" b="1" dirty="0">
                <a:solidFill>
                  <a:srgbClr val="FF0000"/>
                </a:solidFill>
              </a:rPr>
              <a:t>选修（学号，课程号，成绩）</a:t>
            </a:r>
          </a:p>
        </p:txBody>
      </p:sp>
      <p:sp>
        <p:nvSpPr>
          <p:cNvPr id="3" name="标题 1"/>
          <p:cNvSpPr>
            <a:spLocks noGrp="1"/>
          </p:cNvSpPr>
          <p:nvPr>
            <p:ph type="title"/>
          </p:nvPr>
        </p:nvSpPr>
        <p:spPr>
          <a:xfrm>
            <a:off x="746125" y="202248"/>
            <a:ext cx="8001000" cy="73501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0" i="0" u="none" strike="noStrike" kern="0" cap="none" spc="0" normalizeH="0" baseline="0" noProof="0" dirty="0">
                <a:ln>
                  <a:noFill/>
                </a:ln>
                <a:solidFill>
                  <a:schemeClr val="tx2"/>
                </a:solidFill>
                <a:effectLst/>
                <a:uLnTx/>
                <a:uFillTx/>
                <a:latin typeface="+mj-lt"/>
                <a:ea typeface="+mj-ea"/>
                <a:cs typeface="+mj-cs"/>
              </a:rPr>
              <a:t>（</a:t>
            </a:r>
            <a:r>
              <a:rPr kumimoji="0" lang="en-US" altLang="zh-CN" sz="3800" b="1" i="0" u="none" strike="noStrike" kern="0" cap="none" spc="0" normalizeH="0" baseline="0" noProof="0" dirty="0">
                <a:ln>
                  <a:noFill/>
                </a:ln>
                <a:solidFill>
                  <a:schemeClr val="tx2"/>
                </a:solidFill>
                <a:effectLst/>
                <a:uLnTx/>
                <a:uFillTx/>
                <a:latin typeface="+mj-lt"/>
                <a:ea typeface="+mj-ea"/>
                <a:cs typeface="+mj-cs"/>
              </a:rPr>
              <a:t>3</a:t>
            </a:r>
            <a:r>
              <a:rPr kumimoji="0" lang="zh-CN" altLang="en-US" sz="3800" b="1" i="0" u="none" strike="noStrike" kern="0" cap="none" spc="0" normalizeH="0" baseline="0" noProof="0" dirty="0">
                <a:ln>
                  <a:noFill/>
                </a:ln>
                <a:solidFill>
                  <a:schemeClr val="tx2"/>
                </a:solidFill>
                <a:effectLst/>
                <a:uLnTx/>
                <a:uFillTx/>
                <a:latin typeface="+mj-lt"/>
                <a:ea typeface="+mj-ea"/>
                <a:cs typeface="+mj-cs"/>
              </a:rPr>
              <a:t>） </a:t>
            </a:r>
            <a:r>
              <a:rPr kumimoji="0" lang="en-US" altLang="zh-CN" sz="3800" b="0" i="0" u="none" strike="noStrike" kern="0" cap="none" spc="0" normalizeH="0" baseline="0" noProof="0" dirty="0" smtClean="0">
                <a:ln>
                  <a:noFill/>
                </a:ln>
                <a:solidFill>
                  <a:schemeClr val="tx1"/>
                </a:solidFill>
                <a:effectLst/>
                <a:uLnTx/>
                <a:uFillTx/>
                <a:latin typeface="+mn-lt"/>
                <a:ea typeface="+mn-ea"/>
                <a:cs typeface="+mn-cs"/>
              </a:rPr>
              <a:t>m:n</a:t>
            </a: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的联系 </a:t>
            </a:r>
            <a:endParaRPr kumimoji="0" lang="zh-CN" altLang="en-US" sz="3800" b="0" i="0" u="none" strike="noStrike" kern="0" cap="none" spc="0" normalizeH="0" baseline="0" noProof="0" dirty="0">
              <a:ln>
                <a:noFill/>
              </a:ln>
              <a:solidFill>
                <a:schemeClr val="tx2"/>
              </a:solidFill>
              <a:effectLst/>
              <a:uLnTx/>
              <a:uFillTx/>
              <a:latin typeface="+mj-lt"/>
              <a:ea typeface="+mj-ea"/>
              <a:cs typeface="+mj-cs"/>
            </a:endParaRPr>
          </a:p>
        </p:txBody>
      </p:sp>
      <p:grpSp>
        <p:nvGrpSpPr>
          <p:cNvPr id="4" name="组合 27"/>
          <p:cNvGrpSpPr/>
          <p:nvPr/>
        </p:nvGrpSpPr>
        <p:grpSpPr>
          <a:xfrm>
            <a:off x="7408863" y="1775778"/>
            <a:ext cx="4071937" cy="4000500"/>
            <a:chOff x="2500298" y="1785926"/>
            <a:chExt cx="4071966" cy="4000528"/>
          </a:xfrm>
        </p:grpSpPr>
        <p:grpSp>
          <p:nvGrpSpPr>
            <p:cNvPr id="98308" name="组合 31"/>
            <p:cNvGrpSpPr/>
            <p:nvPr/>
          </p:nvGrpSpPr>
          <p:grpSpPr>
            <a:xfrm>
              <a:off x="2500298" y="1785926"/>
              <a:ext cx="3786214" cy="4000528"/>
              <a:chOff x="2500298" y="1785926"/>
              <a:chExt cx="3786214" cy="4000528"/>
            </a:xfrm>
          </p:grpSpPr>
          <p:grpSp>
            <p:nvGrpSpPr>
              <p:cNvPr id="98309" name="Group 5"/>
              <p:cNvGrpSpPr/>
              <p:nvPr/>
            </p:nvGrpSpPr>
            <p:grpSpPr>
              <a:xfrm>
                <a:off x="3643306" y="2571744"/>
                <a:ext cx="1368425" cy="2841076"/>
                <a:chOff x="1056" y="1344"/>
                <a:chExt cx="1008" cy="2736"/>
              </a:xfrm>
            </p:grpSpPr>
            <p:sp>
              <p:nvSpPr>
                <p:cNvPr id="98310" name="Text Box 6"/>
                <p:cNvSpPr txBox="1"/>
                <p:nvPr/>
              </p:nvSpPr>
              <p:spPr>
                <a:xfrm>
                  <a:off x="1105" y="1344"/>
                  <a:ext cx="815"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课程</a:t>
                  </a:r>
                </a:p>
              </p:txBody>
            </p:sp>
            <p:sp>
              <p:nvSpPr>
                <p:cNvPr id="98311" name="AutoShape 7"/>
                <p:cNvSpPr/>
                <p:nvPr/>
              </p:nvSpPr>
              <p:spPr>
                <a:xfrm>
                  <a:off x="1056" y="2112"/>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dirty="0">
                      <a:latin typeface="楷体_GB2312" pitchFamily="49" charset="-122"/>
                      <a:ea typeface="楷体_GB2312" pitchFamily="49" charset="-122"/>
                    </a:rPr>
                    <a:t>选修</a:t>
                  </a:r>
                </a:p>
              </p:txBody>
            </p:sp>
            <p:sp>
              <p:nvSpPr>
                <p:cNvPr id="98312" name="Text Box 8"/>
                <p:cNvSpPr txBox="1"/>
                <p:nvPr/>
              </p:nvSpPr>
              <p:spPr>
                <a:xfrm>
                  <a:off x="1152" y="3166"/>
                  <a:ext cx="816"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学生</a:t>
                  </a:r>
                </a:p>
              </p:txBody>
            </p:sp>
            <p:sp>
              <p:nvSpPr>
                <p:cNvPr id="98313" name="Line 9"/>
                <p:cNvSpPr/>
                <p:nvPr/>
              </p:nvSpPr>
              <p:spPr>
                <a:xfrm flipV="1">
                  <a:off x="1536" y="1632"/>
                  <a:ext cx="0" cy="480"/>
                </a:xfrm>
                <a:prstGeom prst="line">
                  <a:avLst/>
                </a:prstGeom>
                <a:ln w="9525" cap="flat" cmpd="sng">
                  <a:solidFill>
                    <a:schemeClr val="tx1"/>
                  </a:solidFill>
                  <a:prstDash val="solid"/>
                  <a:round/>
                  <a:headEnd type="none" w="med" len="med"/>
                  <a:tailEnd type="none" w="med" len="med"/>
                </a:ln>
              </p:spPr>
            </p:sp>
            <p:sp>
              <p:nvSpPr>
                <p:cNvPr id="98314" name="Line 10"/>
                <p:cNvSpPr/>
                <p:nvPr/>
              </p:nvSpPr>
              <p:spPr>
                <a:xfrm>
                  <a:off x="1536" y="2592"/>
                  <a:ext cx="0" cy="576"/>
                </a:xfrm>
                <a:prstGeom prst="line">
                  <a:avLst/>
                </a:prstGeom>
                <a:ln w="9525" cap="flat" cmpd="sng">
                  <a:solidFill>
                    <a:schemeClr val="tx1"/>
                  </a:solidFill>
                  <a:prstDash val="solid"/>
                  <a:round/>
                  <a:headEnd type="none" w="med" len="med"/>
                  <a:tailEnd type="none" w="med" len="med"/>
                </a:ln>
              </p:spPr>
            </p:sp>
            <p:sp>
              <p:nvSpPr>
                <p:cNvPr id="98315" name="Text Box 11"/>
                <p:cNvSpPr txBox="1"/>
                <p:nvPr/>
              </p:nvSpPr>
              <p:spPr>
                <a:xfrm>
                  <a:off x="1152" y="177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n</a:t>
                  </a:r>
                </a:p>
              </p:txBody>
            </p:sp>
            <p:sp>
              <p:nvSpPr>
                <p:cNvPr id="98316" name="Text Box 12"/>
                <p:cNvSpPr txBox="1"/>
                <p:nvPr/>
              </p:nvSpPr>
              <p:spPr>
                <a:xfrm>
                  <a:off x="1200" y="273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m</a:t>
                  </a:r>
                </a:p>
              </p:txBody>
            </p:sp>
            <p:sp>
              <p:nvSpPr>
                <p:cNvPr id="98317" name="Text Box 13"/>
                <p:cNvSpPr txBox="1"/>
                <p:nvPr/>
              </p:nvSpPr>
              <p:spPr>
                <a:xfrm>
                  <a:off x="1200" y="3696"/>
                  <a:ext cx="864" cy="384"/>
                </a:xfrm>
                <a:prstGeom prst="rect">
                  <a:avLst/>
                </a:prstGeom>
                <a:noFill/>
                <a:ln w="9525">
                  <a:noFill/>
                </a:ln>
              </p:spPr>
              <p:txBody>
                <a:bodyPr anchor="t" anchorCtr="0">
                  <a:spAutoFit/>
                </a:bodyPr>
                <a:lstStyle/>
                <a:p>
                  <a:pPr>
                    <a:spcBef>
                      <a:spcPct val="50000"/>
                    </a:spcBef>
                  </a:pPr>
                  <a:endParaRPr lang="zh-CN" altLang="en-US" sz="2000" b="1" dirty="0">
                    <a:latin typeface="楷体_GB2312" pitchFamily="49" charset="-122"/>
                    <a:ea typeface="楷体_GB2312" pitchFamily="49" charset="-122"/>
                  </a:endParaRPr>
                </a:p>
              </p:txBody>
            </p:sp>
          </p:grpSp>
          <p:sp>
            <p:nvSpPr>
              <p:cNvPr id="9" name="椭圆 8"/>
              <p:cNvSpPr/>
              <p:nvPr/>
            </p:nvSpPr>
            <p:spPr>
              <a:xfrm>
                <a:off x="2857488"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课号</a:t>
                </a:r>
              </a:p>
            </p:txBody>
          </p:sp>
          <p:sp>
            <p:nvSpPr>
              <p:cNvPr id="10" name="椭圆 9"/>
              <p:cNvSpPr/>
              <p:nvPr/>
            </p:nvSpPr>
            <p:spPr>
              <a:xfrm>
                <a:off x="4429124"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课名</a:t>
                </a:r>
              </a:p>
            </p:txBody>
          </p:sp>
          <p:sp>
            <p:nvSpPr>
              <p:cNvPr id="11" name="椭圆 10"/>
              <p:cNvSpPr/>
              <p:nvPr/>
            </p:nvSpPr>
            <p:spPr>
              <a:xfrm>
                <a:off x="250029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学号</a:t>
                </a:r>
              </a:p>
            </p:txBody>
          </p:sp>
          <p:sp>
            <p:nvSpPr>
              <p:cNvPr id="12" name="椭圆 11"/>
              <p:cNvSpPr/>
              <p:nvPr/>
            </p:nvSpPr>
            <p:spPr>
              <a:xfrm>
                <a:off x="392905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姓名</a:t>
                </a:r>
              </a:p>
            </p:txBody>
          </p:sp>
          <p:sp>
            <p:nvSpPr>
              <p:cNvPr id="13" name="椭圆 12"/>
              <p:cNvSpPr/>
              <p:nvPr/>
            </p:nvSpPr>
            <p:spPr>
              <a:xfrm>
                <a:off x="5214942"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性别</a:t>
                </a:r>
              </a:p>
            </p:txBody>
          </p:sp>
          <p:cxnSp>
            <p:nvCxnSpPr>
              <p:cNvPr id="14" name="直接连接符 13"/>
              <p:cNvCxnSpPr>
                <a:stCxn id="9" idx="5"/>
              </p:cNvCxnSpPr>
              <p:nvPr/>
            </p:nvCxnSpPr>
            <p:spPr>
              <a:xfrm rot="16200000" flipH="1">
                <a:off x="3746493" y="2176453"/>
                <a:ext cx="412753" cy="3619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0" idx="4"/>
              </p:cNvCxnSpPr>
              <p:nvPr/>
            </p:nvCxnSpPr>
            <p:spPr>
              <a:xfrm rot="5400000">
                <a:off x="4590255" y="2196297"/>
                <a:ext cx="357189" cy="3937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98312" idx="2"/>
              </p:cNvCxnSpPr>
              <p:nvPr/>
            </p:nvCxnSpPr>
            <p:spPr>
              <a:xfrm rot="5400000">
                <a:off x="3557422" y="4571530"/>
                <a:ext cx="419103" cy="112237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13" idx="0"/>
              </p:cNvCxnSpPr>
              <p:nvPr/>
            </p:nvCxnSpPr>
            <p:spPr>
              <a:xfrm>
                <a:off x="4857752" y="4929198"/>
                <a:ext cx="893769" cy="4286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endCxn id="12" idx="0"/>
              </p:cNvCxnSpPr>
              <p:nvPr/>
            </p:nvCxnSpPr>
            <p:spPr>
              <a:xfrm rot="16200000" flipH="1">
                <a:off x="4196552" y="5090331"/>
                <a:ext cx="428628" cy="1063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a:xfrm>
              <a:off x="4929190" y="3643314"/>
              <a:ext cx="57150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椭圆 6"/>
            <p:cNvSpPr/>
            <p:nvPr/>
          </p:nvSpPr>
          <p:spPr>
            <a:xfrm>
              <a:off x="5500694" y="3428999"/>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成绩</a:t>
              </a:r>
            </a:p>
          </p:txBody>
        </p:sp>
      </p:grpSp>
    </p:spTree>
    <p:extLst>
      <p:ext uri="{BB962C8B-B14F-4D97-AF65-F5344CB8AC3E}">
        <p14:creationId xmlns:p14="http://schemas.microsoft.com/office/powerpoint/2010/main" val="2638566282"/>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9090">
                                            <p:txEl>
                                              <p:pRg st="0" end="0"/>
                                            </p:txEl>
                                          </p:spTgt>
                                        </p:tgtEl>
                                        <p:attrNameLst>
                                          <p:attrName>style.visibility</p:attrName>
                                        </p:attrNameLst>
                                      </p:cBhvr>
                                      <p:to>
                                        <p:strVal val="visible"/>
                                      </p:to>
                                    </p:set>
                                    <p:anim calcmode="lin" valueType="num">
                                      <p:cBhvr additive="base">
                                        <p:cTn id="13" dur="500" fill="hold"/>
                                        <p:tgtEl>
                                          <p:spTgt spid="89090">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909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9090">
                                            <p:txEl>
                                              <p:pRg st="1" end="1"/>
                                            </p:txEl>
                                          </p:spTgt>
                                        </p:tgtEl>
                                        <p:attrNameLst>
                                          <p:attrName>style.visibility</p:attrName>
                                        </p:attrNameLst>
                                      </p:cBhvr>
                                      <p:to>
                                        <p:strVal val="visible"/>
                                      </p:to>
                                    </p:set>
                                    <p:anim calcmode="lin" valueType="num">
                                      <p:cBhvr additive="base">
                                        <p:cTn id="19" dur="500" fill="hold"/>
                                        <p:tgtEl>
                                          <p:spTgt spid="89090">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90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9090">
                                            <p:txEl>
                                              <p:pRg st="2" end="2"/>
                                            </p:txEl>
                                          </p:spTgt>
                                        </p:tgtEl>
                                        <p:attrNameLst>
                                          <p:attrName>style.visibility</p:attrName>
                                        </p:attrNameLst>
                                      </p:cBhvr>
                                      <p:to>
                                        <p:strVal val="visible"/>
                                      </p:to>
                                    </p:set>
                                    <p:anim calcmode="lin" valueType="num">
                                      <p:cBhvr additive="base">
                                        <p:cTn id="25" dur="500" fill="hold"/>
                                        <p:tgtEl>
                                          <p:spTgt spid="8909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909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9090">
                                            <p:txEl>
                                              <p:pRg st="3" end="3"/>
                                            </p:txEl>
                                          </p:spTgt>
                                        </p:tgtEl>
                                        <p:attrNameLst>
                                          <p:attrName>style.visibility</p:attrName>
                                        </p:attrNameLst>
                                      </p:cBhvr>
                                      <p:to>
                                        <p:strVal val="visible"/>
                                      </p:to>
                                    </p:set>
                                    <p:anim calcmode="lin" valueType="num">
                                      <p:cBhvr additive="base">
                                        <p:cTn id="31" dur="500" fill="hold"/>
                                        <p:tgtEl>
                                          <p:spTgt spid="89090">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909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9090">
                                            <p:txEl>
                                              <p:pRg st="4" end="4"/>
                                            </p:txEl>
                                          </p:spTgt>
                                        </p:tgtEl>
                                        <p:attrNameLst>
                                          <p:attrName>style.visibility</p:attrName>
                                        </p:attrNameLst>
                                      </p:cBhvr>
                                      <p:to>
                                        <p:strVal val="visible"/>
                                      </p:to>
                                    </p:set>
                                    <p:anim calcmode="lin" valueType="num">
                                      <p:cBhvr additive="base">
                                        <p:cTn id="37" dur="500" fill="hold"/>
                                        <p:tgtEl>
                                          <p:spTgt spid="89090">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909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9090">
                                            <p:txEl>
                                              <p:pRg st="5" end="5"/>
                                            </p:txEl>
                                          </p:spTgt>
                                        </p:tgtEl>
                                        <p:attrNameLst>
                                          <p:attrName>style.visibility</p:attrName>
                                        </p:attrNameLst>
                                      </p:cBhvr>
                                      <p:to>
                                        <p:strVal val="visible"/>
                                      </p:to>
                                    </p:set>
                                    <p:anim calcmode="lin" valueType="num">
                                      <p:cBhvr additive="base">
                                        <p:cTn id="43" dur="500" fill="hold"/>
                                        <p:tgtEl>
                                          <p:spTgt spid="89090">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909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9090">
                                            <p:txEl>
                                              <p:pRg st="6" end="6"/>
                                            </p:txEl>
                                          </p:spTgt>
                                        </p:tgtEl>
                                        <p:attrNameLst>
                                          <p:attrName>style.visibility</p:attrName>
                                        </p:attrNameLst>
                                      </p:cBhvr>
                                      <p:to>
                                        <p:strVal val="visible"/>
                                      </p:to>
                                    </p:set>
                                    <p:anim calcmode="lin" valueType="num">
                                      <p:cBhvr additive="base">
                                        <p:cTn id="49" dur="500" fill="hold"/>
                                        <p:tgtEl>
                                          <p:spTgt spid="89090">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909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p:cNvSpPr>
            <a:spLocks noGrp="1"/>
          </p:cNvSpPr>
          <p:nvPr>
            <p:ph type="title"/>
          </p:nvPr>
        </p:nvSpPr>
        <p:spPr/>
        <p:txBody>
          <a:bodyPr vert="horz" wrap="square" lIns="91440" tIns="45720" rIns="91440" bIns="45720" anchor="b" anchorCtr="0"/>
          <a:lstStyle/>
          <a:p>
            <a:r>
              <a:rPr lang="zh-CN" altLang="en-US" dirty="0"/>
              <a:t>提问</a:t>
            </a:r>
          </a:p>
        </p:txBody>
      </p:sp>
      <p:sp>
        <p:nvSpPr>
          <p:cNvPr id="99330" name="内容占位符 2"/>
          <p:cNvSpPr>
            <a:spLocks noGrp="1"/>
          </p:cNvSpPr>
          <p:nvPr>
            <p:ph idx="1"/>
          </p:nvPr>
        </p:nvSpPr>
        <p:spPr/>
        <p:txBody>
          <a:bodyPr vert="horz" wrap="square" lIns="91440" tIns="45720" rIns="91440" bIns="45720" anchor="t" anchorCtr="0"/>
          <a:lstStyle/>
          <a:p>
            <a:r>
              <a:rPr lang="zh-CN" altLang="en-US" dirty="0"/>
              <a:t>商店</a:t>
            </a:r>
            <a:endParaRPr lang="en-US" altLang="zh-CN" dirty="0"/>
          </a:p>
          <a:p>
            <a:r>
              <a:rPr lang="zh-CN" altLang="en-US" dirty="0"/>
              <a:t>商品</a:t>
            </a:r>
            <a:endParaRPr lang="en-US" altLang="zh-CN" dirty="0"/>
          </a:p>
          <a:p>
            <a:r>
              <a:rPr lang="zh-CN" altLang="en-US" dirty="0"/>
              <a:t>销售量</a:t>
            </a:r>
            <a:endParaRPr lang="en-US" altLang="zh-CN" dirty="0"/>
          </a:p>
          <a:p>
            <a:endParaRPr lang="en-US" altLang="zh-CN" dirty="0"/>
          </a:p>
          <a:p>
            <a:r>
              <a:rPr lang="zh-CN" altLang="en-US" dirty="0"/>
              <a:t>医生</a:t>
            </a:r>
            <a:endParaRPr lang="en-US" altLang="zh-CN" dirty="0"/>
          </a:p>
          <a:p>
            <a:r>
              <a:rPr lang="zh-CN" altLang="en-US" dirty="0"/>
              <a:t>病人</a:t>
            </a:r>
            <a:endParaRPr lang="en-US" altLang="zh-CN" dirty="0"/>
          </a:p>
          <a:p>
            <a:r>
              <a:rPr lang="zh-CN" altLang="en-US" dirty="0"/>
              <a:t>看病时间，诊断结果</a:t>
            </a:r>
            <a:endParaRPr lang="en-US" altLang="zh-CN" dirty="0"/>
          </a:p>
          <a:p>
            <a:endParaRPr lang="en-US" altLang="zh-CN" dirty="0"/>
          </a:p>
        </p:txBody>
      </p:sp>
      <p:grpSp>
        <p:nvGrpSpPr>
          <p:cNvPr id="4" name="组合 27"/>
          <p:cNvGrpSpPr/>
          <p:nvPr/>
        </p:nvGrpSpPr>
        <p:grpSpPr>
          <a:xfrm>
            <a:off x="5735638" y="1484313"/>
            <a:ext cx="4071937" cy="4000500"/>
            <a:chOff x="2500298" y="1785926"/>
            <a:chExt cx="4071966" cy="4000528"/>
          </a:xfrm>
        </p:grpSpPr>
        <p:grpSp>
          <p:nvGrpSpPr>
            <p:cNvPr id="99332" name="组合 31"/>
            <p:cNvGrpSpPr/>
            <p:nvPr/>
          </p:nvGrpSpPr>
          <p:grpSpPr>
            <a:xfrm>
              <a:off x="2500298" y="1785926"/>
              <a:ext cx="3786214" cy="4000528"/>
              <a:chOff x="2500298" y="1785926"/>
              <a:chExt cx="3786214" cy="4000528"/>
            </a:xfrm>
          </p:grpSpPr>
          <p:grpSp>
            <p:nvGrpSpPr>
              <p:cNvPr id="99333" name="Group 5"/>
              <p:cNvGrpSpPr/>
              <p:nvPr/>
            </p:nvGrpSpPr>
            <p:grpSpPr>
              <a:xfrm>
                <a:off x="3643306" y="2571744"/>
                <a:ext cx="1368425" cy="2841076"/>
                <a:chOff x="1056" y="1344"/>
                <a:chExt cx="1008" cy="2736"/>
              </a:xfrm>
            </p:grpSpPr>
            <p:sp>
              <p:nvSpPr>
                <p:cNvPr id="99334" name="Text Box 6"/>
                <p:cNvSpPr txBox="1"/>
                <p:nvPr/>
              </p:nvSpPr>
              <p:spPr>
                <a:xfrm>
                  <a:off x="1105" y="1344"/>
                  <a:ext cx="815"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商品</a:t>
                  </a:r>
                </a:p>
              </p:txBody>
            </p:sp>
            <p:sp>
              <p:nvSpPr>
                <p:cNvPr id="99335" name="AutoShape 7"/>
                <p:cNvSpPr/>
                <p:nvPr/>
              </p:nvSpPr>
              <p:spPr>
                <a:xfrm>
                  <a:off x="1056" y="2112"/>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dirty="0">
                      <a:latin typeface="楷体_GB2312" pitchFamily="49" charset="-122"/>
                      <a:ea typeface="楷体_GB2312" pitchFamily="49" charset="-122"/>
                    </a:rPr>
                    <a:t>销售</a:t>
                  </a:r>
                </a:p>
              </p:txBody>
            </p:sp>
            <p:sp>
              <p:nvSpPr>
                <p:cNvPr id="99336" name="Text Box 8"/>
                <p:cNvSpPr txBox="1"/>
                <p:nvPr/>
              </p:nvSpPr>
              <p:spPr>
                <a:xfrm>
                  <a:off x="1152" y="3166"/>
                  <a:ext cx="816"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商店</a:t>
                  </a:r>
                </a:p>
              </p:txBody>
            </p:sp>
            <p:sp>
              <p:nvSpPr>
                <p:cNvPr id="99337" name="Line 9"/>
                <p:cNvSpPr/>
                <p:nvPr/>
              </p:nvSpPr>
              <p:spPr>
                <a:xfrm flipV="1">
                  <a:off x="1536" y="1632"/>
                  <a:ext cx="0" cy="480"/>
                </a:xfrm>
                <a:prstGeom prst="line">
                  <a:avLst/>
                </a:prstGeom>
                <a:ln w="9525" cap="flat" cmpd="sng">
                  <a:solidFill>
                    <a:schemeClr val="tx1"/>
                  </a:solidFill>
                  <a:prstDash val="solid"/>
                  <a:round/>
                  <a:headEnd type="none" w="med" len="med"/>
                  <a:tailEnd type="none" w="med" len="med"/>
                </a:ln>
              </p:spPr>
            </p:sp>
            <p:sp>
              <p:nvSpPr>
                <p:cNvPr id="99338" name="Line 10"/>
                <p:cNvSpPr/>
                <p:nvPr/>
              </p:nvSpPr>
              <p:spPr>
                <a:xfrm>
                  <a:off x="1536" y="2592"/>
                  <a:ext cx="0" cy="576"/>
                </a:xfrm>
                <a:prstGeom prst="line">
                  <a:avLst/>
                </a:prstGeom>
                <a:ln w="9525" cap="flat" cmpd="sng">
                  <a:solidFill>
                    <a:schemeClr val="tx1"/>
                  </a:solidFill>
                  <a:prstDash val="solid"/>
                  <a:round/>
                  <a:headEnd type="none" w="med" len="med"/>
                  <a:tailEnd type="none" w="med" len="med"/>
                </a:ln>
              </p:spPr>
            </p:sp>
            <p:sp>
              <p:nvSpPr>
                <p:cNvPr id="99339" name="Text Box 11"/>
                <p:cNvSpPr txBox="1"/>
                <p:nvPr/>
              </p:nvSpPr>
              <p:spPr>
                <a:xfrm>
                  <a:off x="1152" y="177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n</a:t>
                  </a:r>
                </a:p>
              </p:txBody>
            </p:sp>
            <p:sp>
              <p:nvSpPr>
                <p:cNvPr id="99340" name="Text Box 12"/>
                <p:cNvSpPr txBox="1"/>
                <p:nvPr/>
              </p:nvSpPr>
              <p:spPr>
                <a:xfrm>
                  <a:off x="1200" y="273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m</a:t>
                  </a:r>
                </a:p>
              </p:txBody>
            </p:sp>
            <p:sp>
              <p:nvSpPr>
                <p:cNvPr id="99341" name="Text Box 13"/>
                <p:cNvSpPr txBox="1"/>
                <p:nvPr/>
              </p:nvSpPr>
              <p:spPr>
                <a:xfrm>
                  <a:off x="1200" y="3696"/>
                  <a:ext cx="864" cy="384"/>
                </a:xfrm>
                <a:prstGeom prst="rect">
                  <a:avLst/>
                </a:prstGeom>
                <a:noFill/>
                <a:ln w="9525">
                  <a:noFill/>
                </a:ln>
              </p:spPr>
              <p:txBody>
                <a:bodyPr anchor="t" anchorCtr="0">
                  <a:spAutoFit/>
                </a:bodyPr>
                <a:lstStyle/>
                <a:p>
                  <a:pPr>
                    <a:spcBef>
                      <a:spcPct val="50000"/>
                    </a:spcBef>
                  </a:pPr>
                  <a:endParaRPr lang="zh-CN" altLang="en-US" sz="2000" b="1" dirty="0">
                    <a:latin typeface="楷体_GB2312" pitchFamily="49" charset="-122"/>
                    <a:ea typeface="楷体_GB2312" pitchFamily="49" charset="-122"/>
                  </a:endParaRPr>
                </a:p>
              </p:txBody>
            </p:sp>
          </p:grpSp>
          <p:sp>
            <p:nvSpPr>
              <p:cNvPr id="9" name="椭圆 8"/>
              <p:cNvSpPr/>
              <p:nvPr/>
            </p:nvSpPr>
            <p:spPr>
              <a:xfrm>
                <a:off x="2857488"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商品号</a:t>
                </a:r>
              </a:p>
            </p:txBody>
          </p:sp>
          <p:sp>
            <p:nvSpPr>
              <p:cNvPr id="10" name="椭圆 9"/>
              <p:cNvSpPr/>
              <p:nvPr/>
            </p:nvSpPr>
            <p:spPr>
              <a:xfrm>
                <a:off x="4429124"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商品名</a:t>
                </a:r>
              </a:p>
            </p:txBody>
          </p:sp>
          <p:sp>
            <p:nvSpPr>
              <p:cNvPr id="11" name="椭圆 10"/>
              <p:cNvSpPr/>
              <p:nvPr/>
            </p:nvSpPr>
            <p:spPr>
              <a:xfrm>
                <a:off x="250029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商店号</a:t>
                </a:r>
              </a:p>
            </p:txBody>
          </p:sp>
          <p:sp>
            <p:nvSpPr>
              <p:cNvPr id="12" name="椭圆 11"/>
              <p:cNvSpPr/>
              <p:nvPr/>
            </p:nvSpPr>
            <p:spPr>
              <a:xfrm>
                <a:off x="392905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商店名</a:t>
                </a:r>
              </a:p>
            </p:txBody>
          </p:sp>
          <p:sp>
            <p:nvSpPr>
              <p:cNvPr id="13" name="椭圆 12"/>
              <p:cNvSpPr/>
              <p:nvPr/>
            </p:nvSpPr>
            <p:spPr>
              <a:xfrm>
                <a:off x="5214942"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地址</a:t>
                </a:r>
              </a:p>
            </p:txBody>
          </p:sp>
          <p:cxnSp>
            <p:nvCxnSpPr>
              <p:cNvPr id="14" name="直接连接符 13"/>
              <p:cNvCxnSpPr>
                <a:stCxn id="9" idx="5"/>
              </p:cNvCxnSpPr>
              <p:nvPr/>
            </p:nvCxnSpPr>
            <p:spPr>
              <a:xfrm rot="16200000" flipH="1">
                <a:off x="3746493" y="2176453"/>
                <a:ext cx="412753" cy="3619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0" idx="4"/>
              </p:cNvCxnSpPr>
              <p:nvPr/>
            </p:nvCxnSpPr>
            <p:spPr>
              <a:xfrm rot="5400000">
                <a:off x="4590255" y="2196297"/>
                <a:ext cx="357189" cy="3937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99336" idx="2"/>
              </p:cNvCxnSpPr>
              <p:nvPr/>
            </p:nvCxnSpPr>
            <p:spPr>
              <a:xfrm rot="5400000">
                <a:off x="3557422" y="4571530"/>
                <a:ext cx="419103" cy="112237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13" idx="0"/>
              </p:cNvCxnSpPr>
              <p:nvPr/>
            </p:nvCxnSpPr>
            <p:spPr>
              <a:xfrm>
                <a:off x="4857752" y="4929198"/>
                <a:ext cx="893769" cy="4286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endCxn id="12" idx="0"/>
              </p:cNvCxnSpPr>
              <p:nvPr/>
            </p:nvCxnSpPr>
            <p:spPr>
              <a:xfrm rot="16200000" flipH="1">
                <a:off x="4196552" y="5090331"/>
                <a:ext cx="428628" cy="1063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a:xfrm>
              <a:off x="4929190" y="3643314"/>
              <a:ext cx="57150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椭圆 6"/>
            <p:cNvSpPr/>
            <p:nvPr/>
          </p:nvSpPr>
          <p:spPr>
            <a:xfrm>
              <a:off x="5500694" y="3428999"/>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销售量</a:t>
              </a:r>
            </a:p>
          </p:txBody>
        </p:sp>
      </p:grpSp>
    </p:spTree>
    <p:extLst>
      <p:ext uri="{BB962C8B-B14F-4D97-AF65-F5344CB8AC3E}">
        <p14:creationId xmlns:p14="http://schemas.microsoft.com/office/powerpoint/2010/main" val="2769883104"/>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p:cNvSpPr>
          <p:nvPr>
            <p:ph type="title"/>
          </p:nvPr>
        </p:nvSpPr>
        <p:spPr/>
        <p:txBody>
          <a:bodyPr vert="horz" wrap="square" lIns="91440" tIns="45720" rIns="91440" bIns="45720" anchor="b" anchorCtr="0"/>
          <a:lstStyle/>
          <a:p>
            <a:r>
              <a:rPr lang="zh-CN" altLang="en-US" dirty="0"/>
              <a:t>（</a:t>
            </a:r>
            <a:r>
              <a:rPr lang="en-US" altLang="zh-CN" b="1" dirty="0"/>
              <a:t>4</a:t>
            </a:r>
            <a:r>
              <a:rPr lang="zh-CN" altLang="en-US" b="1" dirty="0"/>
              <a:t>）三个或三个以上实体间联系</a:t>
            </a:r>
            <a:endParaRPr lang="zh-CN" altLang="en-US" dirty="0"/>
          </a:p>
        </p:txBody>
      </p:sp>
      <p:sp>
        <p:nvSpPr>
          <p:cNvPr id="100354" name="内容占位符 2"/>
          <p:cNvSpPr>
            <a:spLocks noGrp="1"/>
          </p:cNvSpPr>
          <p:nvPr>
            <p:ph idx="1"/>
          </p:nvPr>
        </p:nvSpPr>
        <p:spPr>
          <a:xfrm>
            <a:off x="728345" y="1143000"/>
            <a:ext cx="11047095" cy="4876800"/>
          </a:xfrm>
        </p:spPr>
        <p:txBody>
          <a:bodyPr vert="horz" wrap="square" lIns="91440" tIns="45720" rIns="91440" bIns="45720" anchor="t" anchorCtr="0"/>
          <a:lstStyle/>
          <a:p>
            <a:r>
              <a:rPr lang="zh-CN" altLang="en-US" b="1" dirty="0"/>
              <a:t>三个或三个以上实体间的一个多元联系转换为一个关系模式。 </a:t>
            </a:r>
          </a:p>
          <a:p>
            <a:r>
              <a:rPr lang="zh-CN" altLang="en-US" dirty="0"/>
              <a:t>关系的属性：与该多元联系相连的各实体的码以及联系本身的属性。</a:t>
            </a:r>
          </a:p>
          <a:p>
            <a:r>
              <a:rPr lang="zh-CN" altLang="en-US" dirty="0"/>
              <a:t>关系的码：各实体码的组合 。</a:t>
            </a:r>
          </a:p>
          <a:p>
            <a:endParaRPr lang="zh-CN" altLang="en-US" dirty="0"/>
          </a:p>
        </p:txBody>
      </p:sp>
      <p:grpSp>
        <p:nvGrpSpPr>
          <p:cNvPr id="2" name="Group 16"/>
          <p:cNvGrpSpPr/>
          <p:nvPr>
            <p:custDataLst>
              <p:tags r:id="rId1"/>
            </p:custDataLst>
          </p:nvPr>
        </p:nvGrpSpPr>
        <p:grpSpPr>
          <a:xfrm>
            <a:off x="7206933" y="2898140"/>
            <a:ext cx="4206875" cy="3048983"/>
            <a:chOff x="3424" y="1117"/>
            <a:chExt cx="2404" cy="2617"/>
          </a:xfrm>
        </p:grpSpPr>
        <p:sp>
          <p:nvSpPr>
            <p:cNvPr id="100356" name="Text Box 5"/>
            <p:cNvSpPr txBox="1"/>
            <p:nvPr>
              <p:custDataLst>
                <p:tags r:id="rId2"/>
              </p:custDataLst>
            </p:nvPr>
          </p:nvSpPr>
          <p:spPr>
            <a:xfrm>
              <a:off x="4151" y="1117"/>
              <a:ext cx="746" cy="395"/>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eaLnBrk="0" hangingPunct="0">
                <a:spcBef>
                  <a:spcPct val="50000"/>
                </a:spcBef>
              </a:pPr>
              <a:r>
                <a:rPr lang="zh-CN" altLang="en-US" sz="2400" dirty="0">
                  <a:latin typeface="Times New Roman" panose="02020603050405020304" pitchFamily="18" charset="0"/>
                  <a:ea typeface="楷体_GB2312" pitchFamily="49" charset="-122"/>
                </a:rPr>
                <a:t>供应商</a:t>
              </a:r>
            </a:p>
          </p:txBody>
        </p:sp>
        <p:sp>
          <p:nvSpPr>
            <p:cNvPr id="100357" name="AutoShape 6"/>
            <p:cNvSpPr/>
            <p:nvPr>
              <p:custDataLst>
                <p:tags r:id="rId3"/>
              </p:custDataLst>
            </p:nvPr>
          </p:nvSpPr>
          <p:spPr>
            <a:xfrm>
              <a:off x="4106" y="1870"/>
              <a:ext cx="877" cy="471"/>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2400" dirty="0">
                  <a:latin typeface="Times New Roman" panose="02020603050405020304" pitchFamily="18" charset="0"/>
                  <a:ea typeface="楷体_GB2312" pitchFamily="49" charset="-122"/>
                </a:rPr>
                <a:t>供应</a:t>
              </a:r>
            </a:p>
          </p:txBody>
        </p:sp>
        <p:sp>
          <p:nvSpPr>
            <p:cNvPr id="100358" name="Text Box 7"/>
            <p:cNvSpPr txBox="1"/>
            <p:nvPr>
              <p:custDataLst>
                <p:tags r:id="rId4"/>
              </p:custDataLst>
            </p:nvPr>
          </p:nvSpPr>
          <p:spPr>
            <a:xfrm>
              <a:off x="3767" y="2952"/>
              <a:ext cx="565" cy="395"/>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eaLnBrk="0" hangingPunct="0">
                <a:spcBef>
                  <a:spcPct val="50000"/>
                </a:spcBef>
              </a:pPr>
              <a:r>
                <a:rPr lang="zh-CN" altLang="en-US" sz="2400" dirty="0">
                  <a:latin typeface="Times New Roman" panose="02020603050405020304" pitchFamily="18" charset="0"/>
                  <a:ea typeface="楷体_GB2312" pitchFamily="49" charset="-122"/>
                </a:rPr>
                <a:t>项目</a:t>
              </a:r>
            </a:p>
          </p:txBody>
        </p:sp>
        <p:sp>
          <p:nvSpPr>
            <p:cNvPr id="100359" name="Line 8"/>
            <p:cNvSpPr/>
            <p:nvPr>
              <p:custDataLst>
                <p:tags r:id="rId5"/>
              </p:custDataLst>
            </p:nvPr>
          </p:nvSpPr>
          <p:spPr>
            <a:xfrm flipV="1">
              <a:off x="4545" y="1377"/>
              <a:ext cx="0" cy="471"/>
            </a:xfrm>
            <a:prstGeom prst="line">
              <a:avLst/>
            </a:prstGeom>
            <a:ln w="9525" cap="flat" cmpd="sng">
              <a:solidFill>
                <a:schemeClr val="tx1"/>
              </a:solidFill>
              <a:prstDash val="solid"/>
              <a:round/>
              <a:headEnd type="none" w="med" len="med"/>
              <a:tailEnd type="none" w="med" len="med"/>
            </a:ln>
          </p:spPr>
        </p:sp>
        <p:sp>
          <p:nvSpPr>
            <p:cNvPr id="100360" name="Line 9"/>
            <p:cNvSpPr/>
            <p:nvPr>
              <p:custDataLst>
                <p:tags r:id="rId6"/>
              </p:custDataLst>
            </p:nvPr>
          </p:nvSpPr>
          <p:spPr>
            <a:xfrm flipH="1">
              <a:off x="4059" y="2105"/>
              <a:ext cx="47" cy="826"/>
            </a:xfrm>
            <a:prstGeom prst="line">
              <a:avLst/>
            </a:prstGeom>
            <a:ln w="9525" cap="flat" cmpd="sng">
              <a:solidFill>
                <a:schemeClr val="tx1"/>
              </a:solidFill>
              <a:prstDash val="solid"/>
              <a:round/>
              <a:headEnd type="none" w="med" len="med"/>
              <a:tailEnd type="none" w="med" len="med"/>
            </a:ln>
          </p:spPr>
        </p:sp>
        <p:sp>
          <p:nvSpPr>
            <p:cNvPr id="100361" name="Text Box 10"/>
            <p:cNvSpPr txBox="1"/>
            <p:nvPr>
              <p:custDataLst>
                <p:tags r:id="rId7"/>
              </p:custDataLst>
            </p:nvPr>
          </p:nvSpPr>
          <p:spPr>
            <a:xfrm>
              <a:off x="4194" y="1541"/>
              <a:ext cx="219" cy="395"/>
            </a:xfrm>
            <a:prstGeom prst="rect">
              <a:avLst/>
            </a:prstGeom>
            <a:noFill/>
            <a:ln w="9525">
              <a:noFill/>
            </a:ln>
          </p:spPr>
          <p:txBody>
            <a:bodyPr anchor="t" anchorCtr="0">
              <a:spAutoFit/>
            </a:bodyPr>
            <a:lstStyle/>
            <a:p>
              <a:pPr eaLnBrk="0" hangingPunct="0">
                <a:spcBef>
                  <a:spcPct val="50000"/>
                </a:spcBef>
              </a:pPr>
              <a:r>
                <a:rPr lang="en-US" altLang="zh-CN" sz="2400" dirty="0">
                  <a:latin typeface="Times New Roman" panose="02020603050405020304" pitchFamily="18" charset="0"/>
                  <a:ea typeface="宋体" panose="02010600030101010101" pitchFamily="2" charset="-122"/>
                </a:rPr>
                <a:t>m</a:t>
              </a:r>
            </a:p>
          </p:txBody>
        </p:sp>
        <p:sp>
          <p:nvSpPr>
            <p:cNvPr id="100362" name="Text Box 11"/>
            <p:cNvSpPr txBox="1"/>
            <p:nvPr>
              <p:custDataLst>
                <p:tags r:id="rId8"/>
              </p:custDataLst>
            </p:nvPr>
          </p:nvSpPr>
          <p:spPr>
            <a:xfrm>
              <a:off x="5203" y="2491"/>
              <a:ext cx="220" cy="395"/>
            </a:xfrm>
            <a:prstGeom prst="rect">
              <a:avLst/>
            </a:prstGeom>
            <a:noFill/>
            <a:ln w="9525">
              <a:noFill/>
            </a:ln>
          </p:spPr>
          <p:txBody>
            <a:bodyPr anchor="t" anchorCtr="0">
              <a:spAutoFit/>
            </a:bodyPr>
            <a:lstStyle/>
            <a:p>
              <a:pPr eaLnBrk="0" hangingPunct="0">
                <a:spcBef>
                  <a:spcPct val="50000"/>
                </a:spcBef>
              </a:pPr>
              <a:r>
                <a:rPr lang="en-US" altLang="zh-CN" sz="2400" dirty="0">
                  <a:latin typeface="Times New Roman" panose="02020603050405020304" pitchFamily="18" charset="0"/>
                  <a:ea typeface="宋体" panose="02010600030101010101" pitchFamily="2" charset="-122"/>
                </a:rPr>
                <a:t>p</a:t>
              </a:r>
            </a:p>
          </p:txBody>
        </p:sp>
        <p:sp>
          <p:nvSpPr>
            <p:cNvPr id="100363" name="Text Box 12"/>
            <p:cNvSpPr txBox="1"/>
            <p:nvPr>
              <p:custDataLst>
                <p:tags r:id="rId9"/>
              </p:custDataLst>
            </p:nvPr>
          </p:nvSpPr>
          <p:spPr>
            <a:xfrm>
              <a:off x="3424" y="3339"/>
              <a:ext cx="2404" cy="395"/>
            </a:xfrm>
            <a:prstGeom prst="rect">
              <a:avLst/>
            </a:prstGeom>
            <a:noFill/>
            <a:ln w="9525">
              <a:noFill/>
            </a:ln>
          </p:spPr>
          <p:txBody>
            <a:bodyPr anchor="t" anchorCtr="0">
              <a:spAutoFit/>
            </a:bodyPr>
            <a:lstStyle/>
            <a:p>
              <a:pPr algn="ctr" eaLnBrk="0" hangingPunct="0">
                <a:spcBef>
                  <a:spcPct val="50000"/>
                </a:spcBef>
              </a:pPr>
              <a:r>
                <a:rPr lang="zh-CN" altLang="en-US" sz="2400" b="1" dirty="0">
                  <a:solidFill>
                    <a:srgbClr val="0000FF"/>
                  </a:solidFill>
                  <a:latin typeface="Times New Roman" panose="02020603050405020304" pitchFamily="18" charset="0"/>
                  <a:ea typeface="楷体_GB2312" pitchFamily="49" charset="-122"/>
                </a:rPr>
                <a:t>两个以上实体型间</a:t>
              </a:r>
              <a:r>
                <a:rPr lang="en-US" altLang="zh-CN" sz="2400" b="1" dirty="0">
                  <a:solidFill>
                    <a:srgbClr val="0000FF"/>
                  </a:solidFill>
                  <a:latin typeface="Times New Roman" panose="02020603050405020304" pitchFamily="18" charset="0"/>
                  <a:ea typeface="楷体_GB2312" pitchFamily="49" charset="-122"/>
                </a:rPr>
                <a:t>m:n</a:t>
              </a:r>
              <a:r>
                <a:rPr lang="zh-CN" altLang="en-US" sz="2400" b="1" dirty="0">
                  <a:solidFill>
                    <a:srgbClr val="0000FF"/>
                  </a:solidFill>
                  <a:latin typeface="Times New Roman" panose="02020603050405020304" pitchFamily="18" charset="0"/>
                  <a:ea typeface="楷体_GB2312" pitchFamily="49" charset="-122"/>
                </a:rPr>
                <a:t>联系</a:t>
              </a:r>
            </a:p>
          </p:txBody>
        </p:sp>
        <p:sp>
          <p:nvSpPr>
            <p:cNvPr id="100364" name="Text Box 13"/>
            <p:cNvSpPr txBox="1"/>
            <p:nvPr>
              <p:custDataLst>
                <p:tags r:id="rId10"/>
              </p:custDataLst>
            </p:nvPr>
          </p:nvSpPr>
          <p:spPr>
            <a:xfrm>
              <a:off x="4785" y="2952"/>
              <a:ext cx="544" cy="395"/>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eaLnBrk="0" hangingPunct="0">
                <a:spcBef>
                  <a:spcPct val="50000"/>
                </a:spcBef>
              </a:pPr>
              <a:r>
                <a:rPr lang="zh-CN" altLang="en-US" sz="2400" dirty="0">
                  <a:latin typeface="Times New Roman" panose="02020603050405020304" pitchFamily="18" charset="0"/>
                  <a:ea typeface="楷体_GB2312" pitchFamily="49" charset="-122"/>
                </a:rPr>
                <a:t>零件</a:t>
              </a:r>
            </a:p>
          </p:txBody>
        </p:sp>
        <p:sp>
          <p:nvSpPr>
            <p:cNvPr id="100365" name="Line 14"/>
            <p:cNvSpPr/>
            <p:nvPr>
              <p:custDataLst>
                <p:tags r:id="rId11"/>
              </p:custDataLst>
            </p:nvPr>
          </p:nvSpPr>
          <p:spPr>
            <a:xfrm>
              <a:off x="4983" y="2105"/>
              <a:ext cx="120" cy="871"/>
            </a:xfrm>
            <a:prstGeom prst="line">
              <a:avLst/>
            </a:prstGeom>
            <a:ln w="9525" cap="flat" cmpd="sng">
              <a:solidFill>
                <a:schemeClr val="tx1"/>
              </a:solidFill>
              <a:prstDash val="solid"/>
              <a:round/>
              <a:headEnd type="none" w="med" len="med"/>
              <a:tailEnd type="none" w="med" len="med"/>
            </a:ln>
          </p:spPr>
        </p:sp>
        <p:sp>
          <p:nvSpPr>
            <p:cNvPr id="100366" name="Text Box 15"/>
            <p:cNvSpPr txBox="1"/>
            <p:nvPr>
              <p:custDataLst>
                <p:tags r:id="rId12"/>
              </p:custDataLst>
            </p:nvPr>
          </p:nvSpPr>
          <p:spPr>
            <a:xfrm>
              <a:off x="3711" y="2447"/>
              <a:ext cx="219" cy="395"/>
            </a:xfrm>
            <a:prstGeom prst="rect">
              <a:avLst/>
            </a:prstGeom>
            <a:noFill/>
            <a:ln w="9525">
              <a:noFill/>
            </a:ln>
          </p:spPr>
          <p:txBody>
            <a:bodyPr anchor="t" anchorCtr="0">
              <a:spAutoFit/>
            </a:bodyPr>
            <a:lstStyle/>
            <a:p>
              <a:pPr eaLnBrk="0" hangingPunct="0">
                <a:spcBef>
                  <a:spcPct val="50000"/>
                </a:spcBef>
              </a:pPr>
              <a:r>
                <a:rPr lang="en-US" altLang="zh-CN" sz="2400" dirty="0">
                  <a:latin typeface="Times New Roman" panose="02020603050405020304" pitchFamily="18" charset="0"/>
                  <a:ea typeface="宋体" panose="02010600030101010101" pitchFamily="2" charset="-122"/>
                </a:rPr>
                <a:t>n</a:t>
              </a:r>
            </a:p>
          </p:txBody>
        </p:sp>
      </p:grpSp>
      <p:sp>
        <p:nvSpPr>
          <p:cNvPr id="100367" name="TextBox 15"/>
          <p:cNvSpPr txBox="1"/>
          <p:nvPr/>
        </p:nvSpPr>
        <p:spPr>
          <a:xfrm>
            <a:off x="1092200" y="3500438"/>
            <a:ext cx="4002088" cy="2676525"/>
          </a:xfrm>
          <a:prstGeom prst="rect">
            <a:avLst/>
          </a:prstGeom>
          <a:noFill/>
          <a:ln w="9525">
            <a:noFill/>
          </a:ln>
        </p:spPr>
        <p:txBody>
          <a:bodyPr anchor="t" anchorCtr="0">
            <a:spAutoFit/>
          </a:bodyPr>
          <a:lstStyle/>
          <a:p>
            <a:pPr eaLnBrk="0" hangingPunct="0">
              <a:lnSpc>
                <a:spcPct val="150000"/>
              </a:lnSpc>
            </a:pPr>
            <a:r>
              <a:rPr lang="en-US" altLang="zh-CN" sz="2800" dirty="0">
                <a:latin typeface="Verdana" panose="020B0604030504040204" pitchFamily="34" charset="0"/>
                <a:ea typeface="宋体" panose="02010600030101010101" pitchFamily="2" charset="-122"/>
              </a:rPr>
              <a:t>S(sno,sname,…)</a:t>
            </a:r>
          </a:p>
          <a:p>
            <a:pPr eaLnBrk="0" hangingPunct="0">
              <a:lnSpc>
                <a:spcPct val="150000"/>
              </a:lnSpc>
            </a:pPr>
            <a:r>
              <a:rPr lang="en-US" altLang="zh-CN" sz="2800" dirty="0">
                <a:latin typeface="Verdana" panose="020B0604030504040204" pitchFamily="34" charset="0"/>
                <a:ea typeface="宋体" panose="02010600030101010101" pitchFamily="2" charset="-122"/>
              </a:rPr>
              <a:t>P(pno,pname,…)</a:t>
            </a:r>
          </a:p>
          <a:p>
            <a:pPr eaLnBrk="0" hangingPunct="0">
              <a:lnSpc>
                <a:spcPct val="150000"/>
              </a:lnSpc>
            </a:pPr>
            <a:r>
              <a:rPr lang="en-US" altLang="zh-CN" sz="2800" dirty="0">
                <a:latin typeface="Verdana" panose="020B0604030504040204" pitchFamily="34" charset="0"/>
                <a:ea typeface="宋体" panose="02010600030101010101" pitchFamily="2" charset="-122"/>
              </a:rPr>
              <a:t>J(jno,jname,…)</a:t>
            </a:r>
          </a:p>
          <a:p>
            <a:pPr eaLnBrk="0" hangingPunct="0">
              <a:lnSpc>
                <a:spcPct val="150000"/>
              </a:lnSpc>
            </a:pPr>
            <a:r>
              <a:rPr lang="en-US" altLang="zh-CN" sz="2800" dirty="0">
                <a:latin typeface="Verdana" panose="020B0604030504040204" pitchFamily="34" charset="0"/>
                <a:ea typeface="宋体" panose="02010600030101010101" pitchFamily="2" charset="-122"/>
              </a:rPr>
              <a:t>Spj(sno,pno,jno,qty)</a:t>
            </a:r>
            <a:endParaRPr lang="zh-CN" altLang="en-US" sz="2800" dirty="0">
              <a:latin typeface="Verdan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754259941"/>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ppt_w*0.05"/>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anim calcmode="lin" valueType="num">
                                      <p:cBhvr>
                                        <p:cTn id="9" dur="500" fill="hold"/>
                                        <p:tgtEl>
                                          <p:spTgt spid="2"/>
                                        </p:tgtEl>
                                        <p:attrNameLst>
                                          <p:attrName>ppt_x</p:attrName>
                                        </p:attrNameLst>
                                      </p:cBhvr>
                                      <p:tavLst>
                                        <p:tav tm="0">
                                          <p:val>
                                            <p:strVal val="#ppt_x-.2"/>
                                          </p:val>
                                        </p:tav>
                                        <p:tav tm="100000">
                                          <p:val>
                                            <p:strVal val="#ppt_x"/>
                                          </p:val>
                                        </p:tav>
                                      </p:tavLst>
                                    </p:anim>
                                    <p:anim calcmode="lin" valueType="num">
                                      <p:cBhvr>
                                        <p:cTn id="10" dur="500" fill="hold"/>
                                        <p:tgtEl>
                                          <p:spTgt spid="2"/>
                                        </p:tgtEl>
                                        <p:attrNameLst>
                                          <p:attrName>ppt_y</p:attrName>
                                        </p:attrNameLst>
                                      </p:cBhvr>
                                      <p:tavLst>
                                        <p:tav tm="0">
                                          <p:val>
                                            <p:strVal val="#ppt_y"/>
                                          </p:val>
                                        </p:tav>
                                        <p:tav tm="100000">
                                          <p:val>
                                            <p:strVal val="#ppt_y"/>
                                          </p:val>
                                        </p:tav>
                                      </p:tavLst>
                                    </p:anim>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标题 1"/>
          <p:cNvSpPr>
            <a:spLocks noGrp="1"/>
          </p:cNvSpPr>
          <p:nvPr>
            <p:ph type="title"/>
          </p:nvPr>
        </p:nvSpPr>
        <p:spPr/>
        <p:txBody>
          <a:bodyPr vert="horz" wrap="square" lIns="91440" tIns="45720" rIns="91440" bIns="45720" anchor="b" anchorCtr="0"/>
          <a:lstStyle/>
          <a:p>
            <a:r>
              <a:rPr lang="zh-CN" altLang="en-US" dirty="0"/>
              <a:t>提问：</a:t>
            </a:r>
          </a:p>
        </p:txBody>
      </p:sp>
      <p:sp>
        <p:nvSpPr>
          <p:cNvPr id="101378" name="内容占位符 2"/>
          <p:cNvSpPr>
            <a:spLocks noGrp="1"/>
          </p:cNvSpPr>
          <p:nvPr>
            <p:ph idx="1"/>
          </p:nvPr>
        </p:nvSpPr>
        <p:spPr/>
        <p:txBody>
          <a:bodyPr vert="horz" wrap="square" lIns="91440" tIns="45720" rIns="91440" bIns="45720" anchor="t" anchorCtr="0"/>
          <a:lstStyle/>
          <a:p>
            <a:r>
              <a:rPr lang="zh-CN" altLang="en-US" dirty="0"/>
              <a:t>中介职工</a:t>
            </a:r>
            <a:endParaRPr lang="en-US" altLang="zh-CN" dirty="0"/>
          </a:p>
          <a:p>
            <a:r>
              <a:rPr lang="zh-CN" altLang="en-US" dirty="0"/>
              <a:t>买房人</a:t>
            </a:r>
            <a:endParaRPr lang="en-US" altLang="zh-CN" dirty="0"/>
          </a:p>
          <a:p>
            <a:r>
              <a:rPr lang="zh-CN" altLang="en-US" dirty="0"/>
              <a:t>卖房人</a:t>
            </a:r>
            <a:endParaRPr lang="en-US" altLang="zh-CN" dirty="0"/>
          </a:p>
          <a:p>
            <a:r>
              <a:rPr lang="zh-CN" altLang="en-US" dirty="0"/>
              <a:t>房屋</a:t>
            </a:r>
            <a:endParaRPr lang="en-US" altLang="zh-CN" dirty="0"/>
          </a:p>
          <a:p>
            <a:r>
              <a:rPr lang="zh-CN" altLang="en-US" dirty="0"/>
              <a:t>交易时间、成交金额</a:t>
            </a:r>
          </a:p>
          <a:p>
            <a:endParaRPr lang="zh-CN" altLang="en-US" dirty="0"/>
          </a:p>
        </p:txBody>
      </p:sp>
    </p:spTree>
    <p:extLst>
      <p:ext uri="{BB962C8B-B14F-4D97-AF65-F5344CB8AC3E}">
        <p14:creationId xmlns:p14="http://schemas.microsoft.com/office/powerpoint/2010/main" val="3370852157"/>
      </p:ext>
    </p:extLst>
  </p:cSld>
  <p:clrMapOvr>
    <a:masterClrMapping/>
  </p:clrMapOvr>
  <p:transition advClick="0"/>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p:cNvSpPr>
            <a:spLocks noGrp="1"/>
          </p:cNvSpPr>
          <p:nvPr>
            <p:ph type="title"/>
          </p:nvPr>
        </p:nvSpPr>
        <p:spPr/>
        <p:txBody>
          <a:bodyPr vert="horz" wrap="square" lIns="91440" tIns="45720" rIns="91440" bIns="45720" anchor="b" anchorCtr="0"/>
          <a:lstStyle/>
          <a:p>
            <a:r>
              <a:rPr lang="zh-CN" altLang="en-US" dirty="0"/>
              <a:t>（</a:t>
            </a:r>
            <a:r>
              <a:rPr lang="en-US" altLang="zh-CN" b="1" dirty="0"/>
              <a:t>5</a:t>
            </a:r>
            <a:r>
              <a:rPr lang="zh-CN" altLang="en-US" b="1" dirty="0"/>
              <a:t>）一个实体内部的联系</a:t>
            </a:r>
            <a:endParaRPr lang="zh-CN" altLang="en-US" dirty="0"/>
          </a:p>
        </p:txBody>
      </p:sp>
      <p:sp>
        <p:nvSpPr>
          <p:cNvPr id="97283" name="内容占位符 2"/>
          <p:cNvSpPr>
            <a:spLocks noGrp="1"/>
          </p:cNvSpPr>
          <p:nvPr>
            <p:ph idx="1"/>
          </p:nvPr>
        </p:nvSpPr>
        <p:spPr>
          <a:xfrm>
            <a:off x="757555" y="1143000"/>
            <a:ext cx="9091295" cy="4876800"/>
          </a:xfrm>
        </p:spPr>
        <p:txBody>
          <a:bodyPr vert="horz" wrap="square" lIns="91440" tIns="45720" rIns="91440" bIns="45720" anchor="t" anchorCtr="0"/>
          <a:lstStyle/>
          <a:p>
            <a:pPr marL="469900" marR="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pPr>
            <a:r>
              <a:rPr kumimoji="0" lang="zh-CN" altLang="en-US" sz="3000" b="1" i="0" u="none" strike="noStrike" kern="0" cap="none" spc="0" normalizeH="0" baseline="0" noProof="1">
                <a:solidFill>
                  <a:schemeClr val="tx1"/>
                </a:solidFill>
                <a:latin typeface="+mn-lt"/>
                <a:ea typeface="+mn-ea"/>
                <a:cs typeface="+mn-cs"/>
              </a:rPr>
              <a:t>一对多：一方的主码加入到多方。 </a:t>
            </a:r>
          </a:p>
          <a:p>
            <a:pPr marL="469900" marR="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pPr>
            <a:endParaRPr kumimoji="0" lang="zh-CN" altLang="en-US" sz="3000" b="0" i="0" u="none" strike="noStrike" kern="0" cap="none" spc="0" normalizeH="0" baseline="0" noProof="1">
              <a:solidFill>
                <a:schemeClr val="tx1"/>
              </a:solidFill>
              <a:latin typeface="+mn-lt"/>
              <a:ea typeface="+mn-ea"/>
              <a:cs typeface="+mn-cs"/>
            </a:endParaRPr>
          </a:p>
          <a:p>
            <a:pPr marL="469900" marR="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pPr>
            <a:endParaRPr kumimoji="0" lang="zh-CN" altLang="en-US" sz="3000" b="0" i="0" u="none" strike="noStrike" kern="0" cap="none" spc="0" normalizeH="0" baseline="0" noProof="1">
              <a:solidFill>
                <a:schemeClr val="tx1"/>
              </a:solidFill>
              <a:latin typeface="+mn-lt"/>
              <a:ea typeface="+mn-ea"/>
              <a:cs typeface="+mn-cs"/>
            </a:endParaRPr>
          </a:p>
          <a:p>
            <a:pPr marL="469900" marR="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pPr>
            <a:endParaRPr kumimoji="0" lang="zh-CN" altLang="en-US" sz="3000" b="0" i="0" u="none" strike="noStrike" kern="0" cap="none" spc="0" normalizeH="0" baseline="0" noProof="1">
              <a:solidFill>
                <a:schemeClr val="tx1"/>
              </a:solidFill>
              <a:latin typeface="+mn-lt"/>
              <a:ea typeface="+mn-ea"/>
              <a:cs typeface="+mn-cs"/>
            </a:endParaRPr>
          </a:p>
          <a:p>
            <a:pPr marL="469900" marR="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pPr>
            <a:r>
              <a:rPr kumimoji="0" lang="zh-CN" altLang="en-US" sz="3000" b="0" i="0" u="none" strike="noStrike" kern="0" cap="none" spc="0" normalizeH="0" baseline="0" noProof="1">
                <a:solidFill>
                  <a:schemeClr val="tx1"/>
                </a:solidFill>
                <a:latin typeface="+mn-lt"/>
                <a:ea typeface="+mn-ea"/>
                <a:cs typeface="+mn-cs"/>
              </a:rPr>
              <a:t>多对多：联系转换成一个表</a:t>
            </a:r>
          </a:p>
        </p:txBody>
      </p:sp>
      <p:grpSp>
        <p:nvGrpSpPr>
          <p:cNvPr id="4" name="Group 16"/>
          <p:cNvGrpSpPr/>
          <p:nvPr/>
        </p:nvGrpSpPr>
        <p:grpSpPr>
          <a:xfrm>
            <a:off x="9638665" y="4508183"/>
            <a:ext cx="1535113" cy="1425575"/>
            <a:chOff x="4106" y="1117"/>
            <a:chExt cx="877" cy="1224"/>
          </a:xfrm>
        </p:grpSpPr>
        <p:sp>
          <p:nvSpPr>
            <p:cNvPr id="102404" name="Line 8"/>
            <p:cNvSpPr/>
            <p:nvPr/>
          </p:nvSpPr>
          <p:spPr>
            <a:xfrm flipV="1">
              <a:off x="4635" y="1490"/>
              <a:ext cx="0" cy="471"/>
            </a:xfrm>
            <a:prstGeom prst="line">
              <a:avLst/>
            </a:prstGeom>
            <a:ln w="9525" cap="flat" cmpd="sng">
              <a:solidFill>
                <a:schemeClr val="tx1"/>
              </a:solidFill>
              <a:prstDash val="solid"/>
              <a:round/>
              <a:headEnd type="none" w="med" len="med"/>
              <a:tailEnd type="none" w="med" len="med"/>
            </a:ln>
          </p:spPr>
        </p:sp>
        <p:sp>
          <p:nvSpPr>
            <p:cNvPr id="102405" name="Line 8"/>
            <p:cNvSpPr/>
            <p:nvPr/>
          </p:nvSpPr>
          <p:spPr>
            <a:xfrm flipV="1">
              <a:off x="4429" y="1461"/>
              <a:ext cx="0" cy="471"/>
            </a:xfrm>
            <a:prstGeom prst="line">
              <a:avLst/>
            </a:prstGeom>
            <a:ln w="9525" cap="flat" cmpd="sng">
              <a:solidFill>
                <a:schemeClr val="tx1"/>
              </a:solidFill>
              <a:prstDash val="solid"/>
              <a:round/>
              <a:headEnd type="none" w="med" len="med"/>
              <a:tailEnd type="none" w="med" len="med"/>
            </a:ln>
          </p:spPr>
        </p:sp>
        <p:sp>
          <p:nvSpPr>
            <p:cNvPr id="102406" name="Text Box 5"/>
            <p:cNvSpPr txBox="1"/>
            <p:nvPr/>
          </p:nvSpPr>
          <p:spPr>
            <a:xfrm>
              <a:off x="4151" y="1117"/>
              <a:ext cx="746" cy="395"/>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eaLnBrk="0" hangingPunct="0">
                <a:spcBef>
                  <a:spcPct val="50000"/>
                </a:spcBef>
              </a:pPr>
              <a:r>
                <a:rPr lang="zh-CN" altLang="en-US" sz="2400" dirty="0">
                  <a:latin typeface="Times New Roman" panose="02020603050405020304" pitchFamily="18" charset="0"/>
                  <a:ea typeface="楷体_GB2312" pitchFamily="49" charset="-122"/>
                </a:rPr>
                <a:t>用户</a:t>
              </a:r>
            </a:p>
          </p:txBody>
        </p:sp>
        <p:sp>
          <p:nvSpPr>
            <p:cNvPr id="102407" name="AutoShape 6"/>
            <p:cNvSpPr/>
            <p:nvPr/>
          </p:nvSpPr>
          <p:spPr>
            <a:xfrm>
              <a:off x="4106" y="1870"/>
              <a:ext cx="877" cy="471"/>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2400" dirty="0">
                  <a:latin typeface="Times New Roman" panose="02020603050405020304" pitchFamily="18" charset="0"/>
                  <a:ea typeface="楷体_GB2312" pitchFamily="49" charset="-122"/>
                </a:rPr>
                <a:t>关注</a:t>
              </a:r>
            </a:p>
          </p:txBody>
        </p:sp>
        <p:sp>
          <p:nvSpPr>
            <p:cNvPr id="102408" name="Text Box 10"/>
            <p:cNvSpPr txBox="1"/>
            <p:nvPr/>
          </p:nvSpPr>
          <p:spPr>
            <a:xfrm>
              <a:off x="4153" y="1541"/>
              <a:ext cx="219" cy="395"/>
            </a:xfrm>
            <a:prstGeom prst="rect">
              <a:avLst/>
            </a:prstGeom>
            <a:noFill/>
            <a:ln w="9525">
              <a:noFill/>
            </a:ln>
          </p:spPr>
          <p:txBody>
            <a:bodyPr anchor="t" anchorCtr="0">
              <a:spAutoFit/>
            </a:bodyPr>
            <a:lstStyle/>
            <a:p>
              <a:pPr eaLnBrk="0" hangingPunct="0">
                <a:spcBef>
                  <a:spcPct val="50000"/>
                </a:spcBef>
              </a:pPr>
              <a:r>
                <a:rPr lang="en-US" altLang="zh-CN" sz="2400" dirty="0">
                  <a:latin typeface="Times New Roman" panose="02020603050405020304" pitchFamily="18" charset="0"/>
                  <a:ea typeface="宋体" panose="02010600030101010101" pitchFamily="2" charset="-122"/>
                </a:rPr>
                <a:t>m</a:t>
              </a:r>
            </a:p>
          </p:txBody>
        </p:sp>
        <p:sp>
          <p:nvSpPr>
            <p:cNvPr id="102409" name="Text Box 15"/>
            <p:cNvSpPr txBox="1"/>
            <p:nvPr/>
          </p:nvSpPr>
          <p:spPr>
            <a:xfrm>
              <a:off x="4717" y="1506"/>
              <a:ext cx="219" cy="260"/>
            </a:xfrm>
            <a:prstGeom prst="rect">
              <a:avLst/>
            </a:prstGeom>
            <a:noFill/>
            <a:ln w="9525">
              <a:noFill/>
            </a:ln>
          </p:spPr>
          <p:txBody>
            <a:bodyPr anchor="t" anchorCtr="0"/>
            <a:lstStyle/>
            <a:p>
              <a:pPr eaLnBrk="0" hangingPunct="0">
                <a:spcBef>
                  <a:spcPct val="50000"/>
                </a:spcBef>
              </a:pPr>
              <a:r>
                <a:rPr lang="en-US" altLang="zh-CN" sz="2400" dirty="0">
                  <a:latin typeface="Times New Roman" panose="02020603050405020304" pitchFamily="18" charset="0"/>
                  <a:ea typeface="宋体" panose="02010600030101010101" pitchFamily="2" charset="-122"/>
                </a:rPr>
                <a:t>n</a:t>
              </a:r>
            </a:p>
          </p:txBody>
        </p:sp>
      </p:grpSp>
      <p:grpSp>
        <p:nvGrpSpPr>
          <p:cNvPr id="17" name="Group 16"/>
          <p:cNvGrpSpPr/>
          <p:nvPr/>
        </p:nvGrpSpPr>
        <p:grpSpPr>
          <a:xfrm>
            <a:off x="9480550" y="1844358"/>
            <a:ext cx="1535113" cy="1425575"/>
            <a:chOff x="4106" y="1117"/>
            <a:chExt cx="877" cy="1224"/>
          </a:xfrm>
        </p:grpSpPr>
        <p:sp>
          <p:nvSpPr>
            <p:cNvPr id="102411" name="Line 8"/>
            <p:cNvSpPr/>
            <p:nvPr/>
          </p:nvSpPr>
          <p:spPr>
            <a:xfrm flipV="1">
              <a:off x="4635" y="1490"/>
              <a:ext cx="0" cy="471"/>
            </a:xfrm>
            <a:prstGeom prst="line">
              <a:avLst/>
            </a:prstGeom>
            <a:ln w="9525" cap="flat" cmpd="sng">
              <a:solidFill>
                <a:schemeClr val="tx1"/>
              </a:solidFill>
              <a:prstDash val="solid"/>
              <a:round/>
              <a:headEnd type="none" w="med" len="med"/>
              <a:tailEnd type="none" w="med" len="med"/>
            </a:ln>
          </p:spPr>
        </p:sp>
        <p:sp>
          <p:nvSpPr>
            <p:cNvPr id="102412" name="Line 8"/>
            <p:cNvSpPr/>
            <p:nvPr/>
          </p:nvSpPr>
          <p:spPr>
            <a:xfrm flipV="1">
              <a:off x="4429" y="1461"/>
              <a:ext cx="0" cy="471"/>
            </a:xfrm>
            <a:prstGeom prst="line">
              <a:avLst/>
            </a:prstGeom>
            <a:ln w="9525" cap="flat" cmpd="sng">
              <a:solidFill>
                <a:schemeClr val="tx1"/>
              </a:solidFill>
              <a:prstDash val="solid"/>
              <a:round/>
              <a:headEnd type="none" w="med" len="med"/>
              <a:tailEnd type="none" w="med" len="med"/>
            </a:ln>
          </p:spPr>
        </p:sp>
        <p:sp>
          <p:nvSpPr>
            <p:cNvPr id="102413" name="Text Box 5"/>
            <p:cNvSpPr txBox="1"/>
            <p:nvPr/>
          </p:nvSpPr>
          <p:spPr>
            <a:xfrm>
              <a:off x="4151" y="1117"/>
              <a:ext cx="746" cy="395"/>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eaLnBrk="0" hangingPunct="0">
                <a:spcBef>
                  <a:spcPct val="50000"/>
                </a:spcBef>
              </a:pPr>
              <a:r>
                <a:rPr lang="zh-CN" altLang="en-US" sz="2400" dirty="0">
                  <a:latin typeface="Times New Roman" panose="02020603050405020304" pitchFamily="18" charset="0"/>
                  <a:ea typeface="楷体_GB2312" pitchFamily="49" charset="-122"/>
                </a:rPr>
                <a:t>职工</a:t>
              </a:r>
            </a:p>
          </p:txBody>
        </p:sp>
        <p:sp>
          <p:nvSpPr>
            <p:cNvPr id="102414" name="AutoShape 6"/>
            <p:cNvSpPr/>
            <p:nvPr/>
          </p:nvSpPr>
          <p:spPr>
            <a:xfrm>
              <a:off x="4106" y="1870"/>
              <a:ext cx="877" cy="471"/>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2400" dirty="0">
                  <a:latin typeface="Times New Roman" panose="02020603050405020304" pitchFamily="18" charset="0"/>
                  <a:ea typeface="楷体_GB2312" pitchFamily="49" charset="-122"/>
                </a:rPr>
                <a:t>领导</a:t>
              </a:r>
            </a:p>
          </p:txBody>
        </p:sp>
        <p:sp>
          <p:nvSpPr>
            <p:cNvPr id="102415" name="Text Box 10"/>
            <p:cNvSpPr txBox="1"/>
            <p:nvPr/>
          </p:nvSpPr>
          <p:spPr>
            <a:xfrm>
              <a:off x="4153" y="1541"/>
              <a:ext cx="219" cy="395"/>
            </a:xfrm>
            <a:prstGeom prst="rect">
              <a:avLst/>
            </a:prstGeom>
            <a:noFill/>
            <a:ln w="9525">
              <a:noFill/>
            </a:ln>
          </p:spPr>
          <p:txBody>
            <a:bodyPr anchor="t" anchorCtr="0">
              <a:spAutoFit/>
            </a:bodyPr>
            <a:lstStyle/>
            <a:p>
              <a:pPr eaLnBrk="0" hangingPunct="0">
                <a:spcBef>
                  <a:spcPct val="50000"/>
                </a:spcBef>
              </a:pPr>
              <a:r>
                <a:rPr lang="en-US" altLang="zh-CN" sz="2400" dirty="0">
                  <a:latin typeface="Times New Roman" panose="02020603050405020304" pitchFamily="18" charset="0"/>
                  <a:ea typeface="宋体" panose="02010600030101010101" pitchFamily="2" charset="-122"/>
                </a:rPr>
                <a:t>1</a:t>
              </a:r>
            </a:p>
          </p:txBody>
        </p:sp>
        <p:sp>
          <p:nvSpPr>
            <p:cNvPr id="102416" name="Text Box 15"/>
            <p:cNvSpPr txBox="1"/>
            <p:nvPr/>
          </p:nvSpPr>
          <p:spPr>
            <a:xfrm>
              <a:off x="4717" y="1506"/>
              <a:ext cx="219" cy="260"/>
            </a:xfrm>
            <a:prstGeom prst="rect">
              <a:avLst/>
            </a:prstGeom>
            <a:noFill/>
            <a:ln w="9525">
              <a:noFill/>
            </a:ln>
          </p:spPr>
          <p:txBody>
            <a:bodyPr anchor="t" anchorCtr="0"/>
            <a:lstStyle/>
            <a:p>
              <a:pPr eaLnBrk="0" hangingPunct="0">
                <a:spcBef>
                  <a:spcPct val="50000"/>
                </a:spcBef>
              </a:pPr>
              <a:r>
                <a:rPr lang="en-US" altLang="zh-CN" sz="2400" dirty="0">
                  <a:latin typeface="Times New Roman" panose="02020603050405020304" pitchFamily="18" charset="0"/>
                  <a:ea typeface="宋体" panose="02010600030101010101" pitchFamily="2" charset="-122"/>
                </a:rPr>
                <a:t>n</a:t>
              </a:r>
            </a:p>
          </p:txBody>
        </p:sp>
      </p:grpSp>
      <p:sp>
        <p:nvSpPr>
          <p:cNvPr id="24" name="TextBox 15"/>
          <p:cNvSpPr txBox="1"/>
          <p:nvPr/>
        </p:nvSpPr>
        <p:spPr>
          <a:xfrm>
            <a:off x="1384300" y="1717675"/>
            <a:ext cx="7142480" cy="1383665"/>
          </a:xfrm>
          <a:prstGeom prst="rect">
            <a:avLst/>
          </a:prstGeom>
          <a:noFill/>
          <a:ln w="9525">
            <a:noFill/>
          </a:ln>
        </p:spPr>
        <p:txBody>
          <a:bodyPr wrap="square" anchor="t" anchorCtr="0">
            <a:spAutoFit/>
          </a:bodyPr>
          <a:lstStyle/>
          <a:p>
            <a:pPr eaLnBrk="0" hangingPunct="0"/>
            <a:r>
              <a:rPr lang="zh-CN" altLang="en-US" sz="2800" dirty="0">
                <a:latin typeface="Verdana" panose="020B0604030504040204" pitchFamily="34" charset="0"/>
                <a:ea typeface="宋体" panose="02010600030101010101" pitchFamily="2" charset="-122"/>
              </a:rPr>
              <a:t>职工属性：职工号，姓名，性别</a:t>
            </a:r>
          </a:p>
          <a:p>
            <a:pPr eaLnBrk="0" hangingPunct="0"/>
            <a:endParaRPr lang="zh-CN" altLang="en-US" sz="2800" dirty="0">
              <a:latin typeface="Verdana" panose="020B0604030504040204" pitchFamily="34" charset="0"/>
              <a:ea typeface="宋体" panose="02010600030101010101" pitchFamily="2" charset="-122"/>
            </a:endParaRPr>
          </a:p>
          <a:p>
            <a:pPr eaLnBrk="0" hangingPunct="0"/>
            <a:r>
              <a:rPr lang="zh-CN" altLang="en-US" sz="2800" dirty="0">
                <a:latin typeface="Verdana" panose="020B0604030504040204" pitchFamily="34" charset="0"/>
                <a:ea typeface="宋体" panose="02010600030101010101" pitchFamily="2" charset="-122"/>
              </a:rPr>
              <a:t>职工表（职工号，姓名，性别，领导工号）</a:t>
            </a:r>
          </a:p>
        </p:txBody>
      </p:sp>
      <p:sp>
        <p:nvSpPr>
          <p:cNvPr id="25" name="TextBox 15"/>
          <p:cNvSpPr txBox="1"/>
          <p:nvPr/>
        </p:nvSpPr>
        <p:spPr>
          <a:xfrm>
            <a:off x="1343660" y="3990340"/>
            <a:ext cx="7691755" cy="2245360"/>
          </a:xfrm>
          <a:prstGeom prst="rect">
            <a:avLst/>
          </a:prstGeom>
          <a:noFill/>
          <a:ln w="9525">
            <a:noFill/>
          </a:ln>
        </p:spPr>
        <p:txBody>
          <a:bodyPr wrap="square" anchor="t" anchorCtr="0">
            <a:spAutoFit/>
          </a:bodyPr>
          <a:lstStyle/>
          <a:p>
            <a:pPr eaLnBrk="0" hangingPunct="0"/>
            <a:r>
              <a:rPr lang="zh-CN" altLang="en-US" sz="2800" dirty="0">
                <a:latin typeface="Verdana" panose="020B0604030504040204" pitchFamily="34" charset="0"/>
                <a:ea typeface="宋体" panose="02010600030101010101" pitchFamily="2" charset="-122"/>
              </a:rPr>
              <a:t>用户属性：用户工号，姓名，性别</a:t>
            </a:r>
          </a:p>
          <a:p>
            <a:pPr eaLnBrk="0" hangingPunct="0"/>
            <a:r>
              <a:rPr lang="zh-CN" altLang="en-US" sz="2800" dirty="0">
                <a:latin typeface="Verdana" panose="020B0604030504040204" pitchFamily="34" charset="0"/>
                <a:ea typeface="宋体" panose="02010600030101010101" pitchFamily="2" charset="-122"/>
              </a:rPr>
              <a:t>关注属性：关注时间</a:t>
            </a:r>
          </a:p>
          <a:p>
            <a:pPr eaLnBrk="0" hangingPunct="0"/>
            <a:endParaRPr lang="zh-CN" altLang="en-US" sz="2800" dirty="0">
              <a:latin typeface="Verdana" panose="020B0604030504040204" pitchFamily="34" charset="0"/>
              <a:ea typeface="宋体" panose="02010600030101010101" pitchFamily="2" charset="-122"/>
            </a:endParaRPr>
          </a:p>
          <a:p>
            <a:pPr eaLnBrk="0" hangingPunct="0"/>
            <a:r>
              <a:rPr lang="zh-CN" altLang="en-US" sz="2800" dirty="0">
                <a:latin typeface="Verdana" panose="020B0604030504040204" pitchFamily="34" charset="0"/>
                <a:ea typeface="宋体" panose="02010600030101010101" pitchFamily="2" charset="-122"/>
              </a:rPr>
              <a:t>用户表（用户工号，姓名，性别）</a:t>
            </a:r>
          </a:p>
          <a:p>
            <a:pPr eaLnBrk="0" hangingPunct="0"/>
            <a:r>
              <a:rPr lang="zh-CN" altLang="en-US" sz="2800" dirty="0">
                <a:latin typeface="Verdana" panose="020B0604030504040204" pitchFamily="34" charset="0"/>
                <a:ea typeface="宋体" panose="02010600030101010101" pitchFamily="2" charset="-122"/>
              </a:rPr>
              <a:t>关注表（关注者</a:t>
            </a:r>
            <a:r>
              <a:rPr lang="zh-CN" altLang="en-US" sz="2800" dirty="0">
                <a:latin typeface="Verdana" panose="020B0604030504040204" pitchFamily="34" charset="0"/>
                <a:ea typeface="宋体" panose="02010600030101010101" pitchFamily="2" charset="-122"/>
                <a:sym typeface="宋体" panose="02010600030101010101" pitchFamily="2" charset="-122"/>
              </a:rPr>
              <a:t>工号，</a:t>
            </a:r>
            <a:r>
              <a:rPr lang="zh-CN" altLang="en-US" sz="2800" dirty="0">
                <a:latin typeface="Verdana" panose="020B0604030504040204" pitchFamily="34" charset="0"/>
                <a:ea typeface="宋体" panose="02010600030101010101" pitchFamily="2" charset="-122"/>
              </a:rPr>
              <a:t>被注者</a:t>
            </a:r>
            <a:r>
              <a:rPr lang="zh-CN" altLang="en-US" sz="2800" dirty="0">
                <a:latin typeface="Verdana" panose="020B0604030504040204" pitchFamily="34" charset="0"/>
                <a:ea typeface="宋体" panose="02010600030101010101" pitchFamily="2" charset="-122"/>
                <a:sym typeface="宋体" panose="02010600030101010101" pitchFamily="2" charset="-122"/>
              </a:rPr>
              <a:t>工号，关注时间</a:t>
            </a:r>
            <a:r>
              <a:rPr lang="zh-CN" altLang="en-US" sz="2800" dirty="0">
                <a:latin typeface="Verdana" panose="020B0604030504040204" pitchFamily="34" charset="0"/>
                <a:ea typeface="宋体" panose="02010600030101010101" pitchFamily="2" charset="-122"/>
              </a:rPr>
              <a:t>）</a:t>
            </a:r>
          </a:p>
        </p:txBody>
      </p:sp>
    </p:spTree>
    <p:extLst>
      <p:ext uri="{BB962C8B-B14F-4D97-AF65-F5344CB8AC3E}">
        <p14:creationId xmlns:p14="http://schemas.microsoft.com/office/powerpoint/2010/main" val="1525548464"/>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strVal val="#ppt_w*0.05"/>
                                          </p:val>
                                        </p:tav>
                                        <p:tav tm="100000">
                                          <p:val>
                                            <p:strVal val="#ppt_w"/>
                                          </p:val>
                                        </p:tav>
                                      </p:tavLst>
                                    </p:anim>
                                    <p:anim calcmode="lin" valueType="num">
                                      <p:cBhvr>
                                        <p:cTn id="8" dur="500" fill="hold"/>
                                        <p:tgtEl>
                                          <p:spTgt spid="17"/>
                                        </p:tgtEl>
                                        <p:attrNameLst>
                                          <p:attrName>ppt_h</p:attrName>
                                        </p:attrNameLst>
                                      </p:cBhvr>
                                      <p:tavLst>
                                        <p:tav tm="0">
                                          <p:val>
                                            <p:strVal val="#ppt_h"/>
                                          </p:val>
                                        </p:tav>
                                        <p:tav tm="100000">
                                          <p:val>
                                            <p:strVal val="#ppt_h"/>
                                          </p:val>
                                        </p:tav>
                                      </p:tavLst>
                                    </p:anim>
                                    <p:anim calcmode="lin" valueType="num">
                                      <p:cBhvr>
                                        <p:cTn id="9" dur="500" fill="hold"/>
                                        <p:tgtEl>
                                          <p:spTgt spid="17"/>
                                        </p:tgtEl>
                                        <p:attrNameLst>
                                          <p:attrName>ppt_x</p:attrName>
                                        </p:attrNameLst>
                                      </p:cBhvr>
                                      <p:tavLst>
                                        <p:tav tm="0">
                                          <p:val>
                                            <p:strVal val="#ppt_x-.2"/>
                                          </p:val>
                                        </p:tav>
                                        <p:tav tm="100000">
                                          <p:val>
                                            <p:strVal val="#ppt_x"/>
                                          </p:val>
                                        </p:tav>
                                      </p:tavLst>
                                    </p:anim>
                                    <p:anim calcmode="lin" valueType="num">
                                      <p:cBhvr>
                                        <p:cTn id="10" dur="500" fill="hold"/>
                                        <p:tgtEl>
                                          <p:spTgt spid="17"/>
                                        </p:tgtEl>
                                        <p:attrNameLst>
                                          <p:attrName>ppt_y</p:attrName>
                                        </p:attrNameLst>
                                      </p:cBhvr>
                                      <p:tavLst>
                                        <p:tav tm="0">
                                          <p:val>
                                            <p:strVal val="#ppt_y"/>
                                          </p:val>
                                        </p:tav>
                                        <p:tav tm="100000">
                                          <p:val>
                                            <p:strVal val="#ppt_y"/>
                                          </p:val>
                                        </p:tav>
                                      </p:tavLst>
                                    </p:anim>
                                    <p:animEffect transition="in" filter="fade">
                                      <p:cBhvr>
                                        <p:cTn id="11" dur="5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4">
                                            <p:txEl>
                                              <p:pRg st="0" end="0"/>
                                            </p:txEl>
                                          </p:spTgt>
                                        </p:tgtEl>
                                        <p:attrNameLst>
                                          <p:attrName>style.visibility</p:attrName>
                                        </p:attrNameLst>
                                      </p:cBhvr>
                                      <p:to>
                                        <p:strVal val="visible"/>
                                      </p:to>
                                    </p:set>
                                    <p:animEffect transition="in" filter="blinds(horizontal)">
                                      <p:cBhvr>
                                        <p:cTn id="16" dur="500"/>
                                        <p:tgtEl>
                                          <p:spTgt spid="24">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4">
                                            <p:txEl>
                                              <p:pRg st="2" end="2"/>
                                            </p:txEl>
                                          </p:spTgt>
                                        </p:tgtEl>
                                        <p:attrNameLst>
                                          <p:attrName>style.visibility</p:attrName>
                                        </p:attrNameLst>
                                      </p:cBhvr>
                                      <p:to>
                                        <p:strVal val="visible"/>
                                      </p:to>
                                    </p:set>
                                    <p:animEffect transition="in" filter="blinds(horizontal)">
                                      <p:cBhvr>
                                        <p:cTn id="21" dur="500"/>
                                        <p:tgtEl>
                                          <p:spTgt spid="24">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4" presetClass="entr" presetSubtype="0" accel="10000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p:cTn id="26" dur="500" fill="hold"/>
                                        <p:tgtEl>
                                          <p:spTgt spid="4"/>
                                        </p:tgtEl>
                                        <p:attrNameLst>
                                          <p:attrName>ppt_w</p:attrName>
                                        </p:attrNameLst>
                                      </p:cBhvr>
                                      <p:tavLst>
                                        <p:tav tm="0">
                                          <p:val>
                                            <p:strVal val="#ppt_w*0.05"/>
                                          </p:val>
                                        </p:tav>
                                        <p:tav tm="100000">
                                          <p:val>
                                            <p:strVal val="#ppt_w"/>
                                          </p:val>
                                        </p:tav>
                                      </p:tavLst>
                                    </p:anim>
                                    <p:anim calcmode="lin" valueType="num">
                                      <p:cBhvr>
                                        <p:cTn id="27" dur="500" fill="hold"/>
                                        <p:tgtEl>
                                          <p:spTgt spid="4"/>
                                        </p:tgtEl>
                                        <p:attrNameLst>
                                          <p:attrName>ppt_h</p:attrName>
                                        </p:attrNameLst>
                                      </p:cBhvr>
                                      <p:tavLst>
                                        <p:tav tm="0">
                                          <p:val>
                                            <p:strVal val="#ppt_h"/>
                                          </p:val>
                                        </p:tav>
                                        <p:tav tm="100000">
                                          <p:val>
                                            <p:strVal val="#ppt_h"/>
                                          </p:val>
                                        </p:tav>
                                      </p:tavLst>
                                    </p:anim>
                                    <p:anim calcmode="lin" valueType="num">
                                      <p:cBhvr>
                                        <p:cTn id="28" dur="500" fill="hold"/>
                                        <p:tgtEl>
                                          <p:spTgt spid="4"/>
                                        </p:tgtEl>
                                        <p:attrNameLst>
                                          <p:attrName>ppt_x</p:attrName>
                                        </p:attrNameLst>
                                      </p:cBhvr>
                                      <p:tavLst>
                                        <p:tav tm="0">
                                          <p:val>
                                            <p:strVal val="#ppt_x-.2"/>
                                          </p:val>
                                        </p:tav>
                                        <p:tav tm="100000">
                                          <p:val>
                                            <p:strVal val="#ppt_x"/>
                                          </p:val>
                                        </p:tav>
                                      </p:tavLst>
                                    </p:anim>
                                    <p:anim calcmode="lin" valueType="num">
                                      <p:cBhvr>
                                        <p:cTn id="29" dur="500" fill="hold"/>
                                        <p:tgtEl>
                                          <p:spTgt spid="4"/>
                                        </p:tgtEl>
                                        <p:attrNameLst>
                                          <p:attrName>ppt_y</p:attrName>
                                        </p:attrNameLst>
                                      </p:cBhvr>
                                      <p:tavLst>
                                        <p:tav tm="0">
                                          <p:val>
                                            <p:strVal val="#ppt_y"/>
                                          </p:val>
                                        </p:tav>
                                        <p:tav tm="100000">
                                          <p:val>
                                            <p:strVal val="#ppt_y"/>
                                          </p:val>
                                        </p:tav>
                                      </p:tavLst>
                                    </p:anim>
                                    <p:animEffect transition="in" filter="fade">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5">
                                            <p:txEl>
                                              <p:pRg st="0" end="0"/>
                                            </p:txEl>
                                          </p:spTgt>
                                        </p:tgtEl>
                                        <p:attrNameLst>
                                          <p:attrName>style.visibility</p:attrName>
                                        </p:attrNameLst>
                                      </p:cBhvr>
                                      <p:to>
                                        <p:strVal val="visible"/>
                                      </p:to>
                                    </p:set>
                                    <p:animEffect transition="in" filter="blinds(horizontal)">
                                      <p:cBhvr>
                                        <p:cTn id="35" dur="500"/>
                                        <p:tgtEl>
                                          <p:spTgt spid="25">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5">
                                            <p:txEl>
                                              <p:pRg st="1" end="1"/>
                                            </p:txEl>
                                          </p:spTgt>
                                        </p:tgtEl>
                                        <p:attrNameLst>
                                          <p:attrName>style.visibility</p:attrName>
                                        </p:attrNameLst>
                                      </p:cBhvr>
                                      <p:to>
                                        <p:strVal val="visible"/>
                                      </p:to>
                                    </p:set>
                                    <p:animEffect transition="in" filter="blinds(horizontal)">
                                      <p:cBhvr>
                                        <p:cTn id="40" dur="500"/>
                                        <p:tgtEl>
                                          <p:spTgt spid="25">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5">
                                            <p:txEl>
                                              <p:pRg st="3" end="3"/>
                                            </p:txEl>
                                          </p:spTgt>
                                        </p:tgtEl>
                                        <p:attrNameLst>
                                          <p:attrName>style.visibility</p:attrName>
                                        </p:attrNameLst>
                                      </p:cBhvr>
                                      <p:to>
                                        <p:strVal val="visible"/>
                                      </p:to>
                                    </p:set>
                                    <p:animEffect transition="in" filter="blinds(horizontal)">
                                      <p:cBhvr>
                                        <p:cTn id="45" dur="500"/>
                                        <p:tgtEl>
                                          <p:spTgt spid="25">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5">
                                            <p:txEl>
                                              <p:pRg st="4" end="4"/>
                                            </p:txEl>
                                          </p:spTgt>
                                        </p:tgtEl>
                                        <p:attrNameLst>
                                          <p:attrName>style.visibility</p:attrName>
                                        </p:attrNameLst>
                                      </p:cBhvr>
                                      <p:to>
                                        <p:strVal val="visible"/>
                                      </p:to>
                                    </p:set>
                                    <p:animEffect transition="in" filter="blinds(horizontal)">
                                      <p:cBhvr>
                                        <p:cTn id="50" dur="500"/>
                                        <p:tgtEl>
                                          <p:spTgt spid="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24" grpId="1"/>
      <p:bldP spid="25" grpId="0" build="p"/>
      <p:bldP spid="25" grpId="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6"/>
          <p:cNvSpPr>
            <a:spLocks noGrp="1"/>
          </p:cNvSpPr>
          <p:nvPr>
            <p:ph type="sldNum" sz="quarter" idx="12"/>
          </p:nvPr>
        </p:nvSpPr>
        <p:spPr>
          <a:xfrm>
            <a:off x="2133600" y="6245225"/>
            <a:ext cx="1981200" cy="476250"/>
          </a:xfrm>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9A0DB2DC-4C9A-4742-B13C-FB6460FD3503}" type="slidenum">
              <a:rPr lang="en-US" altLang="zh-CN" sz="1200" dirty="0"/>
              <a:t>70</a:t>
            </a:fld>
            <a:endParaRPr lang="en-US" altLang="zh-CN" sz="1200" dirty="0"/>
          </a:p>
        </p:txBody>
      </p:sp>
      <p:sp>
        <p:nvSpPr>
          <p:cNvPr id="103426" name="Rectangle 2"/>
          <p:cNvSpPr>
            <a:spLocks noGrp="1"/>
          </p:cNvSpPr>
          <p:nvPr>
            <p:ph type="title"/>
          </p:nvPr>
        </p:nvSpPr>
        <p:spPr>
          <a:xfrm>
            <a:off x="1905000" y="214313"/>
            <a:ext cx="8382000" cy="700087"/>
          </a:xfrm>
        </p:spPr>
        <p:txBody>
          <a:bodyPr vert="horz" wrap="square" lIns="91440" tIns="45720" rIns="91440" bIns="45720" anchor="b" anchorCtr="0"/>
          <a:lstStyle/>
          <a:p>
            <a:pPr eaLnBrk="1" hangingPunct="1"/>
            <a:r>
              <a:rPr lang="zh-CN" altLang="en-US" b="1" dirty="0"/>
              <a:t>一个实例</a:t>
            </a:r>
          </a:p>
        </p:txBody>
      </p:sp>
      <p:pic>
        <p:nvPicPr>
          <p:cNvPr id="51204" name="Picture 4" descr="实例2"/>
          <p:cNvPicPr>
            <a:picLocks noChangeAspect="1"/>
          </p:cNvPicPr>
          <p:nvPr/>
        </p:nvPicPr>
        <p:blipFill>
          <a:blip r:embed="rId2"/>
          <a:srcRect b="6998"/>
          <a:stretch>
            <a:fillRect/>
          </a:stretch>
        </p:blipFill>
        <p:spPr>
          <a:xfrm>
            <a:off x="1543050" y="1123950"/>
            <a:ext cx="8702040" cy="5150485"/>
          </a:xfrm>
          <a:prstGeom prst="rect">
            <a:avLst/>
          </a:prstGeom>
          <a:noFill/>
          <a:ln w="9525">
            <a:noFill/>
          </a:ln>
        </p:spPr>
      </p:pic>
    </p:spTree>
    <p:extLst>
      <p:ext uri="{BB962C8B-B14F-4D97-AF65-F5344CB8AC3E}">
        <p14:creationId xmlns:p14="http://schemas.microsoft.com/office/powerpoint/2010/main" val="3515814964"/>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blinds(horizontal)">
                                      <p:cBhvr>
                                        <p:cTn id="7" dur="500"/>
                                        <p:tgtEl>
                                          <p:spTgt spid="5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1"/>
          <p:cNvSpPr>
            <a:spLocks noGrp="1"/>
          </p:cNvSpPr>
          <p:nvPr>
            <p:ph type="title"/>
          </p:nvPr>
        </p:nvSpPr>
        <p:spPr/>
        <p:txBody>
          <a:bodyPr vert="horz" wrap="square" lIns="91440" tIns="45720" rIns="91440" bIns="45720" anchor="b" anchorCtr="0"/>
          <a:lstStyle/>
          <a:p>
            <a:r>
              <a:rPr lang="zh-CN" altLang="en-US" dirty="0"/>
              <a:t>（</a:t>
            </a:r>
            <a:r>
              <a:rPr lang="en-US" altLang="zh-CN" b="1" dirty="0"/>
              <a:t>5</a:t>
            </a:r>
            <a:r>
              <a:rPr lang="zh-CN" altLang="en-US" b="1" dirty="0"/>
              <a:t>）具有相同码的关系</a:t>
            </a:r>
            <a:endParaRPr lang="zh-CN" altLang="en-US" dirty="0"/>
          </a:p>
        </p:txBody>
      </p:sp>
      <p:sp>
        <p:nvSpPr>
          <p:cNvPr id="93187"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3000" b="1" i="0" u="none" strike="noStrike" kern="0" cap="none" spc="0" normalizeH="0" baseline="0" noProof="0" dirty="0" smtClean="0">
                <a:ln>
                  <a:noFill/>
                </a:ln>
                <a:solidFill>
                  <a:schemeClr val="tx1"/>
                </a:solidFill>
                <a:effectLst/>
                <a:uLnTx/>
                <a:uFillTx/>
                <a:latin typeface="+mn-lt"/>
                <a:ea typeface="+mn-ea"/>
                <a:cs typeface="+mn-cs"/>
              </a:rPr>
              <a:t>具有相同码的关系模式可</a:t>
            </a:r>
            <a:r>
              <a:rPr kumimoji="0" lang="zh-CN" altLang="en-US" sz="3000" b="1" i="0" u="none" strike="noStrike" kern="0" cap="none" spc="0" normalizeH="0" baseline="0" noProof="0" dirty="0" smtClean="0">
                <a:ln>
                  <a:noFill/>
                </a:ln>
                <a:solidFill>
                  <a:srgbClr val="FF0000"/>
                </a:solidFill>
                <a:effectLst/>
                <a:uLnTx/>
                <a:uFillTx/>
                <a:latin typeface="+mn-lt"/>
                <a:ea typeface="+mn-ea"/>
                <a:cs typeface="+mn-cs"/>
              </a:rPr>
              <a:t>合并 </a:t>
            </a: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目的：减少系统中的关系个数 </a:t>
            </a: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合并方法： </a:t>
            </a: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 将其中一个关系模式的全部属性加入到另一个关系模式中 </a:t>
            </a: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 然后去掉其中的同义属性（可能同名也可能不同名） </a:t>
            </a: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 适当调整属性的次序 </a:t>
            </a: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endParaRPr kumimoji="0" lang="zh-CN" altLang="en-US" sz="3000" b="0" i="0" u="none" strike="noStrike" kern="0" cap="none" spc="0" normalizeH="0" baseline="0" noProof="0" dirty="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719800821"/>
      </p:ext>
    </p:extLst>
  </p:cSld>
  <p:clrMapOvr>
    <a:masterClrMapping/>
  </p:clrMapOvr>
  <p:transition advClick="0"/>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1"/>
          <p:cNvSpPr>
            <a:spLocks noGrp="1"/>
          </p:cNvSpPr>
          <p:nvPr>
            <p:ph type="title"/>
          </p:nvPr>
        </p:nvSpPr>
        <p:spPr/>
        <p:txBody>
          <a:bodyPr vert="horz" wrap="square" lIns="91440" tIns="45720" rIns="91440" bIns="45720" anchor="b" anchorCtr="0"/>
          <a:lstStyle/>
          <a:p>
            <a:r>
              <a:rPr lang="zh-CN" altLang="en-US" dirty="0"/>
              <a:t>综合例题</a:t>
            </a:r>
          </a:p>
        </p:txBody>
      </p:sp>
      <p:sp>
        <p:nvSpPr>
          <p:cNvPr id="105474" name="内容占位符 2"/>
          <p:cNvSpPr>
            <a:spLocks noGrp="1"/>
          </p:cNvSpPr>
          <p:nvPr>
            <p:ph idx="1"/>
          </p:nvPr>
        </p:nvSpPr>
        <p:spPr>
          <a:xfrm>
            <a:off x="839153" y="1412240"/>
            <a:ext cx="4868862" cy="1925638"/>
          </a:xfrm>
        </p:spPr>
        <p:txBody>
          <a:bodyPr vert="horz" wrap="square" lIns="91440" tIns="45720" rIns="91440" bIns="45720" anchor="t" anchorCtr="0"/>
          <a:lstStyle/>
          <a:p>
            <a:r>
              <a:rPr lang="zh-CN" altLang="en-US" dirty="0"/>
              <a:t>第七章作业</a:t>
            </a:r>
            <a:endParaRPr lang="en-US" altLang="zh-CN" dirty="0"/>
          </a:p>
          <a:p>
            <a:r>
              <a:rPr lang="zh-CN" altLang="en-US" dirty="0"/>
              <a:t>三个</a:t>
            </a:r>
            <a:r>
              <a:rPr lang="en-US" altLang="zh-CN" dirty="0"/>
              <a:t>E-R</a:t>
            </a:r>
            <a:r>
              <a:rPr lang="zh-CN" altLang="en-US" dirty="0"/>
              <a:t>图转换成表</a:t>
            </a:r>
            <a:endParaRPr lang="en-US" altLang="zh-CN" dirty="0"/>
          </a:p>
          <a:p>
            <a:r>
              <a:rPr lang="zh-CN" altLang="en-US" dirty="0"/>
              <a:t>表转换成</a:t>
            </a:r>
            <a:r>
              <a:rPr lang="en-US" altLang="zh-CN" dirty="0"/>
              <a:t>E-R</a:t>
            </a:r>
            <a:r>
              <a:rPr lang="zh-CN" altLang="en-US" dirty="0"/>
              <a:t>图也要会</a:t>
            </a:r>
          </a:p>
        </p:txBody>
      </p:sp>
    </p:spTree>
    <p:extLst>
      <p:ext uri="{BB962C8B-B14F-4D97-AF65-F5344CB8AC3E}">
        <p14:creationId xmlns:p14="http://schemas.microsoft.com/office/powerpoint/2010/main" val="528935147"/>
      </p:ext>
    </p:extLst>
  </p:cSld>
  <p:clrMapOvr>
    <a:masterClrMapping/>
  </p:clrMapOvr>
  <p:transition advClick="0"/>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p:cNvSpPr>
            <a:spLocks noGrp="1"/>
          </p:cNvSpPr>
          <p:nvPr>
            <p:ph type="title"/>
          </p:nvPr>
        </p:nvSpPr>
        <p:spPr/>
        <p:txBody>
          <a:bodyPr vert="horz" wrap="square" lIns="91440" tIns="45720" rIns="91440" bIns="45720" anchor="b" anchorCtr="0"/>
          <a:lstStyle/>
          <a:p>
            <a:r>
              <a:rPr lang="en-US" altLang="zh-CN" dirty="0"/>
              <a:t>7.4 </a:t>
            </a:r>
            <a:r>
              <a:rPr lang="zh-CN" altLang="en-US" dirty="0"/>
              <a:t>逻辑结构设计</a:t>
            </a:r>
          </a:p>
        </p:txBody>
      </p:sp>
      <p:sp>
        <p:nvSpPr>
          <p:cNvPr id="106498" name="内容占位符 2"/>
          <p:cNvSpPr>
            <a:spLocks noGrp="1"/>
          </p:cNvSpPr>
          <p:nvPr>
            <p:ph idx="1"/>
          </p:nvPr>
        </p:nvSpPr>
        <p:spPr/>
        <p:txBody>
          <a:bodyPr vert="horz" wrap="square" lIns="91440" tIns="45720" rIns="91440" bIns="45720" anchor="t" anchorCtr="0"/>
          <a:lstStyle/>
          <a:p>
            <a:r>
              <a:rPr lang="en-US" altLang="zh-CN" dirty="0"/>
              <a:t>7.4.1 E-R</a:t>
            </a:r>
            <a:r>
              <a:rPr lang="zh-CN" altLang="en-US" dirty="0"/>
              <a:t>图向关系模型的转换</a:t>
            </a:r>
            <a:endParaRPr lang="en-US" altLang="zh-CN" dirty="0"/>
          </a:p>
          <a:p>
            <a:r>
              <a:rPr lang="en-US" altLang="zh-CN" dirty="0">
                <a:solidFill>
                  <a:srgbClr val="FF0000"/>
                </a:solidFill>
              </a:rPr>
              <a:t>7.4.2 </a:t>
            </a:r>
            <a:r>
              <a:rPr lang="zh-CN" altLang="en-US" dirty="0">
                <a:solidFill>
                  <a:srgbClr val="FF0000"/>
                </a:solidFill>
              </a:rPr>
              <a:t>数据模型的优化</a:t>
            </a:r>
            <a:endParaRPr lang="en-US" altLang="zh-CN" dirty="0">
              <a:solidFill>
                <a:srgbClr val="FF0000"/>
              </a:solidFill>
            </a:endParaRPr>
          </a:p>
          <a:p>
            <a:r>
              <a:rPr lang="en-US" altLang="zh-CN" dirty="0"/>
              <a:t>7.4.3 </a:t>
            </a:r>
            <a:r>
              <a:rPr lang="zh-CN" altLang="en-US" dirty="0"/>
              <a:t>设计用户子模式</a:t>
            </a:r>
          </a:p>
        </p:txBody>
      </p:sp>
    </p:spTree>
    <p:extLst>
      <p:ext uri="{BB962C8B-B14F-4D97-AF65-F5344CB8AC3E}">
        <p14:creationId xmlns:p14="http://schemas.microsoft.com/office/powerpoint/2010/main" val="3457529877"/>
      </p:ext>
    </p:extLst>
  </p:cSld>
  <p:clrMapOvr>
    <a:masterClrMapping/>
  </p:clrMapOvr>
  <p:transition advClick="0"/>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p:cNvSpPr>
            <a:spLocks noGrp="1"/>
          </p:cNvSpPr>
          <p:nvPr>
            <p:ph type="title"/>
          </p:nvPr>
        </p:nvSpPr>
        <p:spPr/>
        <p:txBody>
          <a:bodyPr vert="horz" wrap="square" lIns="91440" tIns="45720" rIns="91440" bIns="45720" anchor="b" anchorCtr="0"/>
          <a:lstStyle/>
          <a:p>
            <a:r>
              <a:rPr lang="zh-CN" altLang="en-US" dirty="0"/>
              <a:t>数据模型的优化</a:t>
            </a:r>
          </a:p>
        </p:txBody>
      </p:sp>
      <p:sp>
        <p:nvSpPr>
          <p:cNvPr id="107522" name="内容占位符 2"/>
          <p:cNvSpPr>
            <a:spLocks noGrp="1"/>
          </p:cNvSpPr>
          <p:nvPr>
            <p:ph idx="1"/>
          </p:nvPr>
        </p:nvSpPr>
        <p:spPr/>
        <p:txBody>
          <a:bodyPr vert="horz" wrap="square" lIns="91440" tIns="45720" rIns="91440" bIns="45720" anchor="t" anchorCtr="0"/>
          <a:lstStyle/>
          <a:p>
            <a:r>
              <a:rPr lang="zh-CN" altLang="en-US" dirty="0"/>
              <a:t>数据库逻辑设计的</a:t>
            </a:r>
            <a:r>
              <a:rPr lang="zh-CN" altLang="en-US" b="1" dirty="0">
                <a:solidFill>
                  <a:srgbClr val="FF0000"/>
                </a:solidFill>
              </a:rPr>
              <a:t>结果不是唯一</a:t>
            </a:r>
            <a:r>
              <a:rPr lang="zh-CN" altLang="en-US" dirty="0"/>
              <a:t>的。 </a:t>
            </a:r>
            <a:endParaRPr lang="en-US" altLang="zh-CN" dirty="0"/>
          </a:p>
          <a:p>
            <a:r>
              <a:rPr lang="zh-CN" altLang="en-US" dirty="0"/>
              <a:t>得到初步数据模型后，还应该适当地</a:t>
            </a:r>
            <a:r>
              <a:rPr lang="zh-CN" altLang="en-US" b="1" dirty="0">
                <a:solidFill>
                  <a:srgbClr val="FF0000"/>
                </a:solidFill>
              </a:rPr>
              <a:t>修改、调整</a:t>
            </a:r>
            <a:r>
              <a:rPr lang="zh-CN" altLang="en-US" dirty="0"/>
              <a:t>数据模型的结构，以进一步提高数据库应用系统的性能，这就是数据模型的</a:t>
            </a:r>
            <a:r>
              <a:rPr lang="zh-CN" altLang="en-US" b="1" dirty="0">
                <a:solidFill>
                  <a:srgbClr val="FF0000"/>
                </a:solidFill>
              </a:rPr>
              <a:t>优化</a:t>
            </a:r>
            <a:r>
              <a:rPr lang="zh-CN" altLang="en-US" dirty="0"/>
              <a:t>。 </a:t>
            </a:r>
            <a:endParaRPr lang="en-US" altLang="zh-CN" dirty="0"/>
          </a:p>
          <a:p>
            <a:r>
              <a:rPr lang="zh-CN" altLang="en-US" dirty="0"/>
              <a:t>关系数据模型的优化通常以</a:t>
            </a:r>
            <a:r>
              <a:rPr lang="zh-CN" altLang="en-US" b="1" dirty="0">
                <a:solidFill>
                  <a:srgbClr val="FF0000"/>
                </a:solidFill>
              </a:rPr>
              <a:t>规范化理论</a:t>
            </a:r>
            <a:r>
              <a:rPr lang="zh-CN" altLang="en-US" dirty="0"/>
              <a:t>为指导。</a:t>
            </a:r>
          </a:p>
        </p:txBody>
      </p:sp>
    </p:spTree>
    <p:extLst>
      <p:ext uri="{BB962C8B-B14F-4D97-AF65-F5344CB8AC3E}">
        <p14:creationId xmlns:p14="http://schemas.microsoft.com/office/powerpoint/2010/main" val="1103893102"/>
      </p:ext>
    </p:extLst>
  </p:cSld>
  <p:clrMapOvr>
    <a:masterClrMapping/>
  </p:clrMapOvr>
  <p:transition advClick="0"/>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标题 1"/>
          <p:cNvSpPr>
            <a:spLocks noGrp="1"/>
          </p:cNvSpPr>
          <p:nvPr>
            <p:ph type="title"/>
          </p:nvPr>
        </p:nvSpPr>
        <p:spPr/>
        <p:txBody>
          <a:bodyPr vert="horz" wrap="square" lIns="91440" tIns="45720" rIns="91440" bIns="45720" anchor="b" anchorCtr="0"/>
          <a:lstStyle/>
          <a:p>
            <a:r>
              <a:rPr lang="zh-CN" altLang="en-US" dirty="0"/>
              <a:t>优化数据模型的方法</a:t>
            </a:r>
            <a:r>
              <a:rPr lang="en-US" altLang="zh-CN" dirty="0"/>
              <a:t>:</a:t>
            </a:r>
            <a:endParaRPr lang="zh-CN" altLang="en-US" dirty="0"/>
          </a:p>
        </p:txBody>
      </p:sp>
      <p:sp>
        <p:nvSpPr>
          <p:cNvPr id="108546" name="内容占位符 2"/>
          <p:cNvSpPr>
            <a:spLocks noGrp="1"/>
          </p:cNvSpPr>
          <p:nvPr>
            <p:ph idx="1"/>
          </p:nvPr>
        </p:nvSpPr>
        <p:spPr/>
        <p:txBody>
          <a:bodyPr vert="horz" wrap="square" lIns="91440" tIns="45720" rIns="91440" bIns="45720" anchor="t" anchorCtr="0"/>
          <a:lstStyle/>
          <a:p>
            <a:pPr marL="0" indent="0">
              <a:buNone/>
            </a:pPr>
            <a:r>
              <a:rPr lang="zh-CN" altLang="en-US" b="1" dirty="0"/>
              <a:t>（</a:t>
            </a:r>
            <a:r>
              <a:rPr lang="en-US" altLang="zh-CN" b="1" dirty="0"/>
              <a:t>1</a:t>
            </a:r>
            <a:r>
              <a:rPr lang="zh-CN" altLang="en-US" b="1" dirty="0"/>
              <a:t>）</a:t>
            </a:r>
            <a:r>
              <a:rPr lang="zh-CN" altLang="en-US" b="1" dirty="0">
                <a:solidFill>
                  <a:srgbClr val="FF0000"/>
                </a:solidFill>
              </a:rPr>
              <a:t>确定数据依赖 </a:t>
            </a:r>
            <a:r>
              <a:rPr lang="zh-CN" altLang="en-US" b="1" dirty="0"/>
              <a:t>按需求分析阶段所得到的语义，分别写出每个关系模式内部各属性之间的数据依赖以及不同关系模式属性之间数据依赖。</a:t>
            </a:r>
            <a:endParaRPr lang="en-US" altLang="zh-CN" b="1" dirty="0"/>
          </a:p>
          <a:p>
            <a:pPr marL="0" indent="0">
              <a:buNone/>
            </a:pPr>
            <a:r>
              <a:rPr lang="zh-CN" altLang="en-US" b="1" dirty="0"/>
              <a:t>（</a:t>
            </a:r>
            <a:r>
              <a:rPr lang="en-US" altLang="zh-CN" b="1" dirty="0"/>
              <a:t>2</a:t>
            </a:r>
            <a:r>
              <a:rPr lang="zh-CN" altLang="en-US" b="1" dirty="0"/>
              <a:t>）对于各个关系模式之间的数据依赖进行极小化处理，</a:t>
            </a:r>
            <a:r>
              <a:rPr lang="zh-CN" altLang="en-US" b="1" dirty="0">
                <a:solidFill>
                  <a:srgbClr val="FF0000"/>
                </a:solidFill>
              </a:rPr>
              <a:t>消除冗余</a:t>
            </a:r>
            <a:r>
              <a:rPr lang="zh-CN" altLang="en-US" b="1" dirty="0"/>
              <a:t>的联系。</a:t>
            </a:r>
          </a:p>
        </p:txBody>
      </p:sp>
    </p:spTree>
    <p:extLst>
      <p:ext uri="{BB962C8B-B14F-4D97-AF65-F5344CB8AC3E}">
        <p14:creationId xmlns:p14="http://schemas.microsoft.com/office/powerpoint/2010/main" val="131156351"/>
      </p:ext>
    </p:extLst>
  </p:cSld>
  <p:clrMapOvr>
    <a:masterClrMapping/>
  </p:clrMapOvr>
  <p:transition advClick="0"/>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标题 1"/>
          <p:cNvSpPr>
            <a:spLocks noGrp="1"/>
          </p:cNvSpPr>
          <p:nvPr>
            <p:ph type="title"/>
          </p:nvPr>
        </p:nvSpPr>
        <p:spPr/>
        <p:txBody>
          <a:bodyPr vert="horz" wrap="square" lIns="91440" tIns="45720" rIns="91440" bIns="45720" anchor="b" anchorCtr="0"/>
          <a:lstStyle/>
          <a:p>
            <a:r>
              <a:rPr lang="zh-CN" altLang="en-US" dirty="0"/>
              <a:t>优化数据模型的方法</a:t>
            </a:r>
            <a:r>
              <a:rPr lang="en-US" altLang="zh-CN" dirty="0"/>
              <a:t>:</a:t>
            </a:r>
            <a:endParaRPr lang="zh-CN" altLang="en-US" dirty="0"/>
          </a:p>
        </p:txBody>
      </p:sp>
      <p:sp>
        <p:nvSpPr>
          <p:cNvPr id="109570" name="内容占位符 2"/>
          <p:cNvSpPr>
            <a:spLocks noGrp="1"/>
          </p:cNvSpPr>
          <p:nvPr>
            <p:ph idx="1"/>
          </p:nvPr>
        </p:nvSpPr>
        <p:spPr/>
        <p:txBody>
          <a:bodyPr vert="horz" wrap="square" lIns="91440" tIns="45720" rIns="91440" bIns="45720" anchor="t" anchorCtr="0"/>
          <a:lstStyle/>
          <a:p>
            <a:pPr marL="0" indent="0">
              <a:buNone/>
            </a:pPr>
            <a:r>
              <a:rPr lang="zh-CN" altLang="en-US" b="1" dirty="0"/>
              <a:t>（</a:t>
            </a:r>
            <a:r>
              <a:rPr lang="en-US" altLang="zh-CN" b="1" dirty="0"/>
              <a:t>3</a:t>
            </a:r>
            <a:r>
              <a:rPr lang="zh-CN" altLang="en-US" b="1" dirty="0"/>
              <a:t>）按照数据依赖的理论</a:t>
            </a:r>
            <a:r>
              <a:rPr lang="zh-CN" altLang="en-US" b="1" dirty="0">
                <a:solidFill>
                  <a:srgbClr val="FF0000"/>
                </a:solidFill>
              </a:rPr>
              <a:t>对关系模式进行分析</a:t>
            </a:r>
            <a:r>
              <a:rPr lang="zh-CN" altLang="en-US" b="1" dirty="0"/>
              <a:t>，考察是否存在</a:t>
            </a:r>
            <a:r>
              <a:rPr lang="zh-CN" altLang="en-US" b="1" dirty="0">
                <a:solidFill>
                  <a:srgbClr val="FF0000"/>
                </a:solidFill>
              </a:rPr>
              <a:t>部分函数依赖、传递函数依赖、多值依赖</a:t>
            </a:r>
            <a:r>
              <a:rPr lang="zh-CN" altLang="en-US" b="1" dirty="0"/>
              <a:t>等，确定各关系模式分别属于第几范式。</a:t>
            </a:r>
            <a:endParaRPr lang="en-US" altLang="zh-CN" b="1" dirty="0"/>
          </a:p>
          <a:p>
            <a:pPr marL="0" indent="0">
              <a:buNone/>
            </a:pPr>
            <a:r>
              <a:rPr lang="zh-CN" altLang="en-US" b="1" dirty="0"/>
              <a:t>（</a:t>
            </a:r>
            <a:r>
              <a:rPr lang="en-US" altLang="zh-CN" b="1" dirty="0"/>
              <a:t>4</a:t>
            </a:r>
            <a:r>
              <a:rPr lang="zh-CN" altLang="en-US" b="1" dirty="0"/>
              <a:t>）按照</a:t>
            </a:r>
            <a:r>
              <a:rPr lang="zh-CN" altLang="en-US" b="1" dirty="0">
                <a:solidFill>
                  <a:srgbClr val="FF0000"/>
                </a:solidFill>
              </a:rPr>
              <a:t>需求分析阶段</a:t>
            </a:r>
            <a:r>
              <a:rPr lang="zh-CN" altLang="en-US" b="1" dirty="0"/>
              <a:t>得到的各种应用对数据处理的要求，分析对于这样的应用环境这些模式是否合适，确定是否要对它们进行</a:t>
            </a:r>
            <a:r>
              <a:rPr lang="zh-CN" altLang="en-US" b="1" dirty="0">
                <a:solidFill>
                  <a:srgbClr val="FF0000"/>
                </a:solidFill>
              </a:rPr>
              <a:t>合并或分解</a:t>
            </a:r>
            <a:r>
              <a:rPr lang="zh-CN" altLang="en-US" b="1" dirty="0"/>
              <a:t>。</a:t>
            </a:r>
          </a:p>
        </p:txBody>
      </p:sp>
    </p:spTree>
    <p:extLst>
      <p:ext uri="{BB962C8B-B14F-4D97-AF65-F5344CB8AC3E}">
        <p14:creationId xmlns:p14="http://schemas.microsoft.com/office/powerpoint/2010/main" val="686868262"/>
      </p:ext>
    </p:extLst>
  </p:cSld>
  <p:clrMapOvr>
    <a:masterClrMapping/>
  </p:clrMapOvr>
  <p:transition advClick="0"/>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标题 1"/>
          <p:cNvSpPr>
            <a:spLocks noGrp="1"/>
          </p:cNvSpPr>
          <p:nvPr>
            <p:ph type="title"/>
          </p:nvPr>
        </p:nvSpPr>
        <p:spPr/>
        <p:txBody>
          <a:bodyPr vert="horz" wrap="square" lIns="91440" tIns="45720" rIns="91440" bIns="45720" anchor="b" anchorCtr="0"/>
          <a:lstStyle/>
          <a:p>
            <a:r>
              <a:rPr lang="zh-CN" altLang="en-US" dirty="0"/>
              <a:t>优化数据模型的方法</a:t>
            </a:r>
            <a:r>
              <a:rPr lang="en-US" altLang="zh-CN" dirty="0"/>
              <a:t>:</a:t>
            </a:r>
            <a:endParaRPr lang="zh-CN" altLang="en-US" dirty="0"/>
          </a:p>
        </p:txBody>
      </p:sp>
      <p:sp>
        <p:nvSpPr>
          <p:cNvPr id="110594" name="内容占位符 2"/>
          <p:cNvSpPr>
            <a:spLocks noGrp="1"/>
          </p:cNvSpPr>
          <p:nvPr>
            <p:ph idx="1"/>
          </p:nvPr>
        </p:nvSpPr>
        <p:spPr>
          <a:xfrm>
            <a:off x="884555" y="1143000"/>
            <a:ext cx="10126345" cy="4676140"/>
          </a:xfrm>
        </p:spPr>
        <p:txBody>
          <a:bodyPr vert="horz" wrap="square" lIns="91440" tIns="45720" rIns="91440" bIns="45720" anchor="t" anchorCtr="0"/>
          <a:lstStyle/>
          <a:p>
            <a:r>
              <a:rPr lang="zh-CN" altLang="en-US" sz="2800" b="1" dirty="0"/>
              <a:t>并不是规范化程度越高的关系就越优</a:t>
            </a:r>
            <a:endParaRPr lang="en-US" altLang="zh-CN" sz="2800" b="1" dirty="0"/>
          </a:p>
          <a:p>
            <a:r>
              <a:rPr lang="zh-CN" altLang="en-US" sz="2800" b="1" dirty="0"/>
              <a:t> </a:t>
            </a:r>
            <a:r>
              <a:rPr lang="zh-CN" altLang="en-US" sz="2800" b="1" dirty="0">
                <a:solidFill>
                  <a:srgbClr val="FF0000"/>
                </a:solidFill>
              </a:rPr>
              <a:t>当查询</a:t>
            </a:r>
            <a:r>
              <a:rPr lang="zh-CN" altLang="en-US" sz="2800" b="1" dirty="0"/>
              <a:t>经常涉及两个或多个关系模式的属性时，系统必须经常地进行</a:t>
            </a:r>
            <a:r>
              <a:rPr lang="zh-CN" altLang="en-US" sz="2800" b="1" dirty="0">
                <a:solidFill>
                  <a:srgbClr val="FF0000"/>
                </a:solidFill>
              </a:rPr>
              <a:t>连接运算 </a:t>
            </a:r>
            <a:r>
              <a:rPr lang="zh-CN" altLang="en-US" sz="2800" b="1" dirty="0"/>
              <a:t>，</a:t>
            </a:r>
            <a:r>
              <a:rPr lang="zh-CN" altLang="en-US" sz="2800" b="1" dirty="0" smtClean="0"/>
              <a:t>连接</a:t>
            </a:r>
            <a:r>
              <a:rPr lang="zh-CN" altLang="en-US" sz="2800" b="1" dirty="0"/>
              <a:t>运算的代价是相当高的，因此在这种情况下，第二范式甚至第一范式也许是适合的。</a:t>
            </a:r>
            <a:endParaRPr lang="en-US" altLang="zh-CN" sz="2800" b="1" dirty="0"/>
          </a:p>
          <a:p>
            <a:r>
              <a:rPr lang="zh-CN" altLang="en-US" sz="2800" b="1" dirty="0"/>
              <a:t>非</a:t>
            </a:r>
            <a:r>
              <a:rPr lang="en-US" altLang="zh-CN" sz="2800" b="1" dirty="0"/>
              <a:t>BCNF</a:t>
            </a:r>
            <a:r>
              <a:rPr lang="zh-CN" altLang="en-US" sz="2800" b="1" dirty="0"/>
              <a:t>的关系模式虽然会存在不同程度的更新异常，但如果在实际应用中对此关系模式</a:t>
            </a:r>
            <a:r>
              <a:rPr lang="zh-CN" altLang="en-US" sz="2800" b="1" dirty="0">
                <a:solidFill>
                  <a:srgbClr val="FF0000"/>
                </a:solidFill>
              </a:rPr>
              <a:t>只是查询</a:t>
            </a:r>
            <a:r>
              <a:rPr lang="zh-CN" altLang="en-US" sz="2800" b="1" dirty="0"/>
              <a:t>，</a:t>
            </a:r>
            <a:r>
              <a:rPr lang="zh-CN" altLang="en-US" sz="2800" b="1" dirty="0">
                <a:solidFill>
                  <a:srgbClr val="FF0000"/>
                </a:solidFill>
              </a:rPr>
              <a:t>并不执行更新操作</a:t>
            </a:r>
            <a:r>
              <a:rPr lang="zh-CN" altLang="en-US" sz="2800" b="1" dirty="0"/>
              <a:t>，就不会产生实际影响。 </a:t>
            </a:r>
          </a:p>
          <a:p>
            <a:r>
              <a:rPr lang="zh-CN" altLang="en-US" sz="2800" b="1" noProof="0" dirty="0" smtClean="0">
                <a:ln>
                  <a:noFill/>
                </a:ln>
                <a:effectLst/>
                <a:uLnTx/>
                <a:uFillTx/>
                <a:sym typeface="+mn-ea"/>
              </a:rPr>
              <a:t>对于一个具体应用来说，到底规范化进行到什么程度，需要权衡</a:t>
            </a:r>
            <a:r>
              <a:rPr lang="zh-CN" altLang="en-US" sz="2800" b="1" noProof="0" dirty="0" smtClean="0">
                <a:ln>
                  <a:noFill/>
                </a:ln>
                <a:solidFill>
                  <a:srgbClr val="FF0000"/>
                </a:solidFill>
                <a:effectLst/>
                <a:uLnTx/>
                <a:uFillTx/>
                <a:sym typeface="+mn-ea"/>
              </a:rPr>
              <a:t>响应时间</a:t>
            </a:r>
            <a:r>
              <a:rPr lang="zh-CN" altLang="en-US" sz="2800" b="1" noProof="0" dirty="0" smtClean="0">
                <a:ln>
                  <a:noFill/>
                </a:ln>
                <a:effectLst/>
                <a:uLnTx/>
                <a:uFillTx/>
                <a:sym typeface="+mn-ea"/>
              </a:rPr>
              <a:t>和</a:t>
            </a:r>
            <a:r>
              <a:rPr lang="zh-CN" altLang="en-US" sz="2800" b="1" noProof="0" dirty="0" smtClean="0">
                <a:ln>
                  <a:noFill/>
                </a:ln>
                <a:solidFill>
                  <a:srgbClr val="FF0000"/>
                </a:solidFill>
                <a:effectLst/>
                <a:uLnTx/>
                <a:uFillTx/>
                <a:sym typeface="+mn-ea"/>
              </a:rPr>
              <a:t>潜在问题</a:t>
            </a:r>
            <a:r>
              <a:rPr lang="zh-CN" altLang="en-US" sz="2800" b="1" noProof="0" dirty="0" smtClean="0">
                <a:ln>
                  <a:noFill/>
                </a:ln>
                <a:effectLst/>
                <a:uLnTx/>
                <a:uFillTx/>
                <a:sym typeface="+mn-ea"/>
              </a:rPr>
              <a:t>两者的利弊才能</a:t>
            </a:r>
            <a:r>
              <a:rPr lang="zh-CN" altLang="en-US" sz="2800" b="1" noProof="0" dirty="0" smtClean="0">
                <a:ln>
                  <a:noFill/>
                </a:ln>
                <a:effectLst/>
                <a:uLnTx/>
                <a:uFillTx/>
                <a:sym typeface="+mn-ea"/>
              </a:rPr>
              <a:t>决定。</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endParaRPr lang="en-US" altLang="zh-CN" sz="2800" b="1" dirty="0"/>
          </a:p>
        </p:txBody>
      </p:sp>
    </p:spTree>
    <p:extLst>
      <p:ext uri="{BB962C8B-B14F-4D97-AF65-F5344CB8AC3E}">
        <p14:creationId xmlns:p14="http://schemas.microsoft.com/office/powerpoint/2010/main" val="4278694045"/>
      </p:ext>
    </p:extLst>
  </p:cSld>
  <p:clrMapOvr>
    <a:masterClrMapping/>
  </p:clrMapOvr>
  <p:transition advClick="0"/>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标题 1"/>
          <p:cNvSpPr>
            <a:spLocks noGrp="1"/>
          </p:cNvSpPr>
          <p:nvPr>
            <p:ph type="title"/>
          </p:nvPr>
        </p:nvSpPr>
        <p:spPr/>
        <p:txBody>
          <a:bodyPr vert="horz" wrap="square" lIns="91440" tIns="45720" rIns="91440" bIns="45720" anchor="b" anchorCtr="0"/>
          <a:lstStyle/>
          <a:p>
            <a:r>
              <a:rPr lang="zh-CN" altLang="en-US" dirty="0"/>
              <a:t>优化数据模型的方法</a:t>
            </a:r>
            <a:r>
              <a:rPr lang="en-US" altLang="zh-CN" dirty="0"/>
              <a:t>:</a:t>
            </a:r>
            <a:endParaRPr lang="zh-CN" altLang="en-US" dirty="0"/>
          </a:p>
        </p:txBody>
      </p:sp>
      <p:sp>
        <p:nvSpPr>
          <p:cNvPr id="99331" name="内容占位符 2"/>
          <p:cNvSpPr>
            <a:spLocks noGrp="1"/>
          </p:cNvSpPr>
          <p:nvPr>
            <p:ph idx="1"/>
          </p:nvPr>
        </p:nvSpPr>
        <p:spPr>
          <a:xfrm>
            <a:off x="572770" y="1143000"/>
            <a:ext cx="10762615" cy="516572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5</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）对关系模式</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进行必要分解</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，提高数据操作效率和存储空间的利用率。</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 常用分解方法</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水平分解和垂直分解</a:t>
            </a:r>
            <a:endParaRPr kumimoji="0" lang="en-US" altLang="zh-CN" sz="2800" b="1" i="0" u="none" strike="noStrike" kern="0" cap="none" spc="0" normalizeH="0" baseline="0" noProof="0" dirty="0" smtClean="0">
              <a:ln>
                <a:noFill/>
              </a:ln>
              <a:solidFill>
                <a:srgbClr val="FF0000"/>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一个大关系中，经常使用的数据只是关系的一部分，约</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20%</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，可以把经常使用的水平分解出来</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垂直分解，确保无损连接和保持函数依赖</a:t>
            </a:r>
          </a:p>
        </p:txBody>
      </p:sp>
    </p:spTree>
    <p:extLst>
      <p:ext uri="{BB962C8B-B14F-4D97-AF65-F5344CB8AC3E}">
        <p14:creationId xmlns:p14="http://schemas.microsoft.com/office/powerpoint/2010/main" val="2445280413"/>
      </p:ext>
    </p:extLst>
  </p:cSld>
  <p:clrMapOvr>
    <a:masterClrMapping/>
  </p:clrMapOvr>
  <p:transition advClick="0"/>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页脚占位符 4"/>
          <p:cNvSpPr>
            <a:spLocks noGrp="1"/>
          </p:cNvSpPr>
          <p:nvPr>
            <p:ph type="ftr" sz="quarter" idx="11"/>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ea typeface="PMingLiU" panose="02020500000000000000" pitchFamily="18" charset="-120"/>
              </a:rPr>
              <a:t>An Introduction to Database System</a:t>
            </a:r>
          </a:p>
        </p:txBody>
      </p:sp>
      <p:sp>
        <p:nvSpPr>
          <p:cNvPr id="69634" name="Rectangle 2"/>
          <p:cNvSpPr>
            <a:spLocks noGrp="1"/>
          </p:cNvSpPr>
          <p:nvPr>
            <p:ph type="title"/>
          </p:nvPr>
        </p:nvSpPr>
        <p:spPr/>
        <p:txBody>
          <a:bodyPr vert="horz" wrap="square" lIns="91440" tIns="45720" rIns="91440" bIns="45720" anchor="b" anchorCtr="0"/>
          <a:lstStyle/>
          <a:p>
            <a:r>
              <a:rPr lang="en-US" altLang="zh-CN" dirty="0"/>
              <a:t>7.3  </a:t>
            </a:r>
            <a:r>
              <a:rPr lang="zh-CN" altLang="en-US" dirty="0"/>
              <a:t>概念结构设计</a:t>
            </a:r>
          </a:p>
        </p:txBody>
      </p:sp>
      <p:sp>
        <p:nvSpPr>
          <p:cNvPr id="69635" name="Rectangle 3"/>
          <p:cNvSpPr>
            <a:spLocks noGrp="1"/>
          </p:cNvSpPr>
          <p:nvPr>
            <p:ph idx="1"/>
          </p:nvPr>
        </p:nvSpPr>
        <p:spPr/>
        <p:txBody>
          <a:bodyPr vert="horz" wrap="square" lIns="91440" tIns="45720" rIns="91440" bIns="45720" anchor="t" anchorCtr="0"/>
          <a:lstStyle/>
          <a:p>
            <a:pPr>
              <a:lnSpc>
                <a:spcPct val="140000"/>
              </a:lnSpc>
              <a:buNone/>
            </a:pPr>
            <a:r>
              <a:rPr lang="en-US" altLang="zh-CN" dirty="0">
                <a:solidFill>
                  <a:srgbClr val="FF0000"/>
                </a:solidFill>
              </a:rPr>
              <a:t>7.3.1 </a:t>
            </a:r>
            <a:r>
              <a:rPr lang="zh-CN" altLang="en-US" dirty="0">
                <a:solidFill>
                  <a:srgbClr val="FF0000"/>
                </a:solidFill>
              </a:rPr>
              <a:t>概念模型</a:t>
            </a:r>
            <a:endParaRPr lang="en-US" altLang="zh-CN" dirty="0">
              <a:solidFill>
                <a:srgbClr val="FF0000"/>
              </a:solidFill>
            </a:endParaRPr>
          </a:p>
          <a:p>
            <a:pPr>
              <a:lnSpc>
                <a:spcPct val="140000"/>
              </a:lnSpc>
              <a:buNone/>
            </a:pPr>
            <a:r>
              <a:rPr lang="en-US" altLang="zh-CN" dirty="0"/>
              <a:t>7.3.2 E-R</a:t>
            </a:r>
            <a:r>
              <a:rPr lang="zh-CN" altLang="en-US" dirty="0"/>
              <a:t>模型</a:t>
            </a:r>
            <a:endParaRPr lang="en-US" altLang="zh-CN" dirty="0"/>
          </a:p>
          <a:p>
            <a:pPr>
              <a:lnSpc>
                <a:spcPct val="140000"/>
              </a:lnSpc>
              <a:buNone/>
            </a:pPr>
            <a:r>
              <a:rPr lang="zh-CN" altLang="en-US" dirty="0"/>
              <a:t>*</a:t>
            </a:r>
            <a:r>
              <a:rPr lang="en-US" altLang="zh-CN" dirty="0"/>
              <a:t>7.3.3 </a:t>
            </a:r>
            <a:r>
              <a:rPr lang="zh-CN" altLang="en-US" dirty="0"/>
              <a:t>扩展的</a:t>
            </a:r>
            <a:r>
              <a:rPr lang="en-US" altLang="zh-CN" dirty="0"/>
              <a:t>E-R</a:t>
            </a:r>
            <a:r>
              <a:rPr lang="zh-CN" altLang="en-US" dirty="0"/>
              <a:t>模型</a:t>
            </a:r>
            <a:endParaRPr lang="en-US" altLang="zh-CN" dirty="0"/>
          </a:p>
          <a:p>
            <a:pPr>
              <a:lnSpc>
                <a:spcPct val="140000"/>
              </a:lnSpc>
              <a:buNone/>
            </a:pPr>
            <a:r>
              <a:rPr lang="zh-CN" altLang="en-US" dirty="0"/>
              <a:t>*</a:t>
            </a:r>
            <a:r>
              <a:rPr lang="en-US" altLang="zh-CN" dirty="0"/>
              <a:t>7.3.4 UML</a:t>
            </a:r>
          </a:p>
          <a:p>
            <a:pPr>
              <a:lnSpc>
                <a:spcPct val="140000"/>
              </a:lnSpc>
              <a:buNone/>
            </a:pPr>
            <a:r>
              <a:rPr lang="en-US" altLang="zh-CN" dirty="0"/>
              <a:t>7.3.5 </a:t>
            </a:r>
            <a:r>
              <a:rPr lang="zh-CN" altLang="en-US" dirty="0"/>
              <a:t>概念结构设计</a:t>
            </a:r>
            <a:endParaRPr lang="en-US" altLang="zh-CN" dirty="0"/>
          </a:p>
        </p:txBody>
      </p:sp>
    </p:spTree>
  </p:cSld>
  <p:clrMapOvr>
    <a:masterClrMapping/>
  </p:clrMapOvr>
  <p:transition advClick="0"/>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页脚占位符 4"/>
          <p:cNvSpPr>
            <a:spLocks noGrp="1"/>
          </p:cNvSpPr>
          <p:nvPr>
            <p:ph type="ftr" sz="quarter" idx="11"/>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ea typeface="PMingLiU" panose="02020500000000000000" pitchFamily="18" charset="-120"/>
              </a:rPr>
              <a:t>An Introduction to Database System</a:t>
            </a:r>
          </a:p>
        </p:txBody>
      </p:sp>
      <p:sp>
        <p:nvSpPr>
          <p:cNvPr id="70658" name="Rectangle 2"/>
          <p:cNvSpPr>
            <a:spLocks noGrp="1"/>
          </p:cNvSpPr>
          <p:nvPr>
            <p:ph type="title"/>
          </p:nvPr>
        </p:nvSpPr>
        <p:spPr/>
        <p:txBody>
          <a:bodyPr vert="horz" wrap="square" lIns="91440" tIns="45720" rIns="91440" bIns="45720" anchor="b" anchorCtr="0"/>
          <a:lstStyle/>
          <a:p>
            <a:r>
              <a:rPr lang="en-US" altLang="zh-CN" dirty="0"/>
              <a:t>7.3.1  </a:t>
            </a:r>
            <a:r>
              <a:rPr lang="zh-CN" altLang="en-US" dirty="0"/>
              <a:t>概念结构</a:t>
            </a:r>
          </a:p>
        </p:txBody>
      </p:sp>
      <p:sp>
        <p:nvSpPr>
          <p:cNvPr id="70659" name="Rectangle 3"/>
          <p:cNvSpPr>
            <a:spLocks noGrp="1"/>
          </p:cNvSpPr>
          <p:nvPr>
            <p:ph idx="1"/>
          </p:nvPr>
        </p:nvSpPr>
        <p:spPr/>
        <p:txBody>
          <a:bodyPr vert="horz" wrap="square" lIns="91440" tIns="45720" rIns="91440" bIns="45720" anchor="t" anchorCtr="0"/>
          <a:lstStyle/>
          <a:p>
            <a:pPr>
              <a:lnSpc>
                <a:spcPct val="90000"/>
              </a:lnSpc>
            </a:pPr>
            <a:r>
              <a:rPr lang="zh-CN" altLang="en-US" sz="2800" dirty="0"/>
              <a:t>将需求分析得到的用户需求抽象为</a:t>
            </a:r>
            <a:r>
              <a:rPr lang="zh-CN" altLang="en-US" sz="2800" b="1" dirty="0">
                <a:solidFill>
                  <a:srgbClr val="0000FF"/>
                </a:solidFill>
              </a:rPr>
              <a:t>信息结构</a:t>
            </a:r>
            <a:r>
              <a:rPr lang="zh-CN" altLang="en-US" sz="2800" dirty="0"/>
              <a:t>（即概念模型）的过程就是概念结构设计 </a:t>
            </a:r>
            <a:endParaRPr lang="en-US" altLang="zh-CN" sz="2800" dirty="0"/>
          </a:p>
          <a:p>
            <a:pPr>
              <a:lnSpc>
                <a:spcPct val="90000"/>
              </a:lnSpc>
            </a:pPr>
            <a:r>
              <a:rPr lang="zh-CN" altLang="en-US" sz="2800" dirty="0"/>
              <a:t>概念模型的特点</a:t>
            </a:r>
            <a:endParaRPr lang="en-US" altLang="zh-CN" sz="2800" dirty="0"/>
          </a:p>
          <a:p>
            <a:pPr marL="469900" lvl="1" indent="0">
              <a:lnSpc>
                <a:spcPct val="90000"/>
              </a:lnSpc>
              <a:buNone/>
            </a:pPr>
            <a:r>
              <a:rPr lang="zh-CN" altLang="en-US" sz="2600" dirty="0"/>
              <a:t>（</a:t>
            </a:r>
            <a:r>
              <a:rPr lang="en-US" altLang="zh-CN" sz="2600" dirty="0"/>
              <a:t>1</a:t>
            </a:r>
            <a:r>
              <a:rPr lang="zh-CN" altLang="en-US" sz="2600" dirty="0"/>
              <a:t>）能真实、充分地反映现实世界，是现实世界的一个真实模型。</a:t>
            </a:r>
            <a:endParaRPr lang="en-US" altLang="zh-CN" sz="2600" dirty="0"/>
          </a:p>
          <a:p>
            <a:pPr marL="469900" lvl="1" indent="0">
              <a:lnSpc>
                <a:spcPct val="90000"/>
              </a:lnSpc>
              <a:buNone/>
            </a:pPr>
            <a:r>
              <a:rPr lang="zh-CN" altLang="en-US" sz="2600" dirty="0"/>
              <a:t>（</a:t>
            </a:r>
            <a:r>
              <a:rPr lang="en-US" altLang="zh-CN" sz="2600" dirty="0"/>
              <a:t>2</a:t>
            </a:r>
            <a:r>
              <a:rPr lang="zh-CN" altLang="en-US" sz="2600" dirty="0"/>
              <a:t>）易于理解，从而可以用它和不熟悉计算机的用户交换意见。</a:t>
            </a:r>
            <a:endParaRPr lang="en-US" altLang="zh-CN" sz="2600" dirty="0"/>
          </a:p>
          <a:p>
            <a:pPr marL="469900" lvl="1" indent="0">
              <a:lnSpc>
                <a:spcPct val="90000"/>
              </a:lnSpc>
              <a:buNone/>
            </a:pPr>
            <a:r>
              <a:rPr lang="zh-CN" altLang="en-US" sz="2600" dirty="0"/>
              <a:t>（</a:t>
            </a:r>
            <a:r>
              <a:rPr lang="en-US" altLang="zh-CN" sz="2600" dirty="0"/>
              <a:t>3</a:t>
            </a:r>
            <a:r>
              <a:rPr lang="zh-CN" altLang="en-US" sz="2600" dirty="0"/>
              <a:t>）易于更改，当应用环境和应用要求改变时，容易对概念模型修改和扩充。</a:t>
            </a:r>
            <a:endParaRPr lang="en-US" altLang="zh-CN" sz="2600" dirty="0"/>
          </a:p>
          <a:p>
            <a:pPr marL="469900" lvl="1" indent="0">
              <a:lnSpc>
                <a:spcPct val="90000"/>
              </a:lnSpc>
              <a:buNone/>
            </a:pPr>
            <a:r>
              <a:rPr lang="zh-CN" altLang="en-US" sz="2600" dirty="0"/>
              <a:t>（</a:t>
            </a:r>
            <a:r>
              <a:rPr lang="en-US" altLang="zh-CN" sz="2600" dirty="0"/>
              <a:t>4</a:t>
            </a:r>
            <a:r>
              <a:rPr lang="zh-CN" altLang="en-US" sz="2600" dirty="0"/>
              <a:t>）易于向关系、网状、层次等各种数据模型转换 </a:t>
            </a:r>
            <a:endParaRPr lang="en-US" altLang="zh-CN" sz="2600" dirty="0"/>
          </a:p>
          <a:p>
            <a:pPr>
              <a:lnSpc>
                <a:spcPct val="90000"/>
              </a:lnSpc>
            </a:pPr>
            <a:r>
              <a:rPr lang="zh-CN" altLang="en-US" sz="2800" dirty="0"/>
              <a:t>描述概念模型的工具 </a:t>
            </a:r>
            <a:r>
              <a:rPr lang="en-US" altLang="zh-CN" sz="2800" b="1" dirty="0">
                <a:solidFill>
                  <a:srgbClr val="FF0000"/>
                </a:solidFill>
              </a:rPr>
              <a:t>E-R</a:t>
            </a:r>
            <a:r>
              <a:rPr lang="zh-CN" altLang="en-US" sz="2800" b="1" dirty="0">
                <a:solidFill>
                  <a:srgbClr val="FF0000"/>
                </a:solidFill>
              </a:rPr>
              <a:t>模型</a:t>
            </a:r>
            <a:endParaRPr lang="zh-CN" altLang="en-US" sz="2400" b="1" dirty="0">
              <a:solidFill>
                <a:srgbClr val="FF0000"/>
              </a:solidFill>
            </a:endParaRPr>
          </a:p>
        </p:txBody>
      </p:sp>
    </p:spTree>
  </p:cSld>
  <p:clrMapOvr>
    <a:masterClrMapping/>
  </p:clrMapOvr>
  <p:transition advClick="0"/>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页脚占位符 4"/>
          <p:cNvSpPr>
            <a:spLocks noGrp="1"/>
          </p:cNvSpPr>
          <p:nvPr>
            <p:ph type="ftr" sz="quarter" idx="11"/>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ea typeface="PMingLiU" panose="02020500000000000000" pitchFamily="18" charset="-120"/>
              </a:rPr>
              <a:t>An Introduction to Database System</a:t>
            </a:r>
          </a:p>
        </p:txBody>
      </p:sp>
      <p:sp>
        <p:nvSpPr>
          <p:cNvPr id="71682" name="Rectangle 2"/>
          <p:cNvSpPr>
            <a:spLocks noGrp="1"/>
          </p:cNvSpPr>
          <p:nvPr>
            <p:ph type="title"/>
          </p:nvPr>
        </p:nvSpPr>
        <p:spPr/>
        <p:txBody>
          <a:bodyPr vert="horz" wrap="square" lIns="91440" tIns="45720" rIns="91440" bIns="45720" anchor="b" anchorCtr="0"/>
          <a:lstStyle/>
          <a:p>
            <a:r>
              <a:rPr lang="zh-CN" altLang="en-US" dirty="0"/>
              <a:t>概念结构（续）</a:t>
            </a:r>
          </a:p>
        </p:txBody>
      </p:sp>
      <p:grpSp>
        <p:nvGrpSpPr>
          <p:cNvPr id="71683" name="Group 3"/>
          <p:cNvGrpSpPr/>
          <p:nvPr/>
        </p:nvGrpSpPr>
        <p:grpSpPr>
          <a:xfrm>
            <a:off x="2999740" y="1844675"/>
            <a:ext cx="5867400" cy="3124200"/>
            <a:chOff x="2400" y="6840"/>
            <a:chExt cx="4440" cy="2760"/>
          </a:xfrm>
        </p:grpSpPr>
        <p:sp>
          <p:nvSpPr>
            <p:cNvPr id="71684" name="Text Box 4"/>
            <p:cNvSpPr txBox="1"/>
            <p:nvPr/>
          </p:nvSpPr>
          <p:spPr>
            <a:xfrm>
              <a:off x="2400" y="6840"/>
              <a:ext cx="1440" cy="600"/>
            </a:xfrm>
            <a:prstGeom prst="rect">
              <a:avLst/>
            </a:prstGeom>
            <a:no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sz="2800" b="1" dirty="0">
                  <a:latin typeface="Verdana" panose="020B0604030504040204" pitchFamily="34" charset="0"/>
                  <a:ea typeface="宋体" panose="02010600030101010101" pitchFamily="2" charset="-122"/>
                </a:rPr>
                <a:t>现实世界</a:t>
              </a:r>
            </a:p>
          </p:txBody>
        </p:sp>
        <p:sp>
          <p:nvSpPr>
            <p:cNvPr id="71685" name="Text Box 5"/>
            <p:cNvSpPr txBox="1"/>
            <p:nvPr/>
          </p:nvSpPr>
          <p:spPr>
            <a:xfrm>
              <a:off x="2400" y="9000"/>
              <a:ext cx="1440" cy="600"/>
            </a:xfrm>
            <a:prstGeom prst="rect">
              <a:avLst/>
            </a:prstGeom>
            <a:no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sz="2800" b="1" dirty="0">
                  <a:latin typeface="Verdana" panose="020B0604030504040204" pitchFamily="34" charset="0"/>
                  <a:ea typeface="宋体" panose="02010600030101010101" pitchFamily="2" charset="-122"/>
                </a:rPr>
                <a:t>机器世界</a:t>
              </a:r>
              <a:endParaRPr lang="zh-CN" altLang="en-US" dirty="0">
                <a:latin typeface="Verdana" panose="020B0604030504040204" pitchFamily="34" charset="0"/>
                <a:ea typeface="宋体" panose="02010600030101010101" pitchFamily="2" charset="-122"/>
              </a:endParaRPr>
            </a:p>
          </p:txBody>
        </p:sp>
        <p:sp>
          <p:nvSpPr>
            <p:cNvPr id="71686" name="Text Box 6"/>
            <p:cNvSpPr txBox="1"/>
            <p:nvPr/>
          </p:nvSpPr>
          <p:spPr>
            <a:xfrm>
              <a:off x="2400" y="7920"/>
              <a:ext cx="1440" cy="600"/>
            </a:xfrm>
            <a:prstGeom prst="rect">
              <a:avLst/>
            </a:prstGeom>
            <a:no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sz="2800" b="1" dirty="0">
                  <a:latin typeface="Verdana" panose="020B0604030504040204" pitchFamily="34" charset="0"/>
                  <a:ea typeface="宋体" panose="02010600030101010101" pitchFamily="2" charset="-122"/>
                </a:rPr>
                <a:t>信息世界</a:t>
              </a:r>
              <a:endParaRPr lang="zh-CN" altLang="en-US" dirty="0">
                <a:latin typeface="Verdana" panose="020B0604030504040204" pitchFamily="34" charset="0"/>
                <a:ea typeface="宋体" panose="02010600030101010101" pitchFamily="2" charset="-122"/>
              </a:endParaRPr>
            </a:p>
          </p:txBody>
        </p:sp>
        <p:sp>
          <p:nvSpPr>
            <p:cNvPr id="71687" name="Line 7"/>
            <p:cNvSpPr/>
            <p:nvPr/>
          </p:nvSpPr>
          <p:spPr>
            <a:xfrm>
              <a:off x="3000" y="7440"/>
              <a:ext cx="0" cy="480"/>
            </a:xfrm>
            <a:prstGeom prst="line">
              <a:avLst/>
            </a:prstGeom>
            <a:ln w="9525" cap="flat" cmpd="sng">
              <a:solidFill>
                <a:srgbClr val="000000"/>
              </a:solidFill>
              <a:prstDash val="solid"/>
              <a:round/>
              <a:headEnd type="none" w="med" len="med"/>
              <a:tailEnd type="triangle" w="med" len="med"/>
            </a:ln>
          </p:spPr>
        </p:sp>
        <p:sp>
          <p:nvSpPr>
            <p:cNvPr id="71688" name="Line 8"/>
            <p:cNvSpPr/>
            <p:nvPr/>
          </p:nvSpPr>
          <p:spPr>
            <a:xfrm>
              <a:off x="3000" y="8520"/>
              <a:ext cx="0" cy="480"/>
            </a:xfrm>
            <a:prstGeom prst="line">
              <a:avLst/>
            </a:prstGeom>
            <a:ln w="9525" cap="flat" cmpd="sng">
              <a:solidFill>
                <a:srgbClr val="000000"/>
              </a:solidFill>
              <a:prstDash val="solid"/>
              <a:round/>
              <a:headEnd type="none" w="med" len="med"/>
              <a:tailEnd type="triangle" w="med" len="med"/>
            </a:ln>
          </p:spPr>
        </p:sp>
        <p:sp>
          <p:nvSpPr>
            <p:cNvPr id="71689" name="Text Box 9"/>
            <p:cNvSpPr txBox="1"/>
            <p:nvPr/>
          </p:nvSpPr>
          <p:spPr>
            <a:xfrm>
              <a:off x="4800" y="6840"/>
              <a:ext cx="1320" cy="480"/>
            </a:xfrm>
            <a:prstGeom prst="rect">
              <a:avLst/>
            </a:prstGeom>
            <a:noFill/>
            <a:ln w="9525">
              <a:noFill/>
            </a:ln>
          </p:spPr>
          <p:txBody>
            <a:bodyPr anchor="t" anchorCtr="0"/>
            <a:lstStyle/>
            <a:p>
              <a:pPr algn="just" eaLnBrk="0" hangingPunct="0"/>
              <a:r>
                <a:rPr lang="zh-CN" altLang="en-US" sz="2800" b="1" dirty="0">
                  <a:latin typeface="Verdana" panose="020B0604030504040204" pitchFamily="34" charset="0"/>
                  <a:ea typeface="宋体" panose="02010600030101010101" pitchFamily="2" charset="-122"/>
                </a:rPr>
                <a:t>需求分析</a:t>
              </a:r>
              <a:endParaRPr lang="zh-CN" altLang="en-US" b="1" dirty="0">
                <a:latin typeface="Verdana" panose="020B0604030504040204" pitchFamily="34" charset="0"/>
                <a:ea typeface="宋体" panose="02010600030101010101" pitchFamily="2" charset="-122"/>
              </a:endParaRPr>
            </a:p>
          </p:txBody>
        </p:sp>
        <p:sp>
          <p:nvSpPr>
            <p:cNvPr id="71690" name="Text Box 10"/>
            <p:cNvSpPr txBox="1"/>
            <p:nvPr/>
          </p:nvSpPr>
          <p:spPr>
            <a:xfrm>
              <a:off x="4800" y="7920"/>
              <a:ext cx="2040" cy="480"/>
            </a:xfrm>
            <a:prstGeom prst="rect">
              <a:avLst/>
            </a:prstGeom>
            <a:noFill/>
            <a:ln w="9525">
              <a:noFill/>
            </a:ln>
          </p:spPr>
          <p:txBody>
            <a:bodyPr anchor="t" anchorCtr="0"/>
            <a:lstStyle/>
            <a:p>
              <a:pPr algn="just" eaLnBrk="0" hangingPunct="0"/>
              <a:r>
                <a:rPr lang="zh-CN" altLang="en-US" sz="2800" b="1" dirty="0">
                  <a:latin typeface="Verdana" panose="020B0604030504040204" pitchFamily="34" charset="0"/>
                  <a:ea typeface="宋体" panose="02010600030101010101" pitchFamily="2" charset="-122"/>
                </a:rPr>
                <a:t>概念结构设计</a:t>
              </a:r>
              <a:endParaRPr lang="zh-CN" altLang="en-US" b="1" dirty="0">
                <a:latin typeface="Verdana" panose="020B0604030504040204" pitchFamily="34" charset="0"/>
                <a:ea typeface="宋体" panose="02010600030101010101" pitchFamily="2" charset="-122"/>
              </a:endParaRPr>
            </a:p>
          </p:txBody>
        </p:sp>
      </p:grpSp>
      <p:sp>
        <p:nvSpPr>
          <p:cNvPr id="71691" name="Text Box 10"/>
          <p:cNvSpPr txBox="1"/>
          <p:nvPr/>
        </p:nvSpPr>
        <p:spPr>
          <a:xfrm>
            <a:off x="6238558" y="4129405"/>
            <a:ext cx="2695575" cy="1000125"/>
          </a:xfrm>
          <a:prstGeom prst="rect">
            <a:avLst/>
          </a:prstGeom>
          <a:noFill/>
          <a:ln w="9525">
            <a:noFill/>
          </a:ln>
        </p:spPr>
        <p:txBody>
          <a:bodyPr anchor="t" anchorCtr="0"/>
          <a:lstStyle/>
          <a:p>
            <a:pPr algn="just" eaLnBrk="0" hangingPunct="0"/>
            <a:r>
              <a:rPr lang="zh-CN" altLang="en-US" sz="2800" b="1" dirty="0">
                <a:latin typeface="Verdana" panose="020B0604030504040204" pitchFamily="34" charset="0"/>
                <a:ea typeface="宋体" panose="02010600030101010101" pitchFamily="2" charset="-122"/>
              </a:rPr>
              <a:t>逻辑结构设计</a:t>
            </a:r>
            <a:endParaRPr lang="en-US" altLang="zh-CN" sz="2800" b="1" dirty="0">
              <a:latin typeface="Verdana" panose="020B0604030504040204" pitchFamily="34" charset="0"/>
              <a:ea typeface="宋体" panose="02010600030101010101" pitchFamily="2" charset="-122"/>
            </a:endParaRPr>
          </a:p>
          <a:p>
            <a:pPr algn="just" eaLnBrk="0" hangingPunct="0"/>
            <a:r>
              <a:rPr lang="zh-CN" altLang="en-US" sz="2800" b="1" dirty="0">
                <a:latin typeface="Verdana" panose="020B0604030504040204" pitchFamily="34" charset="0"/>
                <a:ea typeface="宋体" panose="02010600030101010101" pitchFamily="2" charset="-122"/>
              </a:rPr>
              <a:t>物理结构设计</a:t>
            </a:r>
            <a:endParaRPr lang="zh-CN" altLang="en-US" b="1" dirty="0">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p:cNvSpPr>
          <p:nvPr>
            <p:ph type="title"/>
          </p:nvPr>
        </p:nvSpPr>
        <p:spPr/>
        <p:txBody>
          <a:bodyPr vert="horz" wrap="square" lIns="91440" tIns="45720" rIns="91440" bIns="45720" anchor="b" anchorCtr="0"/>
          <a:lstStyle/>
          <a:p>
            <a:r>
              <a:rPr lang="en-US" altLang="zh-CN" dirty="0"/>
              <a:t>7.3 </a:t>
            </a:r>
            <a:r>
              <a:rPr lang="zh-CN" altLang="en-US" dirty="0"/>
              <a:t>概念结构设计</a:t>
            </a:r>
          </a:p>
        </p:txBody>
      </p:sp>
      <p:sp>
        <p:nvSpPr>
          <p:cNvPr id="72706" name="内容占位符 2"/>
          <p:cNvSpPr>
            <a:spLocks noGrp="1"/>
          </p:cNvSpPr>
          <p:nvPr>
            <p:ph idx="1"/>
          </p:nvPr>
        </p:nvSpPr>
        <p:spPr/>
        <p:txBody>
          <a:bodyPr vert="horz" wrap="square" lIns="91440" tIns="45720" rIns="91440" bIns="45720" anchor="t" anchorCtr="0"/>
          <a:lstStyle/>
          <a:p>
            <a:r>
              <a:rPr lang="en-US" altLang="zh-CN" dirty="0"/>
              <a:t>7.3.1 </a:t>
            </a:r>
            <a:r>
              <a:rPr lang="zh-CN" altLang="en-US" dirty="0"/>
              <a:t>概念结构</a:t>
            </a:r>
            <a:endParaRPr lang="en-US" altLang="zh-CN" dirty="0"/>
          </a:p>
          <a:p>
            <a:r>
              <a:rPr lang="en-US" altLang="zh-CN" b="1" dirty="0">
                <a:solidFill>
                  <a:srgbClr val="FF0000"/>
                </a:solidFill>
              </a:rPr>
              <a:t>7.3.2 E-R</a:t>
            </a:r>
            <a:r>
              <a:rPr lang="zh-CN" altLang="en-US" b="1" dirty="0">
                <a:solidFill>
                  <a:srgbClr val="FF0000"/>
                </a:solidFill>
              </a:rPr>
              <a:t>模型</a:t>
            </a:r>
            <a:endParaRPr lang="en-US" altLang="zh-CN" b="1" dirty="0">
              <a:solidFill>
                <a:srgbClr val="FF0000"/>
              </a:solidFill>
            </a:endParaRPr>
          </a:p>
          <a:p>
            <a:r>
              <a:rPr lang="zh-CN" altLang="en-US" dirty="0"/>
              <a:t>*</a:t>
            </a:r>
            <a:r>
              <a:rPr lang="en-US" altLang="zh-CN" dirty="0"/>
              <a:t>7.3.3 </a:t>
            </a:r>
            <a:r>
              <a:rPr lang="zh-CN" altLang="en-US" dirty="0"/>
              <a:t>扩展的</a:t>
            </a:r>
            <a:r>
              <a:rPr lang="en-US" altLang="zh-CN" dirty="0"/>
              <a:t>E-R</a:t>
            </a:r>
            <a:r>
              <a:rPr lang="zh-CN" altLang="en-US" dirty="0"/>
              <a:t>模型</a:t>
            </a:r>
            <a:endParaRPr lang="en-US" altLang="zh-CN" dirty="0"/>
          </a:p>
          <a:p>
            <a:r>
              <a:rPr lang="zh-CN" altLang="en-US" dirty="0"/>
              <a:t>*</a:t>
            </a:r>
            <a:r>
              <a:rPr lang="en-US" altLang="zh-CN" dirty="0"/>
              <a:t>7.3.4 UML</a:t>
            </a:r>
          </a:p>
          <a:p>
            <a:r>
              <a:rPr lang="en-US" altLang="zh-CN" b="1" dirty="0"/>
              <a:t>7.3.5 </a:t>
            </a:r>
            <a:r>
              <a:rPr lang="zh-CN" altLang="en-US" b="1" dirty="0"/>
              <a:t>概念结构设计</a:t>
            </a:r>
          </a:p>
        </p:txBody>
      </p:sp>
    </p:spTree>
  </p:cSld>
  <p:clrMapOvr>
    <a:masterClrMapping/>
  </p:clrMapOvr>
  <p:transition advClick="0"/>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标题 1"/>
          <p:cNvSpPr>
            <a:spLocks noGrp="1"/>
          </p:cNvSpPr>
          <p:nvPr>
            <p:ph type="title"/>
          </p:nvPr>
        </p:nvSpPr>
        <p:spPr/>
        <p:txBody>
          <a:bodyPr vert="horz" wrap="square" lIns="91440" tIns="45720" rIns="91440" bIns="45720" anchor="b" anchorCtr="0"/>
          <a:lstStyle/>
          <a:p>
            <a:r>
              <a:rPr lang="en-US" altLang="zh-CN" dirty="0"/>
              <a:t>7.3.2 E-R</a:t>
            </a:r>
            <a:r>
              <a:rPr lang="zh-CN" altLang="en-US" dirty="0"/>
              <a:t>模型</a:t>
            </a:r>
          </a:p>
        </p:txBody>
      </p:sp>
      <p:sp>
        <p:nvSpPr>
          <p:cNvPr id="73730" name="内容占位符 2"/>
          <p:cNvSpPr>
            <a:spLocks noGrp="1"/>
          </p:cNvSpPr>
          <p:nvPr>
            <p:ph idx="1"/>
          </p:nvPr>
        </p:nvSpPr>
        <p:spPr/>
        <p:txBody>
          <a:bodyPr vert="horz" wrap="square" lIns="91440" tIns="45720" rIns="91440" bIns="45720" anchor="t" anchorCtr="0"/>
          <a:lstStyle/>
          <a:p>
            <a:r>
              <a:rPr lang="zh-CN" altLang="en-US" sz="4000" dirty="0"/>
              <a:t>实体之间的联系</a:t>
            </a:r>
            <a:endParaRPr lang="en-US" altLang="zh-CN" sz="4000" dirty="0"/>
          </a:p>
          <a:p>
            <a:r>
              <a:rPr lang="en-US" altLang="zh-CN" dirty="0"/>
              <a:t>1</a:t>
            </a:r>
            <a:r>
              <a:rPr lang="zh-CN" altLang="en-US" dirty="0"/>
              <a:t>）两个实体型之间的联系：</a:t>
            </a:r>
            <a:endParaRPr lang="en-US" altLang="zh-CN" dirty="0"/>
          </a:p>
          <a:p>
            <a:r>
              <a:rPr lang="zh-CN" altLang="en-US" dirty="0"/>
              <a:t>①一对一联系（</a:t>
            </a:r>
            <a:r>
              <a:rPr lang="en-US" altLang="zh-CN" dirty="0"/>
              <a:t>1∶1</a:t>
            </a:r>
            <a:r>
              <a:rPr lang="zh-CN" altLang="en-US" dirty="0"/>
              <a:t>）</a:t>
            </a:r>
            <a:endParaRPr lang="en-US" altLang="zh-CN" dirty="0"/>
          </a:p>
          <a:p>
            <a:r>
              <a:rPr lang="zh-CN" altLang="en-US" dirty="0"/>
              <a:t>②一对多联系（</a:t>
            </a:r>
            <a:r>
              <a:rPr lang="en-US" altLang="zh-CN" dirty="0"/>
              <a:t>1∶n</a:t>
            </a:r>
            <a:r>
              <a:rPr lang="zh-CN" altLang="en-US" dirty="0"/>
              <a:t>）</a:t>
            </a:r>
            <a:endParaRPr lang="en-US" altLang="zh-CN" dirty="0"/>
          </a:p>
          <a:p>
            <a:r>
              <a:rPr lang="zh-CN" altLang="en-US" dirty="0"/>
              <a:t>③多对多联系（</a:t>
            </a:r>
            <a:r>
              <a:rPr lang="en-US" altLang="zh-CN" dirty="0"/>
              <a:t>m∶n</a:t>
            </a:r>
            <a:r>
              <a:rPr lang="zh-CN" altLang="en-US" dirty="0"/>
              <a:t>）</a:t>
            </a:r>
          </a:p>
        </p:txBody>
      </p:sp>
      <p:pic>
        <p:nvPicPr>
          <p:cNvPr id="24" name="图片 23"/>
          <p:cNvPicPr>
            <a:picLocks noChangeAspect="1"/>
          </p:cNvPicPr>
          <p:nvPr/>
        </p:nvPicPr>
        <p:blipFill>
          <a:blip r:embed="rId2"/>
          <a:stretch>
            <a:fillRect/>
          </a:stretch>
        </p:blipFill>
        <p:spPr>
          <a:xfrm>
            <a:off x="6887845" y="44450"/>
            <a:ext cx="3205480" cy="3083560"/>
          </a:xfrm>
          <a:prstGeom prst="rect">
            <a:avLst/>
          </a:prstGeom>
        </p:spPr>
      </p:pic>
      <p:pic>
        <p:nvPicPr>
          <p:cNvPr id="26" name="图片 25"/>
          <p:cNvPicPr>
            <a:picLocks noChangeAspect="1"/>
          </p:cNvPicPr>
          <p:nvPr/>
        </p:nvPicPr>
        <p:blipFill>
          <a:blip r:embed="rId3"/>
          <a:stretch>
            <a:fillRect/>
          </a:stretch>
        </p:blipFill>
        <p:spPr>
          <a:xfrm>
            <a:off x="8904605" y="3428365"/>
            <a:ext cx="2726690" cy="3091180"/>
          </a:xfrm>
          <a:prstGeom prst="rect">
            <a:avLst/>
          </a:prstGeom>
        </p:spPr>
      </p:pic>
      <p:pic>
        <p:nvPicPr>
          <p:cNvPr id="28" name="图片 27"/>
          <p:cNvPicPr>
            <a:picLocks noChangeAspect="1"/>
          </p:cNvPicPr>
          <p:nvPr/>
        </p:nvPicPr>
        <p:blipFill>
          <a:blip r:embed="rId4"/>
          <a:stretch>
            <a:fillRect/>
          </a:stretch>
        </p:blipFill>
        <p:spPr>
          <a:xfrm>
            <a:off x="5088255" y="3284855"/>
            <a:ext cx="3133725" cy="3299460"/>
          </a:xfrm>
          <a:prstGeom prst="rect">
            <a:avLst/>
          </a:prstGeom>
        </p:spPr>
      </p:pic>
    </p:spTree>
  </p:cSld>
  <p:clrMapOvr>
    <a:masterClrMapping/>
  </p:clrMapOvr>
  <p:transition advClick="0"/>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p:cNvSpPr>
          <p:nvPr>
            <p:ph type="title"/>
          </p:nvPr>
        </p:nvSpPr>
        <p:spPr/>
        <p:txBody>
          <a:bodyPr vert="horz" wrap="square" lIns="91440" tIns="45720" rIns="91440" bIns="45720" anchor="b" anchorCtr="0"/>
          <a:lstStyle/>
          <a:p>
            <a:r>
              <a:rPr lang="zh-CN" altLang="en-US" sz="3600" dirty="0"/>
              <a:t>实体之间的联系</a:t>
            </a:r>
            <a:endParaRPr lang="zh-CN" altLang="en-US" dirty="0"/>
          </a:p>
        </p:txBody>
      </p:sp>
      <p:sp>
        <p:nvSpPr>
          <p:cNvPr id="74754" name="内容占位符 2"/>
          <p:cNvSpPr>
            <a:spLocks noGrp="1"/>
          </p:cNvSpPr>
          <p:nvPr>
            <p:ph idx="1"/>
          </p:nvPr>
        </p:nvSpPr>
        <p:spPr/>
        <p:txBody>
          <a:bodyPr vert="horz" wrap="square" lIns="91440" tIns="45720" rIns="91440" bIns="45720" anchor="t" anchorCtr="0"/>
          <a:lstStyle/>
          <a:p>
            <a:r>
              <a:rPr lang="en-US" altLang="zh-CN" dirty="0"/>
              <a:t>2</a:t>
            </a:r>
            <a:r>
              <a:rPr lang="zh-CN" altLang="en-US" dirty="0"/>
              <a:t>）两个以上的实体型之间的联系 </a:t>
            </a:r>
            <a:endParaRPr lang="en-US" altLang="zh-CN" dirty="0"/>
          </a:p>
          <a:p>
            <a:r>
              <a:rPr lang="zh-CN" altLang="en-US" dirty="0"/>
              <a:t>一般地，两个以上的实体型之间也存在着一对一、一对多、</a:t>
            </a:r>
            <a:r>
              <a:rPr lang="zh-CN" altLang="en-US" dirty="0">
                <a:solidFill>
                  <a:srgbClr val="FF0000"/>
                </a:solidFill>
              </a:rPr>
              <a:t>多对多</a:t>
            </a:r>
            <a:r>
              <a:rPr lang="zh-CN" altLang="en-US" dirty="0"/>
              <a:t>联系。 </a:t>
            </a:r>
            <a:endParaRPr lang="en-US" altLang="zh-CN" dirty="0"/>
          </a:p>
          <a:p>
            <a:endParaRPr lang="zh-CN" altLang="en-US" dirty="0"/>
          </a:p>
        </p:txBody>
      </p:sp>
      <p:grpSp>
        <p:nvGrpSpPr>
          <p:cNvPr id="7" name="Group 16"/>
          <p:cNvGrpSpPr/>
          <p:nvPr>
            <p:custDataLst>
              <p:tags r:id="rId1"/>
            </p:custDataLst>
          </p:nvPr>
        </p:nvGrpSpPr>
        <p:grpSpPr bwMode="auto">
          <a:xfrm>
            <a:off x="1415415" y="2996565"/>
            <a:ext cx="2588895" cy="2888619"/>
            <a:chOff x="3711" y="1117"/>
            <a:chExt cx="1712" cy="2183"/>
          </a:xfrm>
        </p:grpSpPr>
        <p:sp>
          <p:nvSpPr>
            <p:cNvPr id="56326" name="Text Box 5"/>
            <p:cNvSpPr txBox="1">
              <a:spLocks noChangeArrowheads="1"/>
            </p:cNvSpPr>
            <p:nvPr>
              <p:custDataLst>
                <p:tags r:id="rId13"/>
              </p:custDataLst>
            </p:nvPr>
          </p:nvSpPr>
          <p:spPr bwMode="auto">
            <a:xfrm>
              <a:off x="4151" y="1117"/>
              <a:ext cx="746" cy="348"/>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ea typeface="楷体_GB2312" pitchFamily="49" charset="-122"/>
                </a:rPr>
                <a:t>供应商</a:t>
              </a:r>
            </a:p>
          </p:txBody>
        </p:sp>
        <p:sp>
          <p:nvSpPr>
            <p:cNvPr id="56327" name="AutoShape 6"/>
            <p:cNvSpPr>
              <a:spLocks noChangeArrowheads="1"/>
            </p:cNvSpPr>
            <p:nvPr>
              <p:custDataLst>
                <p:tags r:id="rId14"/>
              </p:custDataLst>
            </p:nvPr>
          </p:nvSpPr>
          <p:spPr bwMode="auto">
            <a:xfrm>
              <a:off x="4106" y="1870"/>
              <a:ext cx="877" cy="471"/>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供应</a:t>
              </a:r>
            </a:p>
          </p:txBody>
        </p:sp>
        <p:sp>
          <p:nvSpPr>
            <p:cNvPr id="56328" name="Text Box 7"/>
            <p:cNvSpPr txBox="1">
              <a:spLocks noChangeArrowheads="1"/>
            </p:cNvSpPr>
            <p:nvPr>
              <p:custDataLst>
                <p:tags r:id="rId15"/>
              </p:custDataLst>
            </p:nvPr>
          </p:nvSpPr>
          <p:spPr bwMode="auto">
            <a:xfrm>
              <a:off x="3767" y="2952"/>
              <a:ext cx="565" cy="348"/>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ea typeface="楷体_GB2312" pitchFamily="49" charset="-122"/>
                </a:rPr>
                <a:t>项目</a:t>
              </a:r>
            </a:p>
          </p:txBody>
        </p:sp>
        <p:sp>
          <p:nvSpPr>
            <p:cNvPr id="56329" name="Line 8"/>
            <p:cNvSpPr>
              <a:spLocks noChangeShapeType="1"/>
            </p:cNvSpPr>
            <p:nvPr>
              <p:custDataLst>
                <p:tags r:id="rId16"/>
              </p:custDataLst>
            </p:nvPr>
          </p:nvSpPr>
          <p:spPr bwMode="auto">
            <a:xfrm flipH="1" flipV="1">
              <a:off x="4544" y="1453"/>
              <a:ext cx="1" cy="4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0" name="Line 9"/>
            <p:cNvSpPr>
              <a:spLocks noChangeShapeType="1"/>
            </p:cNvSpPr>
            <p:nvPr>
              <p:custDataLst>
                <p:tags r:id="rId17"/>
              </p:custDataLst>
            </p:nvPr>
          </p:nvSpPr>
          <p:spPr bwMode="auto">
            <a:xfrm flipH="1">
              <a:off x="4059" y="2105"/>
              <a:ext cx="47" cy="82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1" name="Text Box 10"/>
            <p:cNvSpPr txBox="1">
              <a:spLocks noChangeArrowheads="1"/>
            </p:cNvSpPr>
            <p:nvPr>
              <p:custDataLst>
                <p:tags r:id="rId18"/>
              </p:custDataLst>
            </p:nvPr>
          </p:nvSpPr>
          <p:spPr bwMode="auto">
            <a:xfrm>
              <a:off x="4194" y="1541"/>
              <a:ext cx="21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m</a:t>
              </a:r>
            </a:p>
          </p:txBody>
        </p:sp>
        <p:sp>
          <p:nvSpPr>
            <p:cNvPr id="56332" name="Text Box 11"/>
            <p:cNvSpPr txBox="1">
              <a:spLocks noChangeArrowheads="1"/>
            </p:cNvSpPr>
            <p:nvPr>
              <p:custDataLst>
                <p:tags r:id="rId19"/>
              </p:custDataLst>
            </p:nvPr>
          </p:nvSpPr>
          <p:spPr bwMode="auto">
            <a:xfrm>
              <a:off x="5203" y="2491"/>
              <a:ext cx="220"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p</a:t>
              </a:r>
            </a:p>
          </p:txBody>
        </p:sp>
        <p:sp>
          <p:nvSpPr>
            <p:cNvPr id="56334" name="Text Box 13"/>
            <p:cNvSpPr txBox="1">
              <a:spLocks noChangeArrowheads="1"/>
            </p:cNvSpPr>
            <p:nvPr>
              <p:custDataLst>
                <p:tags r:id="rId20"/>
              </p:custDataLst>
            </p:nvPr>
          </p:nvSpPr>
          <p:spPr bwMode="auto">
            <a:xfrm>
              <a:off x="4785" y="2952"/>
              <a:ext cx="544" cy="348"/>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ea typeface="楷体_GB2312" pitchFamily="49" charset="-122"/>
                </a:rPr>
                <a:t>零件</a:t>
              </a:r>
            </a:p>
          </p:txBody>
        </p:sp>
        <p:sp>
          <p:nvSpPr>
            <p:cNvPr id="56335" name="Line 14"/>
            <p:cNvSpPr>
              <a:spLocks noChangeShapeType="1"/>
            </p:cNvSpPr>
            <p:nvPr>
              <p:custDataLst>
                <p:tags r:id="rId21"/>
              </p:custDataLst>
            </p:nvPr>
          </p:nvSpPr>
          <p:spPr bwMode="auto">
            <a:xfrm>
              <a:off x="4983" y="2105"/>
              <a:ext cx="120" cy="87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6" name="Text Box 15"/>
            <p:cNvSpPr txBox="1">
              <a:spLocks noChangeArrowheads="1"/>
            </p:cNvSpPr>
            <p:nvPr>
              <p:custDataLst>
                <p:tags r:id="rId22"/>
              </p:custDataLst>
            </p:nvPr>
          </p:nvSpPr>
          <p:spPr bwMode="auto">
            <a:xfrm>
              <a:off x="3711" y="2447"/>
              <a:ext cx="21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p>
          </p:txBody>
        </p:sp>
      </p:grpSp>
      <p:grpSp>
        <p:nvGrpSpPr>
          <p:cNvPr id="8" name="Group 16"/>
          <p:cNvGrpSpPr/>
          <p:nvPr>
            <p:custDataLst>
              <p:tags r:id="rId2"/>
            </p:custDataLst>
          </p:nvPr>
        </p:nvGrpSpPr>
        <p:grpSpPr bwMode="auto">
          <a:xfrm>
            <a:off x="5160010" y="2996565"/>
            <a:ext cx="2588895" cy="2888619"/>
            <a:chOff x="3711" y="1117"/>
            <a:chExt cx="1712" cy="2183"/>
          </a:xfrm>
        </p:grpSpPr>
        <p:sp>
          <p:nvSpPr>
            <p:cNvPr id="9" name="Text Box 5"/>
            <p:cNvSpPr txBox="1">
              <a:spLocks noChangeArrowheads="1"/>
            </p:cNvSpPr>
            <p:nvPr>
              <p:custDataLst>
                <p:tags r:id="rId3"/>
              </p:custDataLst>
            </p:nvPr>
          </p:nvSpPr>
          <p:spPr bwMode="auto">
            <a:xfrm>
              <a:off x="4151" y="1117"/>
              <a:ext cx="746" cy="348"/>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课程</a:t>
              </a:r>
            </a:p>
          </p:txBody>
        </p:sp>
        <p:sp>
          <p:nvSpPr>
            <p:cNvPr id="10" name="AutoShape 6"/>
            <p:cNvSpPr>
              <a:spLocks noChangeArrowheads="1"/>
            </p:cNvSpPr>
            <p:nvPr>
              <p:custDataLst>
                <p:tags r:id="rId4"/>
              </p:custDataLst>
            </p:nvPr>
          </p:nvSpPr>
          <p:spPr bwMode="auto">
            <a:xfrm>
              <a:off x="4106" y="1870"/>
              <a:ext cx="877" cy="471"/>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评价</a:t>
              </a:r>
            </a:p>
          </p:txBody>
        </p:sp>
        <p:sp>
          <p:nvSpPr>
            <p:cNvPr id="11" name="Text Box 7"/>
            <p:cNvSpPr txBox="1">
              <a:spLocks noChangeArrowheads="1"/>
            </p:cNvSpPr>
            <p:nvPr>
              <p:custDataLst>
                <p:tags r:id="rId5"/>
              </p:custDataLst>
            </p:nvPr>
          </p:nvSpPr>
          <p:spPr bwMode="auto">
            <a:xfrm>
              <a:off x="3767" y="2952"/>
              <a:ext cx="565" cy="348"/>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ea typeface="楷体_GB2312" pitchFamily="49" charset="-122"/>
                </a:rPr>
                <a:t>教师</a:t>
              </a:r>
            </a:p>
          </p:txBody>
        </p:sp>
        <p:sp>
          <p:nvSpPr>
            <p:cNvPr id="12" name="Line 8"/>
            <p:cNvSpPr>
              <a:spLocks noChangeShapeType="1"/>
            </p:cNvSpPr>
            <p:nvPr>
              <p:custDataLst>
                <p:tags r:id="rId6"/>
              </p:custDataLst>
            </p:nvPr>
          </p:nvSpPr>
          <p:spPr bwMode="auto">
            <a:xfrm flipV="1">
              <a:off x="4545" y="1453"/>
              <a:ext cx="6" cy="41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9"/>
            <p:cNvSpPr>
              <a:spLocks noChangeShapeType="1"/>
            </p:cNvSpPr>
            <p:nvPr>
              <p:custDataLst>
                <p:tags r:id="rId7"/>
              </p:custDataLst>
            </p:nvPr>
          </p:nvSpPr>
          <p:spPr bwMode="auto">
            <a:xfrm flipH="1">
              <a:off x="4059" y="2105"/>
              <a:ext cx="47" cy="82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Text Box 10"/>
            <p:cNvSpPr txBox="1">
              <a:spLocks noChangeArrowheads="1"/>
            </p:cNvSpPr>
            <p:nvPr>
              <p:custDataLst>
                <p:tags r:id="rId8"/>
              </p:custDataLst>
            </p:nvPr>
          </p:nvSpPr>
          <p:spPr bwMode="auto">
            <a:xfrm>
              <a:off x="4194" y="1541"/>
              <a:ext cx="21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m</a:t>
              </a:r>
            </a:p>
          </p:txBody>
        </p:sp>
        <p:sp>
          <p:nvSpPr>
            <p:cNvPr id="15" name="Text Box 11"/>
            <p:cNvSpPr txBox="1">
              <a:spLocks noChangeArrowheads="1"/>
            </p:cNvSpPr>
            <p:nvPr>
              <p:custDataLst>
                <p:tags r:id="rId9"/>
              </p:custDataLst>
            </p:nvPr>
          </p:nvSpPr>
          <p:spPr bwMode="auto">
            <a:xfrm>
              <a:off x="5203" y="2491"/>
              <a:ext cx="220"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p</a:t>
              </a:r>
            </a:p>
          </p:txBody>
        </p:sp>
        <p:sp>
          <p:nvSpPr>
            <p:cNvPr id="16" name="Text Box 13"/>
            <p:cNvSpPr txBox="1">
              <a:spLocks noChangeArrowheads="1"/>
            </p:cNvSpPr>
            <p:nvPr>
              <p:custDataLst>
                <p:tags r:id="rId10"/>
              </p:custDataLst>
            </p:nvPr>
          </p:nvSpPr>
          <p:spPr bwMode="auto">
            <a:xfrm>
              <a:off x="4785" y="2952"/>
              <a:ext cx="544" cy="348"/>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ea typeface="楷体_GB2312" pitchFamily="49" charset="-122"/>
                </a:rPr>
                <a:t>学生</a:t>
              </a:r>
            </a:p>
          </p:txBody>
        </p:sp>
        <p:sp>
          <p:nvSpPr>
            <p:cNvPr id="17" name="Line 14"/>
            <p:cNvSpPr>
              <a:spLocks noChangeShapeType="1"/>
            </p:cNvSpPr>
            <p:nvPr>
              <p:custDataLst>
                <p:tags r:id="rId11"/>
              </p:custDataLst>
            </p:nvPr>
          </p:nvSpPr>
          <p:spPr bwMode="auto">
            <a:xfrm>
              <a:off x="4983" y="2105"/>
              <a:ext cx="120" cy="87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Text Box 15"/>
            <p:cNvSpPr txBox="1">
              <a:spLocks noChangeArrowheads="1"/>
            </p:cNvSpPr>
            <p:nvPr>
              <p:custDataLst>
                <p:tags r:id="rId12"/>
              </p:custDataLst>
            </p:nvPr>
          </p:nvSpPr>
          <p:spPr bwMode="auto">
            <a:xfrm>
              <a:off x="3711" y="2447"/>
              <a:ext cx="21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ppt_w*0.05"/>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anim calcmode="lin" valueType="num">
                                      <p:cBhvr>
                                        <p:cTn id="9" dur="500" fill="hold"/>
                                        <p:tgtEl>
                                          <p:spTgt spid="7"/>
                                        </p:tgtEl>
                                        <p:attrNameLst>
                                          <p:attrName>ppt_x</p:attrName>
                                        </p:attrNameLst>
                                      </p:cBhvr>
                                      <p:tavLst>
                                        <p:tav tm="0">
                                          <p:val>
                                            <p:strVal val="#ppt_x-.2"/>
                                          </p:val>
                                        </p:tav>
                                        <p:tav tm="100000">
                                          <p:val>
                                            <p:strVal val="#ppt_x"/>
                                          </p:val>
                                        </p:tav>
                                      </p:tavLst>
                                    </p:anim>
                                    <p:anim calcmode="lin" valueType="num">
                                      <p:cBhvr>
                                        <p:cTn id="10" dur="500" fill="hold"/>
                                        <p:tgtEl>
                                          <p:spTgt spid="7"/>
                                        </p:tgtEl>
                                        <p:attrNameLst>
                                          <p:attrName>ppt_y</p:attrName>
                                        </p:attrNameLst>
                                      </p:cBhvr>
                                      <p:tavLst>
                                        <p:tav tm="0">
                                          <p:val>
                                            <p:strVal val="#ppt_y"/>
                                          </p:val>
                                        </p:tav>
                                        <p:tav tm="100000">
                                          <p:val>
                                            <p:strVal val="#ppt_y"/>
                                          </p:val>
                                        </p:tav>
                                      </p:tavLst>
                                    </p:anim>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54" presetClass="entr" presetSubtype="0" accel="10000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500" fill="hold"/>
                                        <p:tgtEl>
                                          <p:spTgt spid="8"/>
                                        </p:tgtEl>
                                        <p:attrNameLst>
                                          <p:attrName>ppt_w</p:attrName>
                                        </p:attrNameLst>
                                      </p:cBhvr>
                                      <p:tavLst>
                                        <p:tav tm="0">
                                          <p:val>
                                            <p:strVal val="#ppt_w*0.05"/>
                                          </p:val>
                                        </p:tav>
                                        <p:tav tm="100000">
                                          <p:val>
                                            <p:strVal val="#ppt_w"/>
                                          </p:val>
                                        </p:tav>
                                      </p:tavLst>
                                    </p:anim>
                                    <p:anim calcmode="lin" valueType="num">
                                      <p:cBhvr>
                                        <p:cTn id="17" dur="500" fill="hold"/>
                                        <p:tgtEl>
                                          <p:spTgt spid="8"/>
                                        </p:tgtEl>
                                        <p:attrNameLst>
                                          <p:attrName>ppt_h</p:attrName>
                                        </p:attrNameLst>
                                      </p:cBhvr>
                                      <p:tavLst>
                                        <p:tav tm="0">
                                          <p:val>
                                            <p:strVal val="#ppt_h"/>
                                          </p:val>
                                        </p:tav>
                                        <p:tav tm="100000">
                                          <p:val>
                                            <p:strVal val="#ppt_h"/>
                                          </p:val>
                                        </p:tav>
                                      </p:tavLst>
                                    </p:anim>
                                    <p:anim calcmode="lin" valueType="num">
                                      <p:cBhvr>
                                        <p:cTn id="18" dur="500" fill="hold"/>
                                        <p:tgtEl>
                                          <p:spTgt spid="8"/>
                                        </p:tgtEl>
                                        <p:attrNameLst>
                                          <p:attrName>ppt_x</p:attrName>
                                        </p:attrNameLst>
                                      </p:cBhvr>
                                      <p:tavLst>
                                        <p:tav tm="0">
                                          <p:val>
                                            <p:strVal val="#ppt_x-.2"/>
                                          </p:val>
                                        </p:tav>
                                        <p:tav tm="100000">
                                          <p:val>
                                            <p:strVal val="#ppt_x"/>
                                          </p:val>
                                        </p:tav>
                                      </p:tavLst>
                                    </p:anim>
                                    <p:anim calcmode="lin" valueType="num">
                                      <p:cBhvr>
                                        <p:cTn id="19" dur="500" fill="hold"/>
                                        <p:tgtEl>
                                          <p:spTgt spid="8"/>
                                        </p:tgtEl>
                                        <p:attrNameLst>
                                          <p:attrName>ppt_y</p:attrName>
                                        </p:attrNameLst>
                                      </p:cBhvr>
                                      <p:tavLst>
                                        <p:tav tm="0">
                                          <p:val>
                                            <p:strVal val="#ppt_y"/>
                                          </p:val>
                                        </p:tav>
                                        <p:tav tm="100000">
                                          <p:val>
                                            <p:strVal val="#ppt_y"/>
                                          </p:val>
                                        </p:tav>
                                      </p:tavLst>
                                    </p:anim>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39470" y="1196340"/>
            <a:ext cx="9732645" cy="1198880"/>
          </a:xfrm>
          <a:prstGeom prst="rect">
            <a:avLst/>
          </a:prstGeom>
          <a:noFill/>
        </p:spPr>
        <p:txBody>
          <a:bodyPr wrap="square" rtlCol="0" anchor="t">
            <a:spAutoFit/>
          </a:bodyPr>
          <a:lstStyle/>
          <a:p>
            <a:r>
              <a:rPr lang="zh-CN" altLang="en-US" sz="2400" dirty="0">
                <a:sym typeface="+mn-ea"/>
              </a:rPr>
              <a:t>对于课程、教师与参考书</a:t>
            </a:r>
            <a:r>
              <a:rPr lang="en-US" altLang="zh-CN" sz="2400" dirty="0">
                <a:sym typeface="+mn-ea"/>
              </a:rPr>
              <a:t>3</a:t>
            </a:r>
            <a:r>
              <a:rPr lang="zh-CN" altLang="en-US" sz="2400" dirty="0">
                <a:sym typeface="+mn-ea"/>
              </a:rPr>
              <a:t>个实体型，如果一门课程可以有若干个教师讲授，使用若干本参考书，而每一个教师</a:t>
            </a:r>
            <a:r>
              <a:rPr lang="en-US" altLang="zh-CN" sz="2400" dirty="0">
                <a:sym typeface="+mn-ea"/>
              </a:rPr>
              <a:t>+</a:t>
            </a:r>
            <a:r>
              <a:rPr lang="zh-CN" altLang="en-US" sz="2400" dirty="0">
                <a:sym typeface="+mn-ea"/>
              </a:rPr>
              <a:t>每一本参考书只对应一门课程使用，则课程与教师、参考书之间的联系是</a:t>
            </a:r>
            <a:r>
              <a:rPr lang="zh-CN" altLang="en-US" sz="2400" dirty="0">
                <a:solidFill>
                  <a:srgbClr val="FF0000"/>
                </a:solidFill>
                <a:sym typeface="+mn-ea"/>
              </a:rPr>
              <a:t>一对多</a:t>
            </a:r>
            <a:r>
              <a:rPr lang="zh-CN" altLang="en-US" sz="2400" dirty="0">
                <a:sym typeface="+mn-ea"/>
              </a:rPr>
              <a:t>的。</a:t>
            </a:r>
          </a:p>
        </p:txBody>
      </p:sp>
      <p:grpSp>
        <p:nvGrpSpPr>
          <p:cNvPr id="54277" name="Group 17"/>
          <p:cNvGrpSpPr/>
          <p:nvPr/>
        </p:nvGrpSpPr>
        <p:grpSpPr bwMode="auto">
          <a:xfrm>
            <a:off x="1212533" y="2561273"/>
            <a:ext cx="2873375" cy="3290887"/>
            <a:chOff x="3610" y="1200"/>
            <a:chExt cx="1810" cy="2073"/>
          </a:xfrm>
        </p:grpSpPr>
        <p:sp>
          <p:nvSpPr>
            <p:cNvPr id="54278" name="Text Box 6"/>
            <p:cNvSpPr txBox="1">
              <a:spLocks noChangeArrowheads="1"/>
            </p:cNvSpPr>
            <p:nvPr/>
          </p:nvSpPr>
          <p:spPr bwMode="auto">
            <a:xfrm>
              <a:off x="4115" y="1200"/>
              <a:ext cx="573" cy="294"/>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课程</a:t>
              </a:r>
            </a:p>
          </p:txBody>
        </p:sp>
        <p:sp>
          <p:nvSpPr>
            <p:cNvPr id="54279" name="AutoShape 7"/>
            <p:cNvSpPr>
              <a:spLocks noChangeArrowheads="1"/>
            </p:cNvSpPr>
            <p:nvPr/>
          </p:nvSpPr>
          <p:spPr bwMode="auto">
            <a:xfrm>
              <a:off x="4081" y="1930"/>
              <a:ext cx="674" cy="456"/>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讲授</a:t>
              </a:r>
            </a:p>
          </p:txBody>
        </p:sp>
        <p:sp>
          <p:nvSpPr>
            <p:cNvPr id="54280" name="Text Box 8"/>
            <p:cNvSpPr txBox="1">
              <a:spLocks noChangeArrowheads="1"/>
            </p:cNvSpPr>
            <p:nvPr/>
          </p:nvSpPr>
          <p:spPr bwMode="auto">
            <a:xfrm>
              <a:off x="3610" y="2979"/>
              <a:ext cx="573" cy="294"/>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教师</a:t>
              </a:r>
            </a:p>
          </p:txBody>
        </p:sp>
        <p:sp>
          <p:nvSpPr>
            <p:cNvPr id="54281" name="Line 9"/>
            <p:cNvSpPr>
              <a:spLocks noChangeShapeType="1"/>
            </p:cNvSpPr>
            <p:nvPr/>
          </p:nvSpPr>
          <p:spPr bwMode="auto">
            <a:xfrm flipV="1">
              <a:off x="4418" y="1474"/>
              <a:ext cx="0" cy="4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2" name="Line 10"/>
            <p:cNvSpPr>
              <a:spLocks noChangeShapeType="1"/>
            </p:cNvSpPr>
            <p:nvPr/>
          </p:nvSpPr>
          <p:spPr bwMode="auto">
            <a:xfrm flipH="1">
              <a:off x="3992" y="2158"/>
              <a:ext cx="92" cy="8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3" name="Text Box 11"/>
            <p:cNvSpPr txBox="1">
              <a:spLocks noChangeArrowheads="1"/>
            </p:cNvSpPr>
            <p:nvPr/>
          </p:nvSpPr>
          <p:spPr bwMode="auto">
            <a:xfrm>
              <a:off x="4149" y="1611"/>
              <a:ext cx="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1</a:t>
              </a:r>
            </a:p>
          </p:txBody>
        </p:sp>
        <p:sp>
          <p:nvSpPr>
            <p:cNvPr id="54284" name="Text Box 12"/>
            <p:cNvSpPr txBox="1">
              <a:spLocks noChangeArrowheads="1"/>
            </p:cNvSpPr>
            <p:nvPr/>
          </p:nvSpPr>
          <p:spPr bwMode="auto">
            <a:xfrm>
              <a:off x="3812" y="2477"/>
              <a:ext cx="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m</a:t>
              </a:r>
            </a:p>
          </p:txBody>
        </p:sp>
        <p:sp>
          <p:nvSpPr>
            <p:cNvPr id="54286" name="Text Box 14"/>
            <p:cNvSpPr txBox="1">
              <a:spLocks noChangeArrowheads="1"/>
            </p:cNvSpPr>
            <p:nvPr/>
          </p:nvSpPr>
          <p:spPr bwMode="auto">
            <a:xfrm>
              <a:off x="4694" y="2976"/>
              <a:ext cx="726" cy="294"/>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参考书</a:t>
              </a:r>
            </a:p>
          </p:txBody>
        </p:sp>
        <p:sp>
          <p:nvSpPr>
            <p:cNvPr id="54287" name="Line 15"/>
            <p:cNvSpPr>
              <a:spLocks noChangeShapeType="1"/>
            </p:cNvSpPr>
            <p:nvPr/>
          </p:nvSpPr>
          <p:spPr bwMode="auto">
            <a:xfrm>
              <a:off x="4755" y="2158"/>
              <a:ext cx="225" cy="81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8" name="Text Box 16"/>
            <p:cNvSpPr txBox="1">
              <a:spLocks noChangeArrowheads="1"/>
            </p:cNvSpPr>
            <p:nvPr/>
          </p:nvSpPr>
          <p:spPr bwMode="auto">
            <a:xfrm>
              <a:off x="4890" y="2477"/>
              <a:ext cx="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p>
          </p:txBody>
        </p:sp>
      </p:grpSp>
      <p:sp>
        <p:nvSpPr>
          <p:cNvPr id="74753" name="标题 1"/>
          <p:cNvSpPr>
            <a:spLocks noGrp="1"/>
          </p:cNvSpPr>
          <p:nvPr>
            <p:ph type="title"/>
          </p:nvPr>
        </p:nvSpPr>
        <p:spPr/>
        <p:txBody>
          <a:bodyPr vert="horz" wrap="square" lIns="91440" tIns="45720" rIns="91440" bIns="45720" anchor="b" anchorCtr="0"/>
          <a:lstStyle/>
          <a:p>
            <a:r>
              <a:rPr lang="zh-CN" altLang="en-US" sz="3600" dirty="0"/>
              <a:t>实体之间的联系</a:t>
            </a:r>
            <a:endParaRPr lang="zh-CN" altLang="en-US" dirty="0"/>
          </a:p>
        </p:txBody>
      </p:sp>
      <p:grpSp>
        <p:nvGrpSpPr>
          <p:cNvPr id="3" name="Group 17"/>
          <p:cNvGrpSpPr/>
          <p:nvPr/>
        </p:nvGrpSpPr>
        <p:grpSpPr bwMode="auto">
          <a:xfrm>
            <a:off x="4600575" y="2567623"/>
            <a:ext cx="2873375" cy="3284537"/>
            <a:chOff x="3610" y="1200"/>
            <a:chExt cx="1810" cy="2069"/>
          </a:xfrm>
        </p:grpSpPr>
        <p:sp>
          <p:nvSpPr>
            <p:cNvPr id="4" name="Text Box 6"/>
            <p:cNvSpPr txBox="1">
              <a:spLocks noChangeArrowheads="1"/>
            </p:cNvSpPr>
            <p:nvPr/>
          </p:nvSpPr>
          <p:spPr bwMode="auto">
            <a:xfrm>
              <a:off x="4115" y="1200"/>
              <a:ext cx="573" cy="290"/>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教室</a:t>
              </a:r>
            </a:p>
          </p:txBody>
        </p:sp>
        <p:sp>
          <p:nvSpPr>
            <p:cNvPr id="5" name="AutoShape 7"/>
            <p:cNvSpPr>
              <a:spLocks noChangeArrowheads="1"/>
            </p:cNvSpPr>
            <p:nvPr/>
          </p:nvSpPr>
          <p:spPr bwMode="auto">
            <a:xfrm>
              <a:off x="4081" y="1930"/>
              <a:ext cx="674" cy="456"/>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讲授</a:t>
              </a:r>
            </a:p>
          </p:txBody>
        </p:sp>
        <p:sp>
          <p:nvSpPr>
            <p:cNvPr id="6" name="Text Box 8"/>
            <p:cNvSpPr txBox="1">
              <a:spLocks noChangeArrowheads="1"/>
            </p:cNvSpPr>
            <p:nvPr/>
          </p:nvSpPr>
          <p:spPr bwMode="auto">
            <a:xfrm>
              <a:off x="3610" y="2979"/>
              <a:ext cx="710" cy="290"/>
            </a:xfrm>
            <a:prstGeom prst="rect">
              <a:avLst/>
            </a:prstGeom>
            <a:solidFill>
              <a:schemeClr val="accent1"/>
            </a:solidFill>
            <a:ln w="9525">
              <a:solidFill>
                <a:schemeClr val="tx1"/>
              </a:solidFill>
              <a:miter lim="800000"/>
            </a:ln>
          </p:spPr>
          <p:txBody>
            <a:bodyPr wrap="squar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教学班</a:t>
              </a:r>
            </a:p>
          </p:txBody>
        </p:sp>
        <p:sp>
          <p:nvSpPr>
            <p:cNvPr id="7" name="Line 9"/>
            <p:cNvSpPr>
              <a:spLocks noChangeShapeType="1"/>
            </p:cNvSpPr>
            <p:nvPr/>
          </p:nvSpPr>
          <p:spPr bwMode="auto">
            <a:xfrm flipV="1">
              <a:off x="4418" y="1474"/>
              <a:ext cx="0" cy="4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10"/>
            <p:cNvSpPr>
              <a:spLocks noChangeShapeType="1"/>
            </p:cNvSpPr>
            <p:nvPr/>
          </p:nvSpPr>
          <p:spPr bwMode="auto">
            <a:xfrm flipH="1">
              <a:off x="3992" y="2158"/>
              <a:ext cx="88" cy="82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Text Box 11"/>
            <p:cNvSpPr txBox="1">
              <a:spLocks noChangeArrowheads="1"/>
            </p:cNvSpPr>
            <p:nvPr/>
          </p:nvSpPr>
          <p:spPr bwMode="auto">
            <a:xfrm>
              <a:off x="4149" y="1611"/>
              <a:ext cx="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1</a:t>
              </a:r>
            </a:p>
          </p:txBody>
        </p:sp>
        <p:sp>
          <p:nvSpPr>
            <p:cNvPr id="10" name="Text Box 12"/>
            <p:cNvSpPr txBox="1">
              <a:spLocks noChangeArrowheads="1"/>
            </p:cNvSpPr>
            <p:nvPr/>
          </p:nvSpPr>
          <p:spPr bwMode="auto">
            <a:xfrm>
              <a:off x="3812" y="2477"/>
              <a:ext cx="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m</a:t>
              </a:r>
            </a:p>
          </p:txBody>
        </p:sp>
        <p:sp>
          <p:nvSpPr>
            <p:cNvPr id="11" name="Text Box 14"/>
            <p:cNvSpPr txBox="1">
              <a:spLocks noChangeArrowheads="1"/>
            </p:cNvSpPr>
            <p:nvPr/>
          </p:nvSpPr>
          <p:spPr bwMode="auto">
            <a:xfrm>
              <a:off x="4694" y="2976"/>
              <a:ext cx="726" cy="290"/>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时间片</a:t>
              </a:r>
            </a:p>
          </p:txBody>
        </p:sp>
        <p:sp>
          <p:nvSpPr>
            <p:cNvPr id="12" name="Line 15"/>
            <p:cNvSpPr>
              <a:spLocks noChangeShapeType="1"/>
            </p:cNvSpPr>
            <p:nvPr/>
          </p:nvSpPr>
          <p:spPr bwMode="auto">
            <a:xfrm>
              <a:off x="4755" y="2158"/>
              <a:ext cx="192" cy="81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16"/>
            <p:cNvSpPr txBox="1">
              <a:spLocks noChangeArrowheads="1"/>
            </p:cNvSpPr>
            <p:nvPr/>
          </p:nvSpPr>
          <p:spPr bwMode="auto">
            <a:xfrm>
              <a:off x="4890" y="2477"/>
              <a:ext cx="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p>
          </p:txBody>
        </p:sp>
      </p:grpSp>
      <p:sp>
        <p:nvSpPr>
          <p:cNvPr id="14" name="矩形 13"/>
          <p:cNvSpPr/>
          <p:nvPr/>
        </p:nvSpPr>
        <p:spPr>
          <a:xfrm>
            <a:off x="7896200" y="4851157"/>
            <a:ext cx="3816424" cy="954107"/>
          </a:xfrm>
          <a:prstGeom prst="rect">
            <a:avLst/>
          </a:prstGeom>
        </p:spPr>
        <p:txBody>
          <a:bodyPr wrap="square">
            <a:spAutoFit/>
          </a:bodyPr>
          <a:lstStyle/>
          <a:p>
            <a:r>
              <a:rPr lang="zh-CN" altLang="en-US" sz="2800" dirty="0">
                <a:sym typeface="+mn-ea"/>
              </a:rPr>
              <a:t>每一</a:t>
            </a:r>
            <a:r>
              <a:rPr lang="zh-CN" altLang="en-US" sz="2800" dirty="0" smtClean="0">
                <a:sym typeface="+mn-ea"/>
              </a:rPr>
              <a:t>个教学班</a:t>
            </a:r>
            <a:r>
              <a:rPr lang="en-US" altLang="zh-CN" sz="2800" dirty="0" smtClean="0">
                <a:sym typeface="+mn-ea"/>
              </a:rPr>
              <a:t>+</a:t>
            </a:r>
            <a:r>
              <a:rPr lang="zh-CN" altLang="en-US" sz="2800" dirty="0" smtClean="0">
                <a:sym typeface="+mn-ea"/>
              </a:rPr>
              <a:t>一个时间片只</a:t>
            </a:r>
            <a:r>
              <a:rPr lang="zh-CN" altLang="en-US" sz="2800" dirty="0">
                <a:sym typeface="+mn-ea"/>
              </a:rPr>
              <a:t>对应</a:t>
            </a:r>
            <a:r>
              <a:rPr lang="zh-CN" altLang="en-US" sz="2800" dirty="0" smtClean="0">
                <a:sym typeface="+mn-ea"/>
              </a:rPr>
              <a:t>一个教室。</a:t>
            </a:r>
            <a:endParaRPr lang="zh-CN" altLang="en-US" sz="2800" dirty="0"/>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down)">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p:cNvSpPr>
            <a:spLocks noGrp="1"/>
          </p:cNvSpPr>
          <p:nvPr>
            <p:ph type="title"/>
          </p:nvPr>
        </p:nvSpPr>
        <p:spPr/>
        <p:txBody>
          <a:bodyPr vert="horz" wrap="square" lIns="91440" tIns="45720" rIns="91440" bIns="45720" anchor="b" anchorCtr="0"/>
          <a:lstStyle/>
          <a:p>
            <a:r>
              <a:rPr lang="zh-CN" altLang="en-US" sz="3600" dirty="0"/>
              <a:t>实体之间的联系</a:t>
            </a:r>
            <a:endParaRPr lang="zh-CN" altLang="en-US" dirty="0"/>
          </a:p>
        </p:txBody>
      </p:sp>
      <p:sp>
        <p:nvSpPr>
          <p:cNvPr id="76802" name="内容占位符 2"/>
          <p:cNvSpPr>
            <a:spLocks noGrp="1"/>
          </p:cNvSpPr>
          <p:nvPr>
            <p:ph idx="1"/>
          </p:nvPr>
        </p:nvSpPr>
        <p:spPr/>
        <p:txBody>
          <a:bodyPr vert="horz" wrap="square" lIns="91440" tIns="45720" rIns="91440" bIns="45720" anchor="t" anchorCtr="0"/>
          <a:lstStyle/>
          <a:p>
            <a:r>
              <a:rPr lang="en-US" altLang="zh-CN" dirty="0"/>
              <a:t>3</a:t>
            </a:r>
            <a:r>
              <a:rPr lang="zh-CN" altLang="en-US" dirty="0"/>
              <a:t>）单个实体型内的联系 同一个实体集内的各实体之间也可以存在一对一、一对多、多对多的联系。 </a:t>
            </a:r>
            <a:endParaRPr lang="en-US" altLang="zh-CN" dirty="0"/>
          </a:p>
          <a:p>
            <a:r>
              <a:rPr lang="zh-CN" altLang="en-US" dirty="0"/>
              <a:t>例如，职工实体型内部具有领导与被领导的联系，即某一职工（干部）“领导”若干名职工，而一个职工仅被另外一个职工直接领导，因此这是一对多的联系。</a:t>
            </a:r>
          </a:p>
        </p:txBody>
      </p:sp>
      <p:grpSp>
        <p:nvGrpSpPr>
          <p:cNvPr id="7" name="Group 5"/>
          <p:cNvGrpSpPr/>
          <p:nvPr>
            <p:custDataLst>
              <p:tags r:id="rId1"/>
            </p:custDataLst>
          </p:nvPr>
        </p:nvGrpSpPr>
        <p:grpSpPr bwMode="auto">
          <a:xfrm>
            <a:off x="1950085" y="3716655"/>
            <a:ext cx="1524000" cy="1981200"/>
            <a:chOff x="4080" y="1152"/>
            <a:chExt cx="960" cy="1248"/>
          </a:xfrm>
        </p:grpSpPr>
        <p:sp>
          <p:nvSpPr>
            <p:cNvPr id="58426" name="Text Box 6"/>
            <p:cNvSpPr txBox="1">
              <a:spLocks noChangeArrowheads="1"/>
            </p:cNvSpPr>
            <p:nvPr>
              <p:custDataLst>
                <p:tags r:id="rId16"/>
              </p:custDataLst>
            </p:nvPr>
          </p:nvSpPr>
          <p:spPr bwMode="auto">
            <a:xfrm>
              <a:off x="4128" y="1152"/>
              <a:ext cx="816" cy="294"/>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职工</a:t>
              </a:r>
            </a:p>
          </p:txBody>
        </p:sp>
        <p:sp>
          <p:nvSpPr>
            <p:cNvPr id="58427" name="AutoShape 7"/>
            <p:cNvSpPr>
              <a:spLocks noChangeArrowheads="1"/>
            </p:cNvSpPr>
            <p:nvPr>
              <p:custDataLst>
                <p:tags r:id="rId17"/>
              </p:custDataLst>
            </p:nvPr>
          </p:nvSpPr>
          <p:spPr bwMode="auto">
            <a:xfrm>
              <a:off x="4080" y="1920"/>
              <a:ext cx="960" cy="480"/>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领导</a:t>
              </a:r>
            </a:p>
          </p:txBody>
        </p:sp>
        <p:sp>
          <p:nvSpPr>
            <p:cNvPr id="58428" name="Line 8"/>
            <p:cNvSpPr>
              <a:spLocks noChangeShapeType="1"/>
            </p:cNvSpPr>
            <p:nvPr>
              <p:custDataLst>
                <p:tags r:id="rId18"/>
              </p:custDataLst>
            </p:nvPr>
          </p:nvSpPr>
          <p:spPr bwMode="auto">
            <a:xfrm flipV="1">
              <a:off x="4368"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429" name="Line 9"/>
            <p:cNvSpPr>
              <a:spLocks noChangeShapeType="1"/>
            </p:cNvSpPr>
            <p:nvPr>
              <p:custDataLst>
                <p:tags r:id="rId19"/>
              </p:custDataLst>
            </p:nvPr>
          </p:nvSpPr>
          <p:spPr bwMode="auto">
            <a:xfrm>
              <a:off x="4704"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430" name="Text Box 10"/>
            <p:cNvSpPr txBox="1">
              <a:spLocks noChangeArrowheads="1"/>
            </p:cNvSpPr>
            <p:nvPr>
              <p:custDataLst>
                <p:tags r:id="rId20"/>
              </p:custDataLst>
            </p:nvPr>
          </p:nvSpPr>
          <p:spPr bwMode="auto">
            <a:xfrm>
              <a:off x="4080"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1</a:t>
              </a:r>
            </a:p>
          </p:txBody>
        </p:sp>
        <p:sp>
          <p:nvSpPr>
            <p:cNvPr id="58431" name="Text Box 11"/>
            <p:cNvSpPr txBox="1">
              <a:spLocks noChangeArrowheads="1"/>
            </p:cNvSpPr>
            <p:nvPr>
              <p:custDataLst>
                <p:tags r:id="rId21"/>
              </p:custDataLst>
            </p:nvPr>
          </p:nvSpPr>
          <p:spPr bwMode="auto">
            <a:xfrm>
              <a:off x="4752"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p>
          </p:txBody>
        </p:sp>
      </p:grpSp>
      <p:grpSp>
        <p:nvGrpSpPr>
          <p:cNvPr id="8" name="Group 5"/>
          <p:cNvGrpSpPr/>
          <p:nvPr>
            <p:custDataLst>
              <p:tags r:id="rId2"/>
            </p:custDataLst>
          </p:nvPr>
        </p:nvGrpSpPr>
        <p:grpSpPr bwMode="auto">
          <a:xfrm>
            <a:off x="5088255" y="3716655"/>
            <a:ext cx="1524000" cy="1981200"/>
            <a:chOff x="4080" y="1152"/>
            <a:chExt cx="960" cy="1248"/>
          </a:xfrm>
        </p:grpSpPr>
        <p:sp>
          <p:nvSpPr>
            <p:cNvPr id="9" name="Text Box 6"/>
            <p:cNvSpPr txBox="1">
              <a:spLocks noChangeArrowheads="1"/>
            </p:cNvSpPr>
            <p:nvPr>
              <p:custDataLst>
                <p:tags r:id="rId10"/>
              </p:custDataLst>
            </p:nvPr>
          </p:nvSpPr>
          <p:spPr bwMode="auto">
            <a:xfrm>
              <a:off x="4128" y="1152"/>
              <a:ext cx="816" cy="290"/>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课程</a:t>
              </a:r>
            </a:p>
          </p:txBody>
        </p:sp>
        <p:sp>
          <p:nvSpPr>
            <p:cNvPr id="10" name="AutoShape 7"/>
            <p:cNvSpPr>
              <a:spLocks noChangeArrowheads="1"/>
            </p:cNvSpPr>
            <p:nvPr>
              <p:custDataLst>
                <p:tags r:id="rId11"/>
              </p:custDataLst>
            </p:nvPr>
          </p:nvSpPr>
          <p:spPr bwMode="auto">
            <a:xfrm>
              <a:off x="4080" y="1920"/>
              <a:ext cx="960" cy="480"/>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先修</a:t>
              </a:r>
            </a:p>
          </p:txBody>
        </p:sp>
        <p:sp>
          <p:nvSpPr>
            <p:cNvPr id="11" name="Line 8"/>
            <p:cNvSpPr>
              <a:spLocks noChangeShapeType="1"/>
            </p:cNvSpPr>
            <p:nvPr>
              <p:custDataLst>
                <p:tags r:id="rId12"/>
              </p:custDataLst>
            </p:nvPr>
          </p:nvSpPr>
          <p:spPr bwMode="auto">
            <a:xfrm flipV="1">
              <a:off x="4368"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9"/>
            <p:cNvSpPr>
              <a:spLocks noChangeShapeType="1"/>
            </p:cNvSpPr>
            <p:nvPr>
              <p:custDataLst>
                <p:tags r:id="rId13"/>
              </p:custDataLst>
            </p:nvPr>
          </p:nvSpPr>
          <p:spPr bwMode="auto">
            <a:xfrm>
              <a:off x="4704"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10"/>
            <p:cNvSpPr txBox="1">
              <a:spLocks noChangeArrowheads="1"/>
            </p:cNvSpPr>
            <p:nvPr>
              <p:custDataLst>
                <p:tags r:id="rId14"/>
              </p:custDataLst>
            </p:nvPr>
          </p:nvSpPr>
          <p:spPr bwMode="auto">
            <a:xfrm>
              <a:off x="4080"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1</a:t>
              </a:r>
            </a:p>
          </p:txBody>
        </p:sp>
        <p:sp>
          <p:nvSpPr>
            <p:cNvPr id="14" name="Text Box 11"/>
            <p:cNvSpPr txBox="1">
              <a:spLocks noChangeArrowheads="1"/>
            </p:cNvSpPr>
            <p:nvPr>
              <p:custDataLst>
                <p:tags r:id="rId15"/>
              </p:custDataLst>
            </p:nvPr>
          </p:nvSpPr>
          <p:spPr bwMode="auto">
            <a:xfrm>
              <a:off x="4752"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p>
          </p:txBody>
        </p:sp>
      </p:grpSp>
      <p:grpSp>
        <p:nvGrpSpPr>
          <p:cNvPr id="15" name="Group 5"/>
          <p:cNvGrpSpPr/>
          <p:nvPr>
            <p:custDataLst>
              <p:tags r:id="rId3"/>
            </p:custDataLst>
          </p:nvPr>
        </p:nvGrpSpPr>
        <p:grpSpPr bwMode="auto">
          <a:xfrm>
            <a:off x="8040370" y="3640455"/>
            <a:ext cx="1524000" cy="1981200"/>
            <a:chOff x="4080" y="1152"/>
            <a:chExt cx="960" cy="1248"/>
          </a:xfrm>
        </p:grpSpPr>
        <p:sp>
          <p:nvSpPr>
            <p:cNvPr id="16" name="Text Box 6"/>
            <p:cNvSpPr txBox="1">
              <a:spLocks noChangeArrowheads="1"/>
            </p:cNvSpPr>
            <p:nvPr>
              <p:custDataLst>
                <p:tags r:id="rId4"/>
              </p:custDataLst>
            </p:nvPr>
          </p:nvSpPr>
          <p:spPr bwMode="auto">
            <a:xfrm>
              <a:off x="4128" y="1152"/>
              <a:ext cx="816" cy="290"/>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课程</a:t>
              </a:r>
            </a:p>
          </p:txBody>
        </p:sp>
        <p:sp>
          <p:nvSpPr>
            <p:cNvPr id="17" name="AutoShape 7"/>
            <p:cNvSpPr>
              <a:spLocks noChangeArrowheads="1"/>
            </p:cNvSpPr>
            <p:nvPr>
              <p:custDataLst>
                <p:tags r:id="rId5"/>
              </p:custDataLst>
            </p:nvPr>
          </p:nvSpPr>
          <p:spPr bwMode="auto">
            <a:xfrm>
              <a:off x="4080" y="1920"/>
              <a:ext cx="960" cy="480"/>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先修</a:t>
              </a:r>
            </a:p>
          </p:txBody>
        </p:sp>
        <p:sp>
          <p:nvSpPr>
            <p:cNvPr id="18" name="Line 8"/>
            <p:cNvSpPr>
              <a:spLocks noChangeShapeType="1"/>
            </p:cNvSpPr>
            <p:nvPr>
              <p:custDataLst>
                <p:tags r:id="rId6"/>
              </p:custDataLst>
            </p:nvPr>
          </p:nvSpPr>
          <p:spPr bwMode="auto">
            <a:xfrm flipV="1">
              <a:off x="4368"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9"/>
            <p:cNvSpPr>
              <a:spLocks noChangeShapeType="1"/>
            </p:cNvSpPr>
            <p:nvPr>
              <p:custDataLst>
                <p:tags r:id="rId7"/>
              </p:custDataLst>
            </p:nvPr>
          </p:nvSpPr>
          <p:spPr bwMode="auto">
            <a:xfrm>
              <a:off x="4704"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Text Box 10"/>
            <p:cNvSpPr txBox="1">
              <a:spLocks noChangeArrowheads="1"/>
            </p:cNvSpPr>
            <p:nvPr>
              <p:custDataLst>
                <p:tags r:id="rId8"/>
              </p:custDataLst>
            </p:nvPr>
          </p:nvSpPr>
          <p:spPr bwMode="auto">
            <a:xfrm>
              <a:off x="4080" y="1584"/>
              <a:ext cx="24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m</a:t>
              </a:r>
            </a:p>
          </p:txBody>
        </p:sp>
        <p:sp>
          <p:nvSpPr>
            <p:cNvPr id="21" name="Text Box 11"/>
            <p:cNvSpPr txBox="1">
              <a:spLocks noChangeArrowheads="1"/>
            </p:cNvSpPr>
            <p:nvPr>
              <p:custDataLst>
                <p:tags r:id="rId9"/>
              </p:custDataLst>
            </p:nvPr>
          </p:nvSpPr>
          <p:spPr bwMode="auto">
            <a:xfrm>
              <a:off x="4752"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ppt_w*0.05"/>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anim calcmode="lin" valueType="num">
                                      <p:cBhvr>
                                        <p:cTn id="9" dur="500" fill="hold"/>
                                        <p:tgtEl>
                                          <p:spTgt spid="7"/>
                                        </p:tgtEl>
                                        <p:attrNameLst>
                                          <p:attrName>ppt_x</p:attrName>
                                        </p:attrNameLst>
                                      </p:cBhvr>
                                      <p:tavLst>
                                        <p:tav tm="0">
                                          <p:val>
                                            <p:strVal val="#ppt_x-.2"/>
                                          </p:val>
                                        </p:tav>
                                        <p:tav tm="100000">
                                          <p:val>
                                            <p:strVal val="#ppt_x"/>
                                          </p:val>
                                        </p:tav>
                                      </p:tavLst>
                                    </p:anim>
                                    <p:anim calcmode="lin" valueType="num">
                                      <p:cBhvr>
                                        <p:cTn id="10" dur="500" fill="hold"/>
                                        <p:tgtEl>
                                          <p:spTgt spid="7"/>
                                        </p:tgtEl>
                                        <p:attrNameLst>
                                          <p:attrName>ppt_y</p:attrName>
                                        </p:attrNameLst>
                                      </p:cBhvr>
                                      <p:tavLst>
                                        <p:tav tm="0">
                                          <p:val>
                                            <p:strVal val="#ppt_y"/>
                                          </p:val>
                                        </p:tav>
                                        <p:tav tm="100000">
                                          <p:val>
                                            <p:strVal val="#ppt_y"/>
                                          </p:val>
                                        </p:tav>
                                      </p:tavLst>
                                    </p:anim>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54" presetClass="entr" presetSubtype="0" accel="10000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500" fill="hold"/>
                                        <p:tgtEl>
                                          <p:spTgt spid="8"/>
                                        </p:tgtEl>
                                        <p:attrNameLst>
                                          <p:attrName>ppt_w</p:attrName>
                                        </p:attrNameLst>
                                      </p:cBhvr>
                                      <p:tavLst>
                                        <p:tav tm="0">
                                          <p:val>
                                            <p:strVal val="#ppt_w*0.05"/>
                                          </p:val>
                                        </p:tav>
                                        <p:tav tm="100000">
                                          <p:val>
                                            <p:strVal val="#ppt_w"/>
                                          </p:val>
                                        </p:tav>
                                      </p:tavLst>
                                    </p:anim>
                                    <p:anim calcmode="lin" valueType="num">
                                      <p:cBhvr>
                                        <p:cTn id="17" dur="500" fill="hold"/>
                                        <p:tgtEl>
                                          <p:spTgt spid="8"/>
                                        </p:tgtEl>
                                        <p:attrNameLst>
                                          <p:attrName>ppt_h</p:attrName>
                                        </p:attrNameLst>
                                      </p:cBhvr>
                                      <p:tavLst>
                                        <p:tav tm="0">
                                          <p:val>
                                            <p:strVal val="#ppt_h"/>
                                          </p:val>
                                        </p:tav>
                                        <p:tav tm="100000">
                                          <p:val>
                                            <p:strVal val="#ppt_h"/>
                                          </p:val>
                                        </p:tav>
                                      </p:tavLst>
                                    </p:anim>
                                    <p:anim calcmode="lin" valueType="num">
                                      <p:cBhvr>
                                        <p:cTn id="18" dur="500" fill="hold"/>
                                        <p:tgtEl>
                                          <p:spTgt spid="8"/>
                                        </p:tgtEl>
                                        <p:attrNameLst>
                                          <p:attrName>ppt_x</p:attrName>
                                        </p:attrNameLst>
                                      </p:cBhvr>
                                      <p:tavLst>
                                        <p:tav tm="0">
                                          <p:val>
                                            <p:strVal val="#ppt_x-.2"/>
                                          </p:val>
                                        </p:tav>
                                        <p:tav tm="100000">
                                          <p:val>
                                            <p:strVal val="#ppt_x"/>
                                          </p:val>
                                        </p:tav>
                                      </p:tavLst>
                                    </p:anim>
                                    <p:anim calcmode="lin" valueType="num">
                                      <p:cBhvr>
                                        <p:cTn id="19" dur="500" fill="hold"/>
                                        <p:tgtEl>
                                          <p:spTgt spid="8"/>
                                        </p:tgtEl>
                                        <p:attrNameLst>
                                          <p:attrName>ppt_y</p:attrName>
                                        </p:attrNameLst>
                                      </p:cBhvr>
                                      <p:tavLst>
                                        <p:tav tm="0">
                                          <p:val>
                                            <p:strVal val="#ppt_y"/>
                                          </p:val>
                                        </p:tav>
                                        <p:tav tm="100000">
                                          <p:val>
                                            <p:strVal val="#ppt_y"/>
                                          </p:val>
                                        </p:tav>
                                      </p:tavLst>
                                    </p:anim>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54" presetClass="entr" presetSubtype="0" accel="10000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strVal val="#ppt_w*0.05"/>
                                          </p:val>
                                        </p:tav>
                                        <p:tav tm="100000">
                                          <p:val>
                                            <p:strVal val="#ppt_w"/>
                                          </p:val>
                                        </p:tav>
                                      </p:tavLst>
                                    </p:anim>
                                    <p:anim calcmode="lin" valueType="num">
                                      <p:cBhvr>
                                        <p:cTn id="26" dur="500" fill="hold"/>
                                        <p:tgtEl>
                                          <p:spTgt spid="15"/>
                                        </p:tgtEl>
                                        <p:attrNameLst>
                                          <p:attrName>ppt_h</p:attrName>
                                        </p:attrNameLst>
                                      </p:cBhvr>
                                      <p:tavLst>
                                        <p:tav tm="0">
                                          <p:val>
                                            <p:strVal val="#ppt_h"/>
                                          </p:val>
                                        </p:tav>
                                        <p:tav tm="100000">
                                          <p:val>
                                            <p:strVal val="#ppt_h"/>
                                          </p:val>
                                        </p:tav>
                                      </p:tavLst>
                                    </p:anim>
                                    <p:anim calcmode="lin" valueType="num">
                                      <p:cBhvr>
                                        <p:cTn id="27" dur="500" fill="hold"/>
                                        <p:tgtEl>
                                          <p:spTgt spid="15"/>
                                        </p:tgtEl>
                                        <p:attrNameLst>
                                          <p:attrName>ppt_x</p:attrName>
                                        </p:attrNameLst>
                                      </p:cBhvr>
                                      <p:tavLst>
                                        <p:tav tm="0">
                                          <p:val>
                                            <p:strVal val="#ppt_x-.2"/>
                                          </p:val>
                                        </p:tav>
                                        <p:tav tm="100000">
                                          <p:val>
                                            <p:strVal val="#ppt_x"/>
                                          </p:val>
                                        </p:tav>
                                      </p:tavLst>
                                    </p:anim>
                                    <p:anim calcmode="lin" valueType="num">
                                      <p:cBhvr>
                                        <p:cTn id="28" dur="500" fill="hold"/>
                                        <p:tgtEl>
                                          <p:spTgt spid="15"/>
                                        </p:tgtEl>
                                        <p:attrNameLst>
                                          <p:attrName>ppt_y</p:attrName>
                                        </p:attrNameLst>
                                      </p:cBhvr>
                                      <p:tavLst>
                                        <p:tav tm="0">
                                          <p:val>
                                            <p:strVal val="#ppt_y"/>
                                          </p:val>
                                        </p:tav>
                                        <p:tav tm="100000">
                                          <p:val>
                                            <p:strVal val="#ppt_y"/>
                                          </p:val>
                                        </p:tav>
                                      </p:tavLst>
                                    </p:anim>
                                    <p:animEffect transition="in" filter="fade">
                                      <p:cBhvr>
                                        <p:cTn id="2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p:cNvSpPr>
          <p:nvPr>
            <p:ph type="title"/>
          </p:nvPr>
        </p:nvSpPr>
        <p:spPr/>
        <p:txBody>
          <a:bodyPr vert="horz" wrap="square" lIns="91440" tIns="45720" rIns="91440" bIns="45720" anchor="b" anchorCtr="0"/>
          <a:lstStyle/>
          <a:p>
            <a:r>
              <a:rPr lang="zh-CN" altLang="en-US" dirty="0"/>
              <a:t>一个实例</a:t>
            </a:r>
          </a:p>
        </p:txBody>
      </p:sp>
      <p:pic>
        <p:nvPicPr>
          <p:cNvPr id="51204" name="Picture 4" descr="实例2"/>
          <p:cNvPicPr>
            <a:picLocks noChangeAspect="1"/>
          </p:cNvPicPr>
          <p:nvPr/>
        </p:nvPicPr>
        <p:blipFill>
          <a:blip r:embed="rId2"/>
          <a:srcRect b="6998"/>
          <a:stretch>
            <a:fillRect/>
          </a:stretch>
        </p:blipFill>
        <p:spPr>
          <a:xfrm>
            <a:off x="1543050" y="1124585"/>
            <a:ext cx="8599805" cy="5090160"/>
          </a:xfrm>
          <a:prstGeom prst="rect">
            <a:avLst/>
          </a:prstGeom>
          <a:noFill/>
          <a:ln w="9525">
            <a:noFill/>
          </a:ln>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blinds(horizontal)">
                                      <p:cBhvr>
                                        <p:cTn id="7" dur="500"/>
                                        <p:tgtEl>
                                          <p:spTgt spid="5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820199" y="368388"/>
            <a:ext cx="7722235" cy="6062980"/>
          </a:xfrm>
          <a:prstGeom prst="rect">
            <a:avLst/>
          </a:prstGeom>
        </p:spPr>
      </p:pic>
      <p:sp>
        <p:nvSpPr>
          <p:cNvPr id="3" name="标题 1"/>
          <p:cNvSpPr>
            <a:spLocks noGrp="1"/>
          </p:cNvSpPr>
          <p:nvPr>
            <p:ph type="title"/>
          </p:nvPr>
        </p:nvSpPr>
        <p:spPr>
          <a:xfrm>
            <a:off x="762000" y="214313"/>
            <a:ext cx="10668000" cy="735012"/>
          </a:xfrm>
        </p:spPr>
        <p:txBody>
          <a:bodyPr vert="horz" wrap="square" lIns="91440" tIns="45720" rIns="91440" bIns="45720" anchor="b" anchorCtr="0"/>
          <a:lstStyle/>
          <a:p>
            <a:r>
              <a:rPr lang="zh-CN" altLang="en-US" dirty="0" smtClean="0"/>
              <a:t>学籍管理系统实例</a:t>
            </a:r>
            <a:endParaRPr lang="zh-CN" altLang="en-US" dirty="0"/>
          </a:p>
        </p:txBody>
      </p:sp>
    </p:spTree>
  </p:cSld>
  <p:clrMapOvr>
    <a:masterClrMapping/>
  </p:clrMapOvr>
  <p:transition advClick="0"/>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1"/>
          <p:cNvSpPr>
            <a:spLocks noGrp="1"/>
          </p:cNvSpPr>
          <p:nvPr>
            <p:ph type="title"/>
          </p:nvPr>
        </p:nvSpPr>
        <p:spPr/>
        <p:txBody>
          <a:bodyPr vert="horz" wrap="square" lIns="91440" tIns="45720" rIns="91440" bIns="45720" anchor="b" anchorCtr="0"/>
          <a:lstStyle/>
          <a:p>
            <a:r>
              <a:rPr lang="en-US" altLang="zh-CN" dirty="0"/>
              <a:t>7.3 </a:t>
            </a:r>
            <a:r>
              <a:rPr lang="zh-CN" altLang="en-US" dirty="0"/>
              <a:t>概念结构设计</a:t>
            </a:r>
          </a:p>
        </p:txBody>
      </p:sp>
      <p:sp>
        <p:nvSpPr>
          <p:cNvPr id="78850" name="内容占位符 2"/>
          <p:cNvSpPr>
            <a:spLocks noGrp="1"/>
          </p:cNvSpPr>
          <p:nvPr>
            <p:ph idx="1"/>
          </p:nvPr>
        </p:nvSpPr>
        <p:spPr/>
        <p:txBody>
          <a:bodyPr vert="horz" wrap="square" lIns="91440" tIns="45720" rIns="91440" bIns="45720" anchor="t" anchorCtr="0"/>
          <a:lstStyle/>
          <a:p>
            <a:r>
              <a:rPr lang="en-US" altLang="zh-CN" dirty="0"/>
              <a:t>7.3.1 </a:t>
            </a:r>
            <a:r>
              <a:rPr lang="zh-CN" altLang="en-US" dirty="0"/>
              <a:t>概念结构</a:t>
            </a:r>
            <a:endParaRPr lang="en-US" altLang="zh-CN" dirty="0"/>
          </a:p>
          <a:p>
            <a:r>
              <a:rPr lang="en-US" altLang="zh-CN" dirty="0"/>
              <a:t>7.3.2 E-R</a:t>
            </a:r>
            <a:r>
              <a:rPr lang="zh-CN" altLang="en-US" dirty="0"/>
              <a:t>模型</a:t>
            </a:r>
            <a:endParaRPr lang="en-US" altLang="zh-CN" dirty="0"/>
          </a:p>
          <a:p>
            <a:r>
              <a:rPr lang="zh-CN" altLang="en-US" dirty="0"/>
              <a:t>*</a:t>
            </a:r>
            <a:r>
              <a:rPr lang="en-US" altLang="zh-CN" dirty="0"/>
              <a:t>7.3.3 </a:t>
            </a:r>
            <a:r>
              <a:rPr lang="zh-CN" altLang="en-US" dirty="0"/>
              <a:t>扩展的</a:t>
            </a:r>
            <a:r>
              <a:rPr lang="en-US" altLang="zh-CN" dirty="0"/>
              <a:t>E-R</a:t>
            </a:r>
            <a:r>
              <a:rPr lang="zh-CN" altLang="en-US" dirty="0"/>
              <a:t>模型</a:t>
            </a:r>
            <a:endParaRPr lang="en-US" altLang="zh-CN" dirty="0"/>
          </a:p>
          <a:p>
            <a:r>
              <a:rPr lang="zh-CN" altLang="en-US" dirty="0"/>
              <a:t>*</a:t>
            </a:r>
            <a:r>
              <a:rPr lang="en-US" altLang="zh-CN" dirty="0"/>
              <a:t>7.3.4 UML</a:t>
            </a:r>
          </a:p>
          <a:p>
            <a:r>
              <a:rPr lang="en-US" altLang="zh-CN" b="1" dirty="0">
                <a:solidFill>
                  <a:srgbClr val="FF0000"/>
                </a:solidFill>
              </a:rPr>
              <a:t>7.3.5 </a:t>
            </a:r>
            <a:r>
              <a:rPr lang="zh-CN" altLang="en-US" b="1" dirty="0">
                <a:solidFill>
                  <a:srgbClr val="FF0000"/>
                </a:solidFill>
              </a:rPr>
              <a:t>概念结构设计</a:t>
            </a:r>
          </a:p>
        </p:txBody>
      </p:sp>
    </p:spTree>
  </p:cSld>
  <p:clrMapOvr>
    <a:masterClrMapping/>
  </p:clrMapOvr>
  <p:transition advClick="0"/>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
          <p:cNvSpPr>
            <a:spLocks noGrp="1"/>
          </p:cNvSpPr>
          <p:nvPr>
            <p:ph type="title"/>
          </p:nvPr>
        </p:nvSpPr>
        <p:spPr/>
        <p:txBody>
          <a:bodyPr vert="horz" wrap="square" lIns="91440" tIns="45720" rIns="91440" bIns="45720" anchor="b" anchorCtr="0"/>
          <a:lstStyle/>
          <a:p>
            <a:r>
              <a:rPr lang="en-US" altLang="zh-CN" dirty="0"/>
              <a:t>1. </a:t>
            </a:r>
            <a:r>
              <a:rPr lang="zh-CN" altLang="en-US" dirty="0"/>
              <a:t>实体与属性的划分原则 </a:t>
            </a:r>
          </a:p>
        </p:txBody>
      </p:sp>
      <p:sp>
        <p:nvSpPr>
          <p:cNvPr id="79874" name="内容占位符 2"/>
          <p:cNvSpPr>
            <a:spLocks noGrp="1"/>
          </p:cNvSpPr>
          <p:nvPr>
            <p:ph idx="1"/>
          </p:nvPr>
        </p:nvSpPr>
        <p:spPr/>
        <p:txBody>
          <a:bodyPr vert="horz" wrap="square" lIns="91440" tIns="45720" rIns="91440" bIns="45720" anchor="t" anchorCtr="0"/>
          <a:lstStyle/>
          <a:p>
            <a:r>
              <a:rPr lang="zh-CN" altLang="en-US" dirty="0"/>
              <a:t>为了简化</a:t>
            </a:r>
            <a:r>
              <a:rPr lang="en-US" altLang="zh-CN" dirty="0"/>
              <a:t>E-R</a:t>
            </a:r>
            <a:r>
              <a:rPr lang="zh-CN" altLang="en-US" dirty="0"/>
              <a:t>图的处置，现实世界的事物能作为属性对待的，尽量作为属性对待。 </a:t>
            </a:r>
            <a:endParaRPr lang="en-US" altLang="zh-CN" dirty="0"/>
          </a:p>
          <a:p>
            <a:r>
              <a:rPr lang="zh-CN" altLang="en-US" dirty="0">
                <a:solidFill>
                  <a:srgbClr val="FF0000"/>
                </a:solidFill>
              </a:rPr>
              <a:t>两条准则：</a:t>
            </a:r>
            <a:endParaRPr lang="en-US" altLang="zh-CN" dirty="0">
              <a:solidFill>
                <a:srgbClr val="FF0000"/>
              </a:solidFill>
            </a:endParaRPr>
          </a:p>
          <a:p>
            <a:r>
              <a:rPr lang="zh-CN" altLang="en-US" dirty="0"/>
              <a:t>（</a:t>
            </a:r>
            <a:r>
              <a:rPr lang="en-US" altLang="zh-CN" dirty="0"/>
              <a:t>1</a:t>
            </a:r>
            <a:r>
              <a:rPr lang="zh-CN" altLang="en-US" dirty="0"/>
              <a:t>）作为属性，不能再具有需要描述的性质。属性必须是不可分的数据项，不能包含其他属性。</a:t>
            </a:r>
            <a:endParaRPr lang="en-US" altLang="zh-CN" dirty="0"/>
          </a:p>
          <a:p>
            <a:r>
              <a:rPr lang="zh-CN" altLang="en-US" dirty="0"/>
              <a:t>（</a:t>
            </a:r>
            <a:r>
              <a:rPr lang="en-US" altLang="zh-CN" dirty="0"/>
              <a:t>2</a:t>
            </a:r>
            <a:r>
              <a:rPr lang="zh-CN" altLang="en-US" dirty="0"/>
              <a:t>）属性不能与其他实体具有联系，即</a:t>
            </a:r>
            <a:r>
              <a:rPr lang="en-US" altLang="zh-CN" dirty="0"/>
              <a:t>E-R</a:t>
            </a:r>
            <a:r>
              <a:rPr lang="zh-CN" altLang="en-US" dirty="0"/>
              <a:t>图中所表示的联系是实体之间的联系。</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9874">
                                            <p:txEl>
                                              <p:pRg st="0" end="0"/>
                                            </p:txEl>
                                          </p:spTgt>
                                        </p:tgtEl>
                                        <p:attrNameLst>
                                          <p:attrName>style.visibility</p:attrName>
                                        </p:attrNameLst>
                                      </p:cBhvr>
                                      <p:to>
                                        <p:strVal val="visible"/>
                                      </p:to>
                                    </p:set>
                                    <p:animEffect transition="in" filter="wipe(down)">
                                      <p:cBhvr>
                                        <p:cTn id="7" dur="500"/>
                                        <p:tgtEl>
                                          <p:spTgt spid="798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9874">
                                            <p:txEl>
                                              <p:pRg st="1" end="1"/>
                                            </p:txEl>
                                          </p:spTgt>
                                        </p:tgtEl>
                                        <p:attrNameLst>
                                          <p:attrName>style.visibility</p:attrName>
                                        </p:attrNameLst>
                                      </p:cBhvr>
                                      <p:to>
                                        <p:strVal val="visible"/>
                                      </p:to>
                                    </p:set>
                                    <p:animEffect transition="in" filter="wipe(down)">
                                      <p:cBhvr>
                                        <p:cTn id="12" dur="500"/>
                                        <p:tgtEl>
                                          <p:spTgt spid="798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9874">
                                            <p:txEl>
                                              <p:pRg st="2" end="2"/>
                                            </p:txEl>
                                          </p:spTgt>
                                        </p:tgtEl>
                                        <p:attrNameLst>
                                          <p:attrName>style.visibility</p:attrName>
                                        </p:attrNameLst>
                                      </p:cBhvr>
                                      <p:to>
                                        <p:strVal val="visible"/>
                                      </p:to>
                                    </p:set>
                                    <p:animEffect transition="in" filter="wipe(down)">
                                      <p:cBhvr>
                                        <p:cTn id="17" dur="500"/>
                                        <p:tgtEl>
                                          <p:spTgt spid="7987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9874">
                                            <p:txEl>
                                              <p:pRg st="3" end="3"/>
                                            </p:txEl>
                                          </p:spTgt>
                                        </p:tgtEl>
                                        <p:attrNameLst>
                                          <p:attrName>style.visibility</p:attrName>
                                        </p:attrNameLst>
                                      </p:cBhvr>
                                      <p:to>
                                        <p:strVal val="visible"/>
                                      </p:to>
                                    </p:set>
                                    <p:animEffect transition="in" filter="wipe(down)">
                                      <p:cBhvr>
                                        <p:cTn id="22" dur="500"/>
                                        <p:tgtEl>
                                          <p:spTgt spid="7987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内容占位符 2"/>
          <p:cNvSpPr>
            <a:spLocks noGrp="1"/>
          </p:cNvSpPr>
          <p:nvPr>
            <p:ph idx="1"/>
          </p:nvPr>
        </p:nvSpPr>
        <p:spPr>
          <a:xfrm>
            <a:off x="543560" y="1146175"/>
            <a:ext cx="11267440" cy="2714625"/>
          </a:xfrm>
        </p:spPr>
        <p:txBody>
          <a:bodyPr vert="horz" wrap="square" lIns="91440" tIns="45720" rIns="91440" bIns="45720" anchor="t" anchorCtr="0"/>
          <a:lstStyle/>
          <a:p>
            <a:r>
              <a:rPr lang="en-US" altLang="zh-CN" sz="2400" dirty="0"/>
              <a:t>[</a:t>
            </a:r>
            <a:r>
              <a:rPr lang="zh-CN" altLang="en-US" sz="2400" dirty="0"/>
              <a:t>例</a:t>
            </a:r>
            <a:r>
              <a:rPr lang="en-US" altLang="zh-CN" sz="2400" dirty="0"/>
              <a:t>1] </a:t>
            </a:r>
            <a:r>
              <a:rPr lang="zh-CN" altLang="en-US" sz="2400" dirty="0"/>
              <a:t>教师是一个实体，职工号、姓名、出生日期是职工的属性。  </a:t>
            </a:r>
            <a:endParaRPr lang="en-US" altLang="zh-CN" sz="2400" dirty="0"/>
          </a:p>
          <a:p>
            <a:pPr lvl="1" indent="-436245"/>
            <a:r>
              <a:rPr lang="zh-CN" altLang="en-US" sz="2400" b="1" dirty="0">
                <a:solidFill>
                  <a:srgbClr val="0000FF"/>
                </a:solidFill>
              </a:rPr>
              <a:t>职称</a:t>
            </a:r>
            <a:r>
              <a:rPr lang="zh-CN" altLang="en-US" sz="2400" dirty="0"/>
              <a:t>如果没有与工资、福利挂钩，没有进一步描述的必要，根据准则（</a:t>
            </a:r>
            <a:r>
              <a:rPr lang="en-US" altLang="zh-CN" sz="2400" dirty="0"/>
              <a:t>1</a:t>
            </a:r>
            <a:r>
              <a:rPr lang="zh-CN" altLang="en-US" sz="2400" dirty="0"/>
              <a:t>）可以作为职工实体的属性  </a:t>
            </a:r>
            <a:endParaRPr lang="en-US" altLang="zh-CN" sz="2400" dirty="0"/>
          </a:p>
          <a:p>
            <a:pPr lvl="1" indent="-436245"/>
            <a:r>
              <a:rPr lang="zh-CN" altLang="en-US" sz="2400" dirty="0"/>
              <a:t>如果不同的职称有不同的工资、住房标准和不同的附加福利，则职称作为一个实体更恰当</a:t>
            </a:r>
          </a:p>
        </p:txBody>
      </p:sp>
      <p:sp>
        <p:nvSpPr>
          <p:cNvPr id="80899" name="标题 1"/>
          <p:cNvSpPr>
            <a:spLocks noGrp="1"/>
          </p:cNvSpPr>
          <p:nvPr>
            <p:ph type="title"/>
          </p:nvPr>
        </p:nvSpPr>
        <p:spPr/>
        <p:txBody>
          <a:bodyPr vert="horz" wrap="square" lIns="91440" tIns="45720" rIns="91440" bIns="45720" anchor="b" anchorCtr="0"/>
          <a:lstStyle/>
          <a:p>
            <a:r>
              <a:rPr lang="en-US" altLang="zh-CN" dirty="0"/>
              <a:t>1. </a:t>
            </a:r>
            <a:r>
              <a:rPr lang="zh-CN" altLang="en-US" dirty="0"/>
              <a:t>实体与属性的划分原则 </a:t>
            </a:r>
          </a:p>
        </p:txBody>
      </p:sp>
      <p:pic>
        <p:nvPicPr>
          <p:cNvPr id="9" name="图片 8"/>
          <p:cNvPicPr>
            <a:picLocks noChangeAspect="1"/>
          </p:cNvPicPr>
          <p:nvPr/>
        </p:nvPicPr>
        <p:blipFill>
          <a:blip r:embed="rId2"/>
          <a:stretch>
            <a:fillRect/>
          </a:stretch>
        </p:blipFill>
        <p:spPr>
          <a:xfrm>
            <a:off x="3647440" y="2780665"/>
            <a:ext cx="6928485" cy="3496945"/>
          </a:xfrm>
          <a:prstGeom prst="rect">
            <a:avLst/>
          </a:prstGeom>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0897">
                                            <p:txEl>
                                              <p:pRg st="0" end="0"/>
                                            </p:txEl>
                                          </p:spTgt>
                                        </p:tgtEl>
                                        <p:attrNameLst>
                                          <p:attrName>style.visibility</p:attrName>
                                        </p:attrNameLst>
                                      </p:cBhvr>
                                      <p:to>
                                        <p:strVal val="visible"/>
                                      </p:to>
                                    </p:set>
                                    <p:animEffect transition="in" filter="wipe(down)">
                                      <p:cBhvr>
                                        <p:cTn id="7" dur="500"/>
                                        <p:tgtEl>
                                          <p:spTgt spid="808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0897">
                                            <p:txEl>
                                              <p:pRg st="1" end="1"/>
                                            </p:txEl>
                                          </p:spTgt>
                                        </p:tgtEl>
                                        <p:attrNameLst>
                                          <p:attrName>style.visibility</p:attrName>
                                        </p:attrNameLst>
                                      </p:cBhvr>
                                      <p:to>
                                        <p:strVal val="visible"/>
                                      </p:to>
                                    </p:set>
                                    <p:animEffect transition="in" filter="wipe(down)">
                                      <p:cBhvr>
                                        <p:cTn id="12" dur="500"/>
                                        <p:tgtEl>
                                          <p:spTgt spid="8089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0897">
                                            <p:txEl>
                                              <p:pRg st="2" end="2"/>
                                            </p:txEl>
                                          </p:spTgt>
                                        </p:tgtEl>
                                        <p:attrNameLst>
                                          <p:attrName>style.visibility</p:attrName>
                                        </p:attrNameLst>
                                      </p:cBhvr>
                                      <p:to>
                                        <p:strVal val="visible"/>
                                      </p:to>
                                    </p:set>
                                    <p:animEffect transition="in" filter="wipe(down)">
                                      <p:cBhvr>
                                        <p:cTn id="17" dur="500"/>
                                        <p:tgtEl>
                                          <p:spTgt spid="8089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7" grpId="0" uiExpand="1"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内容占位符 2"/>
          <p:cNvSpPr>
            <a:spLocks noGrp="1"/>
          </p:cNvSpPr>
          <p:nvPr>
            <p:ph idx="1"/>
          </p:nvPr>
        </p:nvSpPr>
        <p:spPr>
          <a:xfrm>
            <a:off x="414655" y="1079500"/>
            <a:ext cx="11304905" cy="1828800"/>
          </a:xfrm>
        </p:spPr>
        <p:txBody>
          <a:bodyPr vert="horz" wrap="square" lIns="91440" tIns="45720" rIns="91440" bIns="45720" anchor="t" anchorCtr="0"/>
          <a:lstStyle/>
          <a:p>
            <a:pPr>
              <a:buFont typeface="Wingdings" panose="05000000000000000000" pitchFamily="2" charset="2"/>
              <a:buChar char="l"/>
            </a:pPr>
            <a:r>
              <a:rPr lang="en-US" altLang="zh-CN" sz="2400" dirty="0"/>
              <a:t>[</a:t>
            </a:r>
            <a:r>
              <a:rPr lang="zh-CN" altLang="en-US" sz="2400" dirty="0"/>
              <a:t>例</a:t>
            </a:r>
            <a:r>
              <a:rPr lang="en-US" altLang="zh-CN" sz="2400" dirty="0"/>
              <a:t>2] </a:t>
            </a:r>
            <a:r>
              <a:rPr lang="zh-CN" altLang="en-US" sz="2400" dirty="0"/>
              <a:t>一个学生只能选一个专业，</a:t>
            </a:r>
            <a:r>
              <a:rPr lang="zh-CN" altLang="en-US" sz="2400" b="1" dirty="0">
                <a:solidFill>
                  <a:srgbClr val="0000FF"/>
                </a:solidFill>
              </a:rPr>
              <a:t>专业</a:t>
            </a:r>
            <a:r>
              <a:rPr lang="zh-CN" altLang="en-US" sz="2400" dirty="0"/>
              <a:t>没有和专业类别、专业年限等相关联，则把主修专业作为属性；</a:t>
            </a:r>
          </a:p>
          <a:p>
            <a:pPr>
              <a:buFont typeface="Wingdings" panose="05000000000000000000" pitchFamily="2" charset="2"/>
              <a:buChar char="l"/>
            </a:pPr>
            <a:r>
              <a:rPr lang="zh-CN" altLang="en-US" sz="2400" dirty="0"/>
              <a:t>如果一个学生能选多个专业，一个主修专业，其他为辅修专业，则把专业作为实体。</a:t>
            </a:r>
          </a:p>
        </p:txBody>
      </p:sp>
      <p:sp>
        <p:nvSpPr>
          <p:cNvPr id="81923" name="标题 1"/>
          <p:cNvSpPr>
            <a:spLocks noGrp="1"/>
          </p:cNvSpPr>
          <p:nvPr>
            <p:ph type="title"/>
          </p:nvPr>
        </p:nvSpPr>
        <p:spPr/>
        <p:txBody>
          <a:bodyPr vert="horz" wrap="square" lIns="91440" tIns="45720" rIns="91440" bIns="45720" anchor="b" anchorCtr="0"/>
          <a:lstStyle/>
          <a:p>
            <a:r>
              <a:rPr lang="en-US" altLang="zh-CN" dirty="0"/>
              <a:t>1. </a:t>
            </a:r>
            <a:r>
              <a:rPr lang="zh-CN" altLang="en-US" dirty="0"/>
              <a:t>实体与属性的划分原则 </a:t>
            </a:r>
          </a:p>
        </p:txBody>
      </p:sp>
      <p:pic>
        <p:nvPicPr>
          <p:cNvPr id="8" name="图片 7"/>
          <p:cNvPicPr>
            <a:picLocks noChangeAspect="1"/>
          </p:cNvPicPr>
          <p:nvPr/>
        </p:nvPicPr>
        <p:blipFill>
          <a:blip r:embed="rId2"/>
          <a:stretch>
            <a:fillRect/>
          </a:stretch>
        </p:blipFill>
        <p:spPr>
          <a:xfrm>
            <a:off x="1703070" y="2420620"/>
            <a:ext cx="9076690" cy="3509010"/>
          </a:xfrm>
          <a:prstGeom prst="rect">
            <a:avLst/>
          </a:prstGeom>
        </p:spPr>
      </p:pic>
    </p:spTree>
  </p:cSld>
  <p:clrMapOvr>
    <a:masterClrMapping/>
  </p:clrMapOvr>
  <p:transition advClick="0"/>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内容占位符 2"/>
          <p:cNvSpPr>
            <a:spLocks noGrp="1"/>
          </p:cNvSpPr>
          <p:nvPr>
            <p:ph idx="1"/>
          </p:nvPr>
        </p:nvSpPr>
        <p:spPr>
          <a:xfrm>
            <a:off x="474980" y="1196975"/>
            <a:ext cx="11049635" cy="4281805"/>
          </a:xfrm>
        </p:spPr>
        <p:txBody>
          <a:bodyPr vert="horz" wrap="square" lIns="91440" tIns="45720" rIns="91440" bIns="45720" anchor="t" anchorCtr="0"/>
          <a:lstStyle/>
          <a:p>
            <a:r>
              <a:rPr lang="en-US" altLang="zh-CN" sz="2400" dirty="0"/>
              <a:t>[</a:t>
            </a:r>
            <a:r>
              <a:rPr lang="zh-CN" altLang="en-US" sz="2400" dirty="0"/>
              <a:t>例</a:t>
            </a:r>
            <a:r>
              <a:rPr lang="en-US" altLang="zh-CN" sz="2400" dirty="0"/>
              <a:t>3] </a:t>
            </a:r>
            <a:r>
              <a:rPr lang="zh-CN" altLang="en-US" sz="2400" dirty="0"/>
              <a:t>如果一门课程如果只存在一门直接的先修课，则可以把先修课的课程号作属性，属性名为</a:t>
            </a:r>
            <a:r>
              <a:rPr lang="zh-CN" altLang="en-US" sz="2400" dirty="0" smtClean="0"/>
              <a:t>“先修课”；但</a:t>
            </a:r>
            <a:r>
              <a:rPr lang="zh-CN" altLang="en-US" sz="2400" dirty="0"/>
              <a:t>如果一门课程存在多门先修课，先修课作为单独的一类实体。由于“先修课”实体型也是“课程"实体型。</a:t>
            </a:r>
          </a:p>
          <a:p>
            <a:r>
              <a:rPr lang="zh-CN" altLang="en-US" sz="2400" dirty="0"/>
              <a:t>“先修课”与“课程”之间实际上是单个实体型内的多对多联系。</a:t>
            </a:r>
          </a:p>
          <a:p>
            <a:endParaRPr lang="zh-CN" altLang="en-US" sz="2400" dirty="0">
              <a:sym typeface="+mn-ea"/>
            </a:endParaRPr>
          </a:p>
          <a:p>
            <a:endParaRPr lang="zh-CN" altLang="en-US" sz="2400" dirty="0">
              <a:sym typeface="+mn-ea"/>
            </a:endParaRPr>
          </a:p>
          <a:p>
            <a:endParaRPr lang="zh-CN" altLang="en-US" sz="2400" dirty="0">
              <a:sym typeface="+mn-ea"/>
            </a:endParaRPr>
          </a:p>
          <a:p>
            <a:endParaRPr lang="zh-CN" altLang="en-US" sz="2400" dirty="0"/>
          </a:p>
        </p:txBody>
      </p:sp>
      <p:sp>
        <p:nvSpPr>
          <p:cNvPr id="82947" name="标题 1"/>
          <p:cNvSpPr>
            <a:spLocks noGrp="1"/>
          </p:cNvSpPr>
          <p:nvPr>
            <p:ph type="title"/>
          </p:nvPr>
        </p:nvSpPr>
        <p:spPr/>
        <p:txBody>
          <a:bodyPr vert="horz" wrap="square" lIns="91440" tIns="45720" rIns="91440" bIns="45720" anchor="b" anchorCtr="0"/>
          <a:lstStyle/>
          <a:p>
            <a:r>
              <a:rPr lang="en-US" altLang="zh-CN" dirty="0"/>
              <a:t>1. </a:t>
            </a:r>
            <a:r>
              <a:rPr lang="zh-CN" altLang="en-US" dirty="0"/>
              <a:t>实体与属性的划分原则 </a:t>
            </a:r>
          </a:p>
        </p:txBody>
      </p:sp>
      <p:grpSp>
        <p:nvGrpSpPr>
          <p:cNvPr id="15" name="Group 5"/>
          <p:cNvGrpSpPr/>
          <p:nvPr>
            <p:custDataLst>
              <p:tags r:id="rId1"/>
            </p:custDataLst>
          </p:nvPr>
        </p:nvGrpSpPr>
        <p:grpSpPr bwMode="auto">
          <a:xfrm>
            <a:off x="5960110" y="3411855"/>
            <a:ext cx="1524000" cy="1981200"/>
            <a:chOff x="4080" y="1152"/>
            <a:chExt cx="960" cy="1248"/>
          </a:xfrm>
        </p:grpSpPr>
        <p:sp>
          <p:nvSpPr>
            <p:cNvPr id="16" name="Text Box 6"/>
            <p:cNvSpPr txBox="1">
              <a:spLocks noChangeArrowheads="1"/>
            </p:cNvSpPr>
            <p:nvPr>
              <p:custDataLst>
                <p:tags r:id="rId9"/>
              </p:custDataLst>
            </p:nvPr>
          </p:nvSpPr>
          <p:spPr bwMode="auto">
            <a:xfrm>
              <a:off x="4128" y="1152"/>
              <a:ext cx="816" cy="290"/>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课程</a:t>
              </a:r>
            </a:p>
          </p:txBody>
        </p:sp>
        <p:sp>
          <p:nvSpPr>
            <p:cNvPr id="17" name="AutoShape 7"/>
            <p:cNvSpPr>
              <a:spLocks noChangeArrowheads="1"/>
            </p:cNvSpPr>
            <p:nvPr>
              <p:custDataLst>
                <p:tags r:id="rId10"/>
              </p:custDataLst>
            </p:nvPr>
          </p:nvSpPr>
          <p:spPr bwMode="auto">
            <a:xfrm>
              <a:off x="4080" y="1920"/>
              <a:ext cx="960" cy="480"/>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先修</a:t>
              </a:r>
            </a:p>
          </p:txBody>
        </p:sp>
        <p:sp>
          <p:nvSpPr>
            <p:cNvPr id="18" name="Line 8"/>
            <p:cNvSpPr>
              <a:spLocks noChangeShapeType="1"/>
            </p:cNvSpPr>
            <p:nvPr>
              <p:custDataLst>
                <p:tags r:id="rId11"/>
              </p:custDataLst>
            </p:nvPr>
          </p:nvSpPr>
          <p:spPr bwMode="auto">
            <a:xfrm flipV="1">
              <a:off x="4368"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9"/>
            <p:cNvSpPr>
              <a:spLocks noChangeShapeType="1"/>
            </p:cNvSpPr>
            <p:nvPr>
              <p:custDataLst>
                <p:tags r:id="rId12"/>
              </p:custDataLst>
            </p:nvPr>
          </p:nvSpPr>
          <p:spPr bwMode="auto">
            <a:xfrm>
              <a:off x="4704"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Text Box 10"/>
            <p:cNvSpPr txBox="1">
              <a:spLocks noChangeArrowheads="1"/>
            </p:cNvSpPr>
            <p:nvPr>
              <p:custDataLst>
                <p:tags r:id="rId13"/>
              </p:custDataLst>
            </p:nvPr>
          </p:nvSpPr>
          <p:spPr bwMode="auto">
            <a:xfrm>
              <a:off x="4080" y="1584"/>
              <a:ext cx="24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m</a:t>
              </a:r>
            </a:p>
          </p:txBody>
        </p:sp>
        <p:sp>
          <p:nvSpPr>
            <p:cNvPr id="21" name="Text Box 11"/>
            <p:cNvSpPr txBox="1">
              <a:spLocks noChangeArrowheads="1"/>
            </p:cNvSpPr>
            <p:nvPr>
              <p:custDataLst>
                <p:tags r:id="rId14"/>
              </p:custDataLst>
            </p:nvPr>
          </p:nvSpPr>
          <p:spPr bwMode="auto">
            <a:xfrm>
              <a:off x="4752"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p>
          </p:txBody>
        </p:sp>
      </p:grpSp>
      <p:grpSp>
        <p:nvGrpSpPr>
          <p:cNvPr id="11" name="Group 5"/>
          <p:cNvGrpSpPr/>
          <p:nvPr>
            <p:custDataLst>
              <p:tags r:id="rId2"/>
            </p:custDataLst>
          </p:nvPr>
        </p:nvGrpSpPr>
        <p:grpSpPr bwMode="auto">
          <a:xfrm>
            <a:off x="2567608" y="3411855"/>
            <a:ext cx="1524000" cy="1981200"/>
            <a:chOff x="4080" y="1152"/>
            <a:chExt cx="960" cy="1248"/>
          </a:xfrm>
        </p:grpSpPr>
        <p:sp>
          <p:nvSpPr>
            <p:cNvPr id="12" name="Text Box 6"/>
            <p:cNvSpPr txBox="1">
              <a:spLocks noChangeArrowheads="1"/>
            </p:cNvSpPr>
            <p:nvPr>
              <p:custDataLst>
                <p:tags r:id="rId3"/>
              </p:custDataLst>
            </p:nvPr>
          </p:nvSpPr>
          <p:spPr bwMode="auto">
            <a:xfrm>
              <a:off x="4128" y="1152"/>
              <a:ext cx="816" cy="290"/>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课程</a:t>
              </a:r>
            </a:p>
          </p:txBody>
        </p:sp>
        <p:sp>
          <p:nvSpPr>
            <p:cNvPr id="13" name="AutoShape 7"/>
            <p:cNvSpPr>
              <a:spLocks noChangeArrowheads="1"/>
            </p:cNvSpPr>
            <p:nvPr>
              <p:custDataLst>
                <p:tags r:id="rId4"/>
              </p:custDataLst>
            </p:nvPr>
          </p:nvSpPr>
          <p:spPr bwMode="auto">
            <a:xfrm>
              <a:off x="4080" y="1920"/>
              <a:ext cx="960" cy="480"/>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先修</a:t>
              </a:r>
            </a:p>
          </p:txBody>
        </p:sp>
        <p:sp>
          <p:nvSpPr>
            <p:cNvPr id="14" name="Line 8"/>
            <p:cNvSpPr>
              <a:spLocks noChangeShapeType="1"/>
            </p:cNvSpPr>
            <p:nvPr>
              <p:custDataLst>
                <p:tags r:id="rId5"/>
              </p:custDataLst>
            </p:nvPr>
          </p:nvSpPr>
          <p:spPr bwMode="auto">
            <a:xfrm flipV="1">
              <a:off x="4368"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9"/>
            <p:cNvSpPr>
              <a:spLocks noChangeShapeType="1"/>
            </p:cNvSpPr>
            <p:nvPr>
              <p:custDataLst>
                <p:tags r:id="rId6"/>
              </p:custDataLst>
            </p:nvPr>
          </p:nvSpPr>
          <p:spPr bwMode="auto">
            <a:xfrm>
              <a:off x="4704"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Text Box 10"/>
            <p:cNvSpPr txBox="1">
              <a:spLocks noChangeArrowheads="1"/>
            </p:cNvSpPr>
            <p:nvPr>
              <p:custDataLst>
                <p:tags r:id="rId7"/>
              </p:custDataLst>
            </p:nvPr>
          </p:nvSpPr>
          <p:spPr bwMode="auto">
            <a:xfrm>
              <a:off x="4080"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1</a:t>
              </a:r>
            </a:p>
          </p:txBody>
        </p:sp>
        <p:sp>
          <p:nvSpPr>
            <p:cNvPr id="24" name="Text Box 11"/>
            <p:cNvSpPr txBox="1">
              <a:spLocks noChangeArrowheads="1"/>
            </p:cNvSpPr>
            <p:nvPr>
              <p:custDataLst>
                <p:tags r:id="rId8"/>
              </p:custDataLst>
            </p:nvPr>
          </p:nvSpPr>
          <p:spPr bwMode="auto">
            <a:xfrm>
              <a:off x="4752"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strVal val="#ppt_w*0.05"/>
                                          </p:val>
                                        </p:tav>
                                        <p:tav tm="100000">
                                          <p:val>
                                            <p:strVal val="#ppt_w"/>
                                          </p:val>
                                        </p:tav>
                                      </p:tavLst>
                                    </p:anim>
                                    <p:anim calcmode="lin" valueType="num">
                                      <p:cBhvr>
                                        <p:cTn id="8" dur="500" fill="hold"/>
                                        <p:tgtEl>
                                          <p:spTgt spid="11"/>
                                        </p:tgtEl>
                                        <p:attrNameLst>
                                          <p:attrName>ppt_h</p:attrName>
                                        </p:attrNameLst>
                                      </p:cBhvr>
                                      <p:tavLst>
                                        <p:tav tm="0">
                                          <p:val>
                                            <p:strVal val="#ppt_h"/>
                                          </p:val>
                                        </p:tav>
                                        <p:tav tm="100000">
                                          <p:val>
                                            <p:strVal val="#ppt_h"/>
                                          </p:val>
                                        </p:tav>
                                      </p:tavLst>
                                    </p:anim>
                                    <p:anim calcmode="lin" valueType="num">
                                      <p:cBhvr>
                                        <p:cTn id="9" dur="500" fill="hold"/>
                                        <p:tgtEl>
                                          <p:spTgt spid="11"/>
                                        </p:tgtEl>
                                        <p:attrNameLst>
                                          <p:attrName>ppt_x</p:attrName>
                                        </p:attrNameLst>
                                      </p:cBhvr>
                                      <p:tavLst>
                                        <p:tav tm="0">
                                          <p:val>
                                            <p:strVal val="#ppt_x-.2"/>
                                          </p:val>
                                        </p:tav>
                                        <p:tav tm="100000">
                                          <p:val>
                                            <p:strVal val="#ppt_x"/>
                                          </p:val>
                                        </p:tav>
                                      </p:tavLst>
                                    </p:anim>
                                    <p:anim calcmode="lin" valueType="num">
                                      <p:cBhvr>
                                        <p:cTn id="10" dur="500" fill="hold"/>
                                        <p:tgtEl>
                                          <p:spTgt spid="11"/>
                                        </p:tgtEl>
                                        <p:attrNameLst>
                                          <p:attrName>ppt_y</p:attrName>
                                        </p:attrNameLst>
                                      </p:cBhvr>
                                      <p:tavLst>
                                        <p:tav tm="0">
                                          <p:val>
                                            <p:strVal val="#ppt_y"/>
                                          </p:val>
                                        </p:tav>
                                        <p:tav tm="100000">
                                          <p:val>
                                            <p:strVal val="#ppt_y"/>
                                          </p:val>
                                        </p:tav>
                                      </p:tavLst>
                                    </p:anim>
                                    <p:animEffect transition="in" filter="fad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54" presetClass="entr" presetSubtype="0" accel="100000"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p:cTn id="16" dur="500" fill="hold"/>
                                        <p:tgtEl>
                                          <p:spTgt spid="15"/>
                                        </p:tgtEl>
                                        <p:attrNameLst>
                                          <p:attrName>ppt_w</p:attrName>
                                        </p:attrNameLst>
                                      </p:cBhvr>
                                      <p:tavLst>
                                        <p:tav tm="0">
                                          <p:val>
                                            <p:strVal val="#ppt_w*0.05"/>
                                          </p:val>
                                        </p:tav>
                                        <p:tav tm="100000">
                                          <p:val>
                                            <p:strVal val="#ppt_w"/>
                                          </p:val>
                                        </p:tav>
                                      </p:tavLst>
                                    </p:anim>
                                    <p:anim calcmode="lin" valueType="num">
                                      <p:cBhvr>
                                        <p:cTn id="17" dur="500" fill="hold"/>
                                        <p:tgtEl>
                                          <p:spTgt spid="15"/>
                                        </p:tgtEl>
                                        <p:attrNameLst>
                                          <p:attrName>ppt_h</p:attrName>
                                        </p:attrNameLst>
                                      </p:cBhvr>
                                      <p:tavLst>
                                        <p:tav tm="0">
                                          <p:val>
                                            <p:strVal val="#ppt_h"/>
                                          </p:val>
                                        </p:tav>
                                        <p:tav tm="100000">
                                          <p:val>
                                            <p:strVal val="#ppt_h"/>
                                          </p:val>
                                        </p:tav>
                                      </p:tavLst>
                                    </p:anim>
                                    <p:anim calcmode="lin" valueType="num">
                                      <p:cBhvr>
                                        <p:cTn id="18" dur="500" fill="hold"/>
                                        <p:tgtEl>
                                          <p:spTgt spid="15"/>
                                        </p:tgtEl>
                                        <p:attrNameLst>
                                          <p:attrName>ppt_x</p:attrName>
                                        </p:attrNameLst>
                                      </p:cBhvr>
                                      <p:tavLst>
                                        <p:tav tm="0">
                                          <p:val>
                                            <p:strVal val="#ppt_x-.2"/>
                                          </p:val>
                                        </p:tav>
                                        <p:tav tm="100000">
                                          <p:val>
                                            <p:strVal val="#ppt_x"/>
                                          </p:val>
                                        </p:tav>
                                      </p:tavLst>
                                    </p:anim>
                                    <p:anim calcmode="lin" valueType="num">
                                      <p:cBhvr>
                                        <p:cTn id="19" dur="500" fill="hold"/>
                                        <p:tgtEl>
                                          <p:spTgt spid="15"/>
                                        </p:tgtEl>
                                        <p:attrNameLst>
                                          <p:attrName>ppt_y</p:attrName>
                                        </p:attrNameLst>
                                      </p:cBhvr>
                                      <p:tavLst>
                                        <p:tav tm="0">
                                          <p:val>
                                            <p:strVal val="#ppt_y"/>
                                          </p:val>
                                        </p:tav>
                                        <p:tav tm="100000">
                                          <p:val>
                                            <p:strVal val="#ppt_y"/>
                                          </p:val>
                                        </p:tav>
                                      </p:tavLst>
                                    </p:anim>
                                    <p:animEffect transition="in" filter="fade">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内容占位符 2"/>
          <p:cNvSpPr>
            <a:spLocks noGrp="1"/>
          </p:cNvSpPr>
          <p:nvPr>
            <p:ph idx="1"/>
          </p:nvPr>
        </p:nvSpPr>
        <p:spPr>
          <a:xfrm>
            <a:off x="474980" y="1196975"/>
            <a:ext cx="11049635" cy="4281805"/>
          </a:xfrm>
        </p:spPr>
        <p:txBody>
          <a:bodyPr vert="horz" wrap="square" lIns="91440" tIns="45720" rIns="91440" bIns="45720" anchor="t" anchorCtr="0"/>
          <a:lstStyle/>
          <a:p>
            <a:r>
              <a:rPr lang="en-US" altLang="zh-CN" sz="2400" dirty="0">
                <a:sym typeface="+mn-ea"/>
              </a:rPr>
              <a:t>[</a:t>
            </a:r>
            <a:r>
              <a:rPr lang="zh-CN" altLang="en-US" sz="2400" dirty="0">
                <a:sym typeface="+mn-ea"/>
              </a:rPr>
              <a:t>例</a:t>
            </a:r>
            <a:r>
              <a:rPr lang="en-US" altLang="zh-CN" sz="2400" dirty="0">
                <a:sym typeface="+mn-ea"/>
              </a:rPr>
              <a:t>4]</a:t>
            </a:r>
            <a:r>
              <a:rPr lang="zh-CN" altLang="en-US" sz="2400" dirty="0"/>
              <a:t>如果</a:t>
            </a:r>
            <a:r>
              <a:rPr lang="zh-CN" altLang="en-US" sz="2400" b="1" dirty="0">
                <a:solidFill>
                  <a:srgbClr val="FF0000"/>
                </a:solidFill>
              </a:rPr>
              <a:t>一门课程只设一个教学班</a:t>
            </a:r>
            <a:r>
              <a:rPr lang="zh-CN" altLang="en-US" sz="2400" dirty="0"/>
              <a:t>，则可以把教学班号作为“选课”联系的属性，属性为“教学班”。但在实际的教学活动中，</a:t>
            </a:r>
            <a:r>
              <a:rPr lang="zh-CN" altLang="en-US" sz="2400" b="1" dirty="0">
                <a:solidFill>
                  <a:srgbClr val="FF0000"/>
                </a:solidFill>
              </a:rPr>
              <a:t>一门课程通常可以开设多个</a:t>
            </a:r>
            <a:r>
              <a:rPr lang="zh-CN" altLang="en-US" sz="2400" b="1" dirty="0" smtClean="0">
                <a:solidFill>
                  <a:srgbClr val="FF0000"/>
                </a:solidFill>
              </a:rPr>
              <a:t>教学班</a:t>
            </a:r>
            <a:r>
              <a:rPr lang="zh-CN" altLang="en-US" sz="2400" dirty="0" smtClean="0"/>
              <a:t>则</a:t>
            </a:r>
            <a:r>
              <a:rPr lang="zh-CN" altLang="en-US" sz="2400" dirty="0"/>
              <a:t>应把“教学班”作为一类实体。</a:t>
            </a:r>
          </a:p>
          <a:p>
            <a:endParaRPr lang="zh-CN" altLang="en-US" sz="2400" dirty="0"/>
          </a:p>
        </p:txBody>
      </p:sp>
      <p:sp>
        <p:nvSpPr>
          <p:cNvPr id="82947" name="标题 1"/>
          <p:cNvSpPr>
            <a:spLocks noGrp="1"/>
          </p:cNvSpPr>
          <p:nvPr>
            <p:ph type="title"/>
          </p:nvPr>
        </p:nvSpPr>
        <p:spPr/>
        <p:txBody>
          <a:bodyPr vert="horz" wrap="square" lIns="91440" tIns="45720" rIns="91440" bIns="45720" anchor="b" anchorCtr="0"/>
          <a:lstStyle/>
          <a:p>
            <a:r>
              <a:rPr lang="en-US" altLang="zh-CN" dirty="0"/>
              <a:t>1. </a:t>
            </a:r>
            <a:r>
              <a:rPr lang="zh-CN" altLang="en-US" dirty="0"/>
              <a:t>实体与属性的划分原则 </a:t>
            </a:r>
          </a:p>
        </p:txBody>
      </p:sp>
      <p:pic>
        <p:nvPicPr>
          <p:cNvPr id="3" name="图片 2"/>
          <p:cNvPicPr>
            <a:picLocks noChangeAspect="1"/>
          </p:cNvPicPr>
          <p:nvPr/>
        </p:nvPicPr>
        <p:blipFill rotWithShape="1">
          <a:blip r:embed="rId2"/>
          <a:srcRect r="4381"/>
          <a:stretch/>
        </p:blipFill>
        <p:spPr>
          <a:xfrm rot="16200000">
            <a:off x="3918669" y="239477"/>
            <a:ext cx="3884128" cy="8314055"/>
          </a:xfrm>
          <a:prstGeom prst="rect">
            <a:avLst/>
          </a:prstGeom>
        </p:spPr>
      </p:pic>
    </p:spTree>
  </p:cSld>
  <p:clrMapOvr>
    <a:masterClrMapping/>
  </p:clrMapOvr>
  <p:transition advClick="0"/>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p:cNvSpPr>
          <p:nvPr>
            <p:ph type="title"/>
          </p:nvPr>
        </p:nvSpPr>
        <p:spPr/>
        <p:txBody>
          <a:bodyPr vert="horz" wrap="square" lIns="91440" tIns="45720" rIns="91440" bIns="45720" anchor="b" anchorCtr="0"/>
          <a:lstStyle/>
          <a:p>
            <a:r>
              <a:rPr lang="en-US" altLang="zh-CN" dirty="0"/>
              <a:t>2.E-R</a:t>
            </a:r>
            <a:r>
              <a:rPr lang="zh-CN" altLang="en-US" dirty="0"/>
              <a:t>图的集成</a:t>
            </a:r>
          </a:p>
        </p:txBody>
      </p:sp>
      <p:sp>
        <p:nvSpPr>
          <p:cNvPr id="83970" name="内容占位符 2"/>
          <p:cNvSpPr>
            <a:spLocks noGrp="1"/>
          </p:cNvSpPr>
          <p:nvPr>
            <p:ph idx="1"/>
          </p:nvPr>
        </p:nvSpPr>
        <p:spPr>
          <a:xfrm>
            <a:off x="477520" y="1143000"/>
            <a:ext cx="11217910" cy="4962525"/>
          </a:xfrm>
        </p:spPr>
        <p:txBody>
          <a:bodyPr vert="horz" wrap="square" lIns="91440" tIns="45720" rIns="91440" bIns="45720" anchor="t" anchorCtr="0"/>
          <a:lstStyle/>
          <a:p>
            <a:r>
              <a:rPr lang="zh-CN" altLang="en-US" dirty="0"/>
              <a:t>在开发一个大型信息系统时，经常采用的方法是自顶向下进行需求分析，然后自底向上设计概念结构。即：</a:t>
            </a:r>
            <a:r>
              <a:rPr lang="zh-CN" altLang="en-US" b="1" dirty="0">
                <a:solidFill>
                  <a:srgbClr val="FF0000"/>
                </a:solidFill>
              </a:rPr>
              <a:t>首先设计各个子系统</a:t>
            </a:r>
            <a:r>
              <a:rPr lang="zh-CN" altLang="en-US" dirty="0"/>
              <a:t>的</a:t>
            </a:r>
            <a:r>
              <a:rPr lang="en-US" altLang="zh-CN" dirty="0"/>
              <a:t>E-R</a:t>
            </a:r>
            <a:r>
              <a:rPr lang="zh-CN" altLang="en-US" dirty="0"/>
              <a:t>图，</a:t>
            </a:r>
            <a:r>
              <a:rPr lang="zh-CN" altLang="en-US" b="1" dirty="0">
                <a:solidFill>
                  <a:srgbClr val="FF0000"/>
                </a:solidFill>
              </a:rPr>
              <a:t>然后把他们集成起来</a:t>
            </a:r>
            <a:r>
              <a:rPr lang="zh-CN" altLang="en-US" dirty="0"/>
              <a:t>，得到全局的</a:t>
            </a:r>
            <a:r>
              <a:rPr lang="en-US" altLang="zh-CN" dirty="0"/>
              <a:t>E-R</a:t>
            </a:r>
            <a:r>
              <a:rPr lang="zh-CN" altLang="en-US" dirty="0"/>
              <a:t>图。</a:t>
            </a:r>
          </a:p>
          <a:p>
            <a:r>
              <a:rPr lang="zh-CN" altLang="en-US" b="1" dirty="0">
                <a:solidFill>
                  <a:srgbClr val="FF0000"/>
                </a:solidFill>
              </a:rPr>
              <a:t>例题：</a:t>
            </a:r>
            <a:endParaRPr lang="zh-CN" altLang="en-US" dirty="0"/>
          </a:p>
          <a:p>
            <a:r>
              <a:rPr lang="zh-CN" altLang="en-US" dirty="0"/>
              <a:t>某高校教务处开发</a:t>
            </a:r>
            <a:r>
              <a:rPr lang="zh-CN" altLang="en-US" b="1" dirty="0">
                <a:solidFill>
                  <a:srgbClr val="0000FF"/>
                </a:solidFill>
              </a:rPr>
              <a:t>“高校本科教务管理”</a:t>
            </a:r>
            <a:r>
              <a:rPr lang="zh-CN" altLang="en-US" dirty="0"/>
              <a:t>信息系统，经过可行性分析，详细调查确定了该统由</a:t>
            </a:r>
            <a:r>
              <a:rPr lang="zh-CN" altLang="en-US" dirty="0">
                <a:solidFill>
                  <a:srgbClr val="FF0000"/>
                </a:solidFill>
              </a:rPr>
              <a:t>“学生学籍管理”“教师教学管理”“学生选课管理”</a:t>
            </a:r>
            <a:r>
              <a:rPr lang="zh-CN" altLang="en-US" dirty="0"/>
              <a:t>等子系统组成。每个子系统均成立了发小组，设计该子系统的分</a:t>
            </a:r>
            <a:r>
              <a:rPr lang="en-US" altLang="zh-CN" dirty="0"/>
              <a:t>E-R</a:t>
            </a:r>
            <a:r>
              <a:rPr lang="zh-CN" altLang="en-US" dirty="0"/>
              <a:t>图。前面已给出了</a:t>
            </a:r>
            <a:r>
              <a:rPr lang="zh-CN" altLang="en-US" dirty="0">
                <a:solidFill>
                  <a:schemeClr val="tx1"/>
                </a:solidFill>
                <a:sym typeface="+mn-ea"/>
              </a:rPr>
              <a:t>“学生学籍管理”、</a:t>
            </a:r>
            <a:r>
              <a:rPr lang="zh-CN" altLang="en-US" dirty="0"/>
              <a:t>“学生选课管理”子系统的分</a:t>
            </a:r>
            <a:r>
              <a:rPr lang="en-US" altLang="zh-CN" dirty="0"/>
              <a:t>E-R</a:t>
            </a:r>
            <a:r>
              <a:rPr lang="zh-CN" altLang="en-US" dirty="0"/>
              <a:t>图。</a:t>
            </a:r>
          </a:p>
          <a:p>
            <a:r>
              <a:rPr lang="zh-CN" altLang="en-US" dirty="0">
                <a:solidFill>
                  <a:schemeClr val="tx1"/>
                </a:solidFill>
                <a:sym typeface="+mn-ea"/>
              </a:rPr>
              <a:t>下面介绍：</a:t>
            </a:r>
            <a:r>
              <a:rPr lang="zh-CN" altLang="en-US" dirty="0">
                <a:solidFill>
                  <a:srgbClr val="FF0000"/>
                </a:solidFill>
                <a:sym typeface="+mn-ea"/>
              </a:rPr>
              <a:t>“教师教学管理”。</a:t>
            </a:r>
            <a:endParaRPr lang="zh-CN" altLang="en-US" dirty="0"/>
          </a:p>
        </p:txBody>
      </p:sp>
    </p:spTree>
  </p:cSld>
  <p:clrMapOvr>
    <a:masterClrMapping/>
  </p:clrMapOvr>
  <p:transition advClick="0"/>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教师，教学班，学生</a:t>
            </a:r>
          </a:p>
        </p:txBody>
      </p:sp>
      <p:pic>
        <p:nvPicPr>
          <p:cNvPr id="4" name="内容占位符 3"/>
          <p:cNvPicPr>
            <a:picLocks noGrp="1" noChangeAspect="1"/>
          </p:cNvPicPr>
          <p:nvPr>
            <p:ph idx="1"/>
          </p:nvPr>
        </p:nvPicPr>
        <p:blipFill>
          <a:blip r:embed="rId2"/>
          <a:stretch>
            <a:fillRect/>
          </a:stretch>
        </p:blipFill>
        <p:spPr>
          <a:xfrm>
            <a:off x="407035" y="1412240"/>
            <a:ext cx="5465445" cy="3906520"/>
          </a:xfrm>
          <a:prstGeom prst="rect">
            <a:avLst/>
          </a:prstGeom>
        </p:spPr>
      </p:pic>
      <p:pic>
        <p:nvPicPr>
          <p:cNvPr id="5" name="图片 4"/>
          <p:cNvPicPr>
            <a:picLocks noChangeAspect="1"/>
          </p:cNvPicPr>
          <p:nvPr/>
        </p:nvPicPr>
        <p:blipFill>
          <a:blip r:embed="rId3"/>
          <a:stretch>
            <a:fillRect/>
          </a:stretch>
        </p:blipFill>
        <p:spPr>
          <a:xfrm>
            <a:off x="6036945" y="1412240"/>
            <a:ext cx="5835015" cy="3902075"/>
          </a:xfrm>
          <a:prstGeom prst="rect">
            <a:avLst/>
          </a:prstGeom>
        </p:spPr>
      </p:pic>
    </p:spTree>
  </p:cSld>
  <p:clrMapOvr>
    <a:masterClrMapping/>
  </p:clrMapOvr>
  <p:transition advClick="0"/>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排课：教学班，时间片，教室</a:t>
            </a:r>
          </a:p>
        </p:txBody>
      </p:sp>
      <p:pic>
        <p:nvPicPr>
          <p:cNvPr id="4" name="内容占位符 3"/>
          <p:cNvPicPr>
            <a:picLocks noGrp="1" noChangeAspect="1"/>
          </p:cNvPicPr>
          <p:nvPr>
            <p:ph idx="1"/>
          </p:nvPr>
        </p:nvPicPr>
        <p:blipFill>
          <a:blip r:embed="rId2"/>
          <a:stretch>
            <a:fillRect/>
          </a:stretch>
        </p:blipFill>
        <p:spPr>
          <a:xfrm>
            <a:off x="762000" y="1412240"/>
            <a:ext cx="10377805" cy="4465320"/>
          </a:xfrm>
          <a:prstGeom prst="rect">
            <a:avLst/>
          </a:prstGeom>
        </p:spPr>
      </p:pic>
    </p:spTree>
  </p:cSld>
  <p:clrMapOvr>
    <a:masterClrMapping/>
  </p:clrMapOvr>
  <p:transition advClick="0"/>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汇总</a:t>
            </a:r>
          </a:p>
        </p:txBody>
      </p:sp>
      <p:pic>
        <p:nvPicPr>
          <p:cNvPr id="4" name="内容占位符 3"/>
          <p:cNvPicPr>
            <a:picLocks noGrp="1" noChangeAspect="1"/>
          </p:cNvPicPr>
          <p:nvPr>
            <p:ph idx="1"/>
          </p:nvPr>
        </p:nvPicPr>
        <p:blipFill>
          <a:blip r:embed="rId2"/>
          <a:stretch>
            <a:fillRect/>
          </a:stretch>
        </p:blipFill>
        <p:spPr>
          <a:xfrm>
            <a:off x="2279650" y="1123950"/>
            <a:ext cx="6384290" cy="4872355"/>
          </a:xfrm>
          <a:prstGeom prst="rect">
            <a:avLst/>
          </a:prstGeom>
        </p:spPr>
      </p:pic>
    </p:spTree>
  </p:cSld>
  <p:clrMapOvr>
    <a:masterClrMapping/>
  </p:clrMapOvr>
  <p:transition advClick="0"/>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p:cNvSpPr>
            <a:spLocks noGrp="1"/>
          </p:cNvSpPr>
          <p:nvPr>
            <p:ph type="title"/>
          </p:nvPr>
        </p:nvSpPr>
        <p:spPr/>
        <p:txBody>
          <a:bodyPr vert="horz" wrap="square" lIns="91440" tIns="45720" rIns="91440" bIns="45720" anchor="b" anchorCtr="0"/>
          <a:lstStyle/>
          <a:p>
            <a:r>
              <a:rPr lang="zh-CN" altLang="en-US" dirty="0"/>
              <a:t>集成两步走</a:t>
            </a:r>
          </a:p>
        </p:txBody>
      </p:sp>
      <p:sp>
        <p:nvSpPr>
          <p:cNvPr id="84994" name="内容占位符 2"/>
          <p:cNvSpPr>
            <a:spLocks noGrp="1"/>
          </p:cNvSpPr>
          <p:nvPr>
            <p:ph idx="1"/>
          </p:nvPr>
        </p:nvSpPr>
        <p:spPr>
          <a:xfrm>
            <a:off x="755650" y="1071245"/>
            <a:ext cx="10668000" cy="5283200"/>
          </a:xfrm>
        </p:spPr>
        <p:txBody>
          <a:bodyPr vert="horz" wrap="square" lIns="91440" tIns="45720" rIns="91440" bIns="45720" anchor="t" anchorCtr="0"/>
          <a:lstStyle/>
          <a:p>
            <a:pPr>
              <a:buNone/>
            </a:pPr>
            <a:r>
              <a:rPr lang="zh-CN" altLang="en-US" sz="2800" dirty="0"/>
              <a:t>第一步：</a:t>
            </a:r>
            <a:r>
              <a:rPr lang="zh-CN" altLang="en-US" sz="2800" b="1" dirty="0">
                <a:solidFill>
                  <a:srgbClr val="FF0000"/>
                </a:solidFill>
              </a:rPr>
              <a:t>合并，消除冲突，</a:t>
            </a:r>
            <a:r>
              <a:rPr lang="zh-CN" altLang="en-US" sz="2800" dirty="0"/>
              <a:t>生成初步</a:t>
            </a:r>
            <a:r>
              <a:rPr lang="en-US" altLang="zh-CN" sz="2800" dirty="0"/>
              <a:t>E-R</a:t>
            </a:r>
            <a:r>
              <a:rPr lang="zh-CN" altLang="en-US" sz="2800" dirty="0"/>
              <a:t>图</a:t>
            </a:r>
            <a:endParaRPr lang="en-US" altLang="zh-CN" sz="2800" dirty="0"/>
          </a:p>
          <a:p>
            <a:pPr latinLnBrk="0">
              <a:lnSpc>
                <a:spcPct val="150000"/>
              </a:lnSpc>
              <a:spcBef>
                <a:spcPts val="0"/>
              </a:spcBef>
            </a:pPr>
            <a:r>
              <a:rPr lang="zh-CN" altLang="en-US" sz="2800" dirty="0">
                <a:solidFill>
                  <a:srgbClr val="FF0000"/>
                </a:solidFill>
              </a:rPr>
              <a:t>属性冲突</a:t>
            </a:r>
            <a:r>
              <a:rPr lang="zh-CN" altLang="en-US" sz="2800" dirty="0"/>
              <a:t>：属性域，取值单位</a:t>
            </a:r>
            <a:endParaRPr lang="en-US" altLang="zh-CN" sz="2800" dirty="0"/>
          </a:p>
          <a:p>
            <a:pPr latinLnBrk="0">
              <a:lnSpc>
                <a:spcPct val="150000"/>
              </a:lnSpc>
              <a:spcBef>
                <a:spcPts val="0"/>
              </a:spcBef>
            </a:pPr>
            <a:r>
              <a:rPr lang="zh-CN" altLang="en-US" sz="2800" dirty="0">
                <a:solidFill>
                  <a:srgbClr val="FF0000"/>
                </a:solidFill>
              </a:rPr>
              <a:t>命名冲突</a:t>
            </a:r>
            <a:r>
              <a:rPr lang="zh-CN" altLang="en-US" sz="2800" dirty="0"/>
              <a:t>：命名不一致</a:t>
            </a:r>
            <a:endParaRPr lang="en-US" altLang="zh-CN" sz="2800" dirty="0"/>
          </a:p>
          <a:p>
            <a:pPr latinLnBrk="0">
              <a:lnSpc>
                <a:spcPct val="150000"/>
              </a:lnSpc>
              <a:spcBef>
                <a:spcPts val="0"/>
              </a:spcBef>
            </a:pPr>
            <a:r>
              <a:rPr lang="zh-CN" altLang="en-US" sz="2800" dirty="0">
                <a:solidFill>
                  <a:srgbClr val="FF0000"/>
                </a:solidFill>
              </a:rPr>
              <a:t>结构冲突</a:t>
            </a:r>
            <a:r>
              <a:rPr lang="zh-CN" altLang="en-US" sz="2800" dirty="0"/>
              <a:t>：</a:t>
            </a:r>
            <a:endParaRPr lang="en-US" altLang="zh-CN" sz="2800" dirty="0"/>
          </a:p>
          <a:p>
            <a:pPr lvl="1" indent="-436245" latinLnBrk="0">
              <a:lnSpc>
                <a:spcPct val="150000"/>
              </a:lnSpc>
              <a:spcBef>
                <a:spcPts val="0"/>
              </a:spcBef>
            </a:pPr>
            <a:r>
              <a:rPr lang="zh-CN" altLang="en-US" sz="2400" dirty="0"/>
              <a:t>同一对象被当成实体还是属性</a:t>
            </a:r>
            <a:endParaRPr lang="en-US" altLang="zh-CN" sz="2400" dirty="0"/>
          </a:p>
          <a:p>
            <a:pPr lvl="1" indent="-436245" latinLnBrk="0">
              <a:lnSpc>
                <a:spcPct val="150000"/>
              </a:lnSpc>
              <a:spcBef>
                <a:spcPts val="0"/>
              </a:spcBef>
            </a:pPr>
            <a:r>
              <a:rPr lang="zh-CN" altLang="en-US" sz="2400" dirty="0"/>
              <a:t>同一实体的属性个数或者属性顺序不同</a:t>
            </a:r>
            <a:endParaRPr lang="en-US" altLang="zh-CN" sz="2400" dirty="0"/>
          </a:p>
          <a:p>
            <a:pPr lvl="1" indent="-436245" latinLnBrk="0">
              <a:lnSpc>
                <a:spcPct val="150000"/>
              </a:lnSpc>
              <a:spcBef>
                <a:spcPts val="0"/>
              </a:spcBef>
            </a:pPr>
            <a:r>
              <a:rPr lang="zh-CN" altLang="en-US" sz="2400" dirty="0"/>
              <a:t>实体间的联系不同</a:t>
            </a:r>
          </a:p>
          <a:p>
            <a:pPr marL="0" marR="0" lvl="0" indent="0" algn="l" defTabSz="914400" rtl="0" latinLnBrk="0">
              <a:lnSpc>
                <a:spcPct val="150000"/>
              </a:lnSpc>
              <a:spcBef>
                <a:spcPct val="20000"/>
              </a:spcBef>
              <a:spcAft>
                <a:spcPct val="0"/>
              </a:spcAft>
              <a:buClr>
                <a:schemeClr val="accent2"/>
              </a:buClr>
              <a:buSzTx/>
              <a:buFont typeface="Wingdings" panose="05000000000000000000" pitchFamily="2" charset="2"/>
              <a:buNone/>
              <a:defRPr/>
            </a:pPr>
            <a:endParaRPr lang="zh-CN" altLang="en-US" sz="2800" noProof="0" dirty="0" smtClean="0">
              <a:ln>
                <a:noFill/>
              </a:ln>
              <a:effectLst/>
              <a:uLnTx/>
              <a:uFillTx/>
              <a:cs typeface="+mn-cs"/>
              <a:sym typeface="+mn-ea"/>
            </a:endParaRPr>
          </a:p>
        </p:txBody>
      </p:sp>
    </p:spTree>
  </p:cSld>
  <p:clrMapOvr>
    <a:masterClrMapping/>
  </p:clrMapOvr>
  <p:transition advClick="0"/>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sym typeface="+mn-ea"/>
              </a:rPr>
              <a:t>“教师教学管理”，“学生选课系统”合并</a:t>
            </a:r>
            <a:endParaRPr lang="zh-CN" altLang="en-US"/>
          </a:p>
        </p:txBody>
      </p:sp>
      <p:pic>
        <p:nvPicPr>
          <p:cNvPr id="5" name="内容占位符 4"/>
          <p:cNvPicPr>
            <a:picLocks noGrp="1" noChangeAspect="1"/>
          </p:cNvPicPr>
          <p:nvPr>
            <p:ph idx="1"/>
          </p:nvPr>
        </p:nvPicPr>
        <p:blipFill>
          <a:blip r:embed="rId2"/>
          <a:stretch>
            <a:fillRect/>
          </a:stretch>
        </p:blipFill>
        <p:spPr>
          <a:xfrm>
            <a:off x="119380" y="1137920"/>
            <a:ext cx="5489575" cy="2317750"/>
          </a:xfrm>
          <a:prstGeom prst="rect">
            <a:avLst/>
          </a:prstGeom>
        </p:spPr>
      </p:pic>
      <p:pic>
        <p:nvPicPr>
          <p:cNvPr id="6" name="图片 5"/>
          <p:cNvPicPr>
            <a:picLocks noChangeAspect="1"/>
          </p:cNvPicPr>
          <p:nvPr/>
        </p:nvPicPr>
        <p:blipFill>
          <a:blip r:embed="rId3"/>
          <a:srcRect r="698"/>
          <a:stretch>
            <a:fillRect/>
          </a:stretch>
        </p:blipFill>
        <p:spPr>
          <a:xfrm>
            <a:off x="5735955" y="1052195"/>
            <a:ext cx="6048375" cy="2893060"/>
          </a:xfrm>
          <a:prstGeom prst="rect">
            <a:avLst/>
          </a:prstGeom>
        </p:spPr>
      </p:pic>
      <p:pic>
        <p:nvPicPr>
          <p:cNvPr id="7" name="图片 6"/>
          <p:cNvPicPr>
            <a:picLocks noChangeAspect="1"/>
          </p:cNvPicPr>
          <p:nvPr/>
        </p:nvPicPr>
        <p:blipFill>
          <a:blip r:embed="rId4"/>
          <a:stretch>
            <a:fillRect/>
          </a:stretch>
        </p:blipFill>
        <p:spPr>
          <a:xfrm>
            <a:off x="335280" y="3517900"/>
            <a:ext cx="6290310" cy="3291205"/>
          </a:xfrm>
          <a:prstGeom prst="rect">
            <a:avLst/>
          </a:prstGeom>
        </p:spPr>
      </p:pic>
      <p:sp>
        <p:nvSpPr>
          <p:cNvPr id="8" name="文本框 7"/>
          <p:cNvSpPr txBox="1"/>
          <p:nvPr/>
        </p:nvSpPr>
        <p:spPr>
          <a:xfrm>
            <a:off x="7031990" y="4652645"/>
            <a:ext cx="4269105" cy="1198880"/>
          </a:xfrm>
          <a:prstGeom prst="rect">
            <a:avLst/>
          </a:prstGeom>
          <a:noFill/>
        </p:spPr>
        <p:txBody>
          <a:bodyPr wrap="square" rtlCol="0" anchor="t">
            <a:spAutoFit/>
          </a:bodyPr>
          <a:lstStyle/>
          <a:p>
            <a:pPr lvl="1" indent="-436245" latinLnBrk="0">
              <a:lnSpc>
                <a:spcPct val="150000"/>
              </a:lnSpc>
              <a:spcBef>
                <a:spcPts val="0"/>
              </a:spcBef>
            </a:pPr>
            <a:r>
              <a:rPr lang="zh-CN" altLang="en-US" sz="2400" dirty="0">
                <a:sym typeface="+mn-ea"/>
              </a:rPr>
              <a:t>联系：选修和课程评价，都不能消除。</a:t>
            </a:r>
          </a:p>
        </p:txBody>
      </p:sp>
    </p:spTree>
  </p:cSld>
  <p:clrMapOvr>
    <a:masterClrMapping/>
  </p:clrMapOvr>
  <p:transition advClick="0"/>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p:cNvSpPr>
            <a:spLocks noGrp="1"/>
          </p:cNvSpPr>
          <p:nvPr>
            <p:ph type="title"/>
          </p:nvPr>
        </p:nvSpPr>
        <p:spPr/>
        <p:txBody>
          <a:bodyPr vert="horz" wrap="square" lIns="91440" tIns="45720" rIns="91440" bIns="45720" anchor="b" anchorCtr="0"/>
          <a:lstStyle/>
          <a:p>
            <a:r>
              <a:rPr lang="zh-CN" altLang="en-US" dirty="0"/>
              <a:t>集成两步走</a:t>
            </a:r>
          </a:p>
        </p:txBody>
      </p:sp>
      <p:sp>
        <p:nvSpPr>
          <p:cNvPr id="84994" name="内容占位符 2"/>
          <p:cNvSpPr>
            <a:spLocks noGrp="1"/>
          </p:cNvSpPr>
          <p:nvPr>
            <p:ph idx="1"/>
          </p:nvPr>
        </p:nvSpPr>
        <p:spPr>
          <a:xfrm>
            <a:off x="755650" y="1071245"/>
            <a:ext cx="10668000" cy="5283200"/>
          </a:xfrm>
        </p:spPr>
        <p:txBody>
          <a:bodyPr vert="horz" wrap="square" lIns="91440" tIns="45720" rIns="91440" bIns="45720" anchor="t" anchorCtr="0"/>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lang="zh-CN" altLang="en-US" sz="2800" noProof="0" dirty="0" smtClean="0">
                <a:ln>
                  <a:noFill/>
                </a:ln>
                <a:effectLst/>
                <a:uLnTx/>
                <a:uFillTx/>
                <a:cs typeface="+mn-cs"/>
                <a:sym typeface="+mn-ea"/>
              </a:rPr>
              <a:t>第二步：</a:t>
            </a:r>
            <a:r>
              <a:rPr lang="zh-CN" altLang="en-US" sz="2800" noProof="0" dirty="0" smtClean="0">
                <a:ln>
                  <a:noFill/>
                </a:ln>
                <a:solidFill>
                  <a:srgbClr val="FF0000"/>
                </a:solidFill>
                <a:effectLst/>
                <a:uLnTx/>
                <a:uFillTx/>
                <a:cs typeface="+mn-cs"/>
                <a:sym typeface="+mn-ea"/>
              </a:rPr>
              <a:t>修改和重构，消除冗余</a:t>
            </a:r>
            <a:r>
              <a:rPr lang="zh-CN" altLang="en-US" sz="2800" noProof="0" dirty="0" smtClean="0">
                <a:ln>
                  <a:noFill/>
                </a:ln>
                <a:effectLst/>
                <a:uLnTx/>
                <a:uFillTx/>
                <a:cs typeface="+mn-cs"/>
                <a:sym typeface="+mn-ea"/>
              </a:rPr>
              <a:t>，生成基本</a:t>
            </a:r>
            <a:r>
              <a:rPr lang="en-US" altLang="zh-CN" sz="2800" noProof="0" dirty="0" smtClean="0">
                <a:ln>
                  <a:noFill/>
                </a:ln>
                <a:effectLst/>
                <a:uLnTx/>
                <a:uFillTx/>
                <a:cs typeface="+mn-cs"/>
                <a:sym typeface="+mn-ea"/>
              </a:rPr>
              <a:t>E-R</a:t>
            </a:r>
            <a:r>
              <a:rPr lang="zh-CN" altLang="en-US" sz="2800" noProof="0" dirty="0" smtClean="0">
                <a:ln>
                  <a:noFill/>
                </a:ln>
                <a:effectLst/>
                <a:uLnTx/>
                <a:uFillTx/>
                <a:cs typeface="+mn-cs"/>
                <a:sym typeface="+mn-ea"/>
              </a:rPr>
              <a:t>图</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latinLnBrk="0">
              <a:lnSpc>
                <a:spcPct val="150000"/>
              </a:lnSpc>
              <a:spcBef>
                <a:spcPts val="0"/>
              </a:spcBef>
              <a:spcAft>
                <a:spcPct val="0"/>
              </a:spcAft>
              <a:buClr>
                <a:schemeClr val="accent2"/>
              </a:buClr>
              <a:buSzTx/>
              <a:buFont typeface="Wingdings" panose="05000000000000000000" pitchFamily="2" charset="2"/>
              <a:buChar char="n"/>
              <a:defRPr/>
            </a:pPr>
            <a:r>
              <a:rPr lang="zh-CN" altLang="en-US" sz="2800" noProof="0" dirty="0" smtClean="0">
                <a:ln>
                  <a:noFill/>
                </a:ln>
                <a:effectLst/>
                <a:uLnTx/>
                <a:uFillTx/>
                <a:cs typeface="+mn-cs"/>
                <a:sym typeface="+mn-ea"/>
              </a:rPr>
              <a:t>数据的冗余（冗余属性等）</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latinLnBrk="0">
              <a:lnSpc>
                <a:spcPct val="150000"/>
              </a:lnSpc>
              <a:spcBef>
                <a:spcPts val="0"/>
              </a:spcBef>
              <a:spcAft>
                <a:spcPct val="0"/>
              </a:spcAft>
              <a:buClr>
                <a:schemeClr val="accent2"/>
              </a:buClr>
              <a:buSzTx/>
              <a:buFont typeface="Wingdings" panose="05000000000000000000" pitchFamily="2" charset="2"/>
              <a:buChar char="n"/>
              <a:defRPr/>
            </a:pPr>
            <a:r>
              <a:rPr lang="zh-CN" altLang="en-US" sz="2800" noProof="0" dirty="0" smtClean="0">
                <a:ln>
                  <a:noFill/>
                </a:ln>
                <a:effectLst/>
                <a:uLnTx/>
                <a:uFillTx/>
                <a:cs typeface="+mn-cs"/>
                <a:sym typeface="+mn-ea"/>
              </a:rPr>
              <a:t>实体间</a:t>
            </a:r>
            <a:r>
              <a:rPr lang="zh-CN" altLang="en-US" sz="2800" noProof="0" dirty="0" smtClean="0">
                <a:ln>
                  <a:noFill/>
                </a:ln>
                <a:solidFill>
                  <a:srgbClr val="FF0000"/>
                </a:solidFill>
                <a:effectLst/>
                <a:uLnTx/>
                <a:uFillTx/>
                <a:cs typeface="+mn-cs"/>
                <a:sym typeface="+mn-ea"/>
              </a:rPr>
              <a:t>冗余的联系</a:t>
            </a:r>
            <a:endParaRPr kumimoji="0" lang="en-US" altLang="zh-CN" sz="2800" b="0" i="0" u="none" strike="noStrike" kern="0" cap="none" spc="0" normalizeH="0" baseline="0" noProof="0" dirty="0" smtClean="0">
              <a:ln>
                <a:noFill/>
              </a:ln>
              <a:solidFill>
                <a:srgbClr val="FF0000"/>
              </a:solidFill>
              <a:effectLst/>
              <a:uLnTx/>
              <a:uFillTx/>
              <a:latin typeface="+mn-lt"/>
              <a:ea typeface="+mn-ea"/>
              <a:cs typeface="+mn-cs"/>
            </a:endParaRPr>
          </a:p>
          <a:p>
            <a:pPr marL="0" marR="0" lvl="0" indent="0" algn="l" defTabSz="914400" rtl="0" latinLnBrk="0">
              <a:lnSpc>
                <a:spcPct val="150000"/>
              </a:lnSpc>
              <a:spcBef>
                <a:spcPts val="0"/>
              </a:spcBef>
              <a:spcAft>
                <a:spcPct val="0"/>
              </a:spcAft>
              <a:buClr>
                <a:schemeClr val="accent2"/>
              </a:buClr>
              <a:buSzTx/>
              <a:buFont typeface="Wingdings" panose="05000000000000000000" pitchFamily="2" charset="2"/>
              <a:buNone/>
              <a:defRPr/>
            </a:pPr>
            <a:r>
              <a:rPr lang="zh-CN" altLang="en-US" sz="2800" b="1" noProof="0" dirty="0" smtClean="0">
                <a:ln>
                  <a:noFill/>
                </a:ln>
                <a:solidFill>
                  <a:srgbClr val="FF0000"/>
                </a:solidFill>
                <a:effectLst/>
                <a:uLnTx/>
                <a:uFillTx/>
                <a:cs typeface="+mn-cs"/>
                <a:sym typeface="+mn-ea"/>
              </a:rPr>
              <a:t>注</a:t>
            </a:r>
            <a:r>
              <a:rPr lang="zh-CN" altLang="en-US" sz="2800" noProof="0" dirty="0" smtClean="0">
                <a:ln>
                  <a:noFill/>
                </a:ln>
                <a:effectLst/>
                <a:uLnTx/>
                <a:uFillTx/>
                <a:cs typeface="+mn-cs"/>
                <a:sym typeface="+mn-ea"/>
              </a:rPr>
              <a:t>：并不是所有的冗余数据和冗余联系都必须消除，有时为了</a:t>
            </a:r>
            <a:r>
              <a:rPr lang="zh-CN" altLang="en-US" sz="2800" b="1" noProof="0" dirty="0" smtClean="0">
                <a:ln>
                  <a:noFill/>
                </a:ln>
                <a:solidFill>
                  <a:srgbClr val="FF0000"/>
                </a:solidFill>
                <a:effectLst/>
                <a:uLnTx/>
                <a:uFillTx/>
                <a:cs typeface="+mn-cs"/>
                <a:sym typeface="+mn-ea"/>
              </a:rPr>
              <a:t>效率</a:t>
            </a:r>
            <a:r>
              <a:rPr lang="zh-CN" altLang="en-US" sz="2800" noProof="0" dirty="0" smtClean="0">
                <a:ln>
                  <a:noFill/>
                </a:ln>
                <a:effectLst/>
                <a:uLnTx/>
                <a:uFillTx/>
                <a:cs typeface="+mn-cs"/>
                <a:sym typeface="+mn-ea"/>
              </a:rPr>
              <a:t>，不得不</a:t>
            </a:r>
            <a:r>
              <a:rPr lang="zh-CN" altLang="en-US" sz="2800" b="1" noProof="0" dirty="0" smtClean="0">
                <a:ln>
                  <a:noFill/>
                </a:ln>
                <a:solidFill>
                  <a:srgbClr val="FF0000"/>
                </a:solidFill>
                <a:effectLst/>
                <a:uLnTx/>
                <a:uFillTx/>
                <a:cs typeface="+mn-cs"/>
                <a:sym typeface="+mn-ea"/>
              </a:rPr>
              <a:t>以冗余信息作为代价</a:t>
            </a:r>
            <a:r>
              <a:rPr lang="zh-CN" altLang="en-US" sz="2800" noProof="0" dirty="0" smtClean="0">
                <a:ln>
                  <a:noFill/>
                </a:ln>
                <a:effectLst/>
                <a:uLnTx/>
                <a:uFillTx/>
                <a:cs typeface="+mn-cs"/>
                <a:sym typeface="+mn-ea"/>
              </a:rPr>
              <a:t>。</a:t>
            </a:r>
          </a:p>
        </p:txBody>
      </p:sp>
    </p:spTree>
  </p:cSld>
  <p:clrMapOvr>
    <a:masterClrMapping/>
  </p:clrMapOvr>
  <p:transition advClick="0"/>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p:cNvSpPr>
            <a:spLocks noGrp="1"/>
          </p:cNvSpPr>
          <p:nvPr>
            <p:ph type="title"/>
          </p:nvPr>
        </p:nvSpPr>
        <p:spPr/>
        <p:txBody>
          <a:bodyPr vert="horz" wrap="square" lIns="91440" tIns="45720" rIns="91440" bIns="45720" anchor="b" anchorCtr="0"/>
          <a:lstStyle/>
          <a:p>
            <a:r>
              <a:rPr lang="zh-CN" altLang="en-US" dirty="0" smtClean="0"/>
              <a:t>冗余举例：</a:t>
            </a:r>
            <a:endParaRPr lang="zh-CN" altLang="en-US" dirty="0"/>
          </a:p>
        </p:txBody>
      </p:sp>
      <p:pic>
        <p:nvPicPr>
          <p:cNvPr id="3" name="内容占位符 2"/>
          <p:cNvPicPr>
            <a:picLocks noGrp="1" noChangeAspect="1"/>
          </p:cNvPicPr>
          <p:nvPr>
            <p:ph idx="1"/>
          </p:nvPr>
        </p:nvPicPr>
        <p:blipFill>
          <a:blip r:embed="rId2"/>
          <a:stretch>
            <a:fillRect/>
          </a:stretch>
        </p:blipFill>
        <p:spPr>
          <a:xfrm>
            <a:off x="622935" y="1196340"/>
            <a:ext cx="5693410" cy="4912995"/>
          </a:xfrm>
          <a:prstGeom prst="rect">
            <a:avLst/>
          </a:prstGeom>
        </p:spPr>
      </p:pic>
      <p:sp>
        <p:nvSpPr>
          <p:cNvPr id="4" name="文本框 3"/>
          <p:cNvSpPr txBox="1"/>
          <p:nvPr/>
        </p:nvSpPr>
        <p:spPr>
          <a:xfrm>
            <a:off x="5087888" y="4293096"/>
            <a:ext cx="6624736" cy="1384995"/>
          </a:xfrm>
          <a:prstGeom prst="rect">
            <a:avLst/>
          </a:prstGeom>
          <a:noFill/>
        </p:spPr>
        <p:txBody>
          <a:bodyPr wrap="square" rtlCol="0" anchor="t">
            <a:spAutoFit/>
          </a:bodyPr>
          <a:lstStyle/>
          <a:p>
            <a:pPr>
              <a:lnSpc>
                <a:spcPct val="150000"/>
              </a:lnSpc>
            </a:pPr>
            <a:r>
              <a:rPr lang="zh-CN" altLang="en-US" sz="2800" noProof="0" dirty="0" smtClean="0">
                <a:ln>
                  <a:noFill/>
                </a:ln>
                <a:solidFill>
                  <a:srgbClr val="FF0000"/>
                </a:solidFill>
                <a:effectLst/>
                <a:uLnTx/>
                <a:uFillTx/>
                <a:sym typeface="+mn-ea"/>
              </a:rPr>
              <a:t>冗余联系</a:t>
            </a:r>
            <a:r>
              <a:rPr lang="zh-CN" altLang="en-US" sz="2800" noProof="0" dirty="0" smtClean="0">
                <a:ln>
                  <a:noFill/>
                </a:ln>
                <a:effectLst/>
                <a:uLnTx/>
                <a:uFillTx/>
                <a:sym typeface="+mn-ea"/>
              </a:rPr>
              <a:t>：已修，可以删除</a:t>
            </a:r>
            <a:r>
              <a:rPr lang="zh-CN" altLang="en-US" sz="2800" noProof="0" dirty="0" smtClean="0">
                <a:ln>
                  <a:noFill/>
                </a:ln>
                <a:effectLst/>
                <a:uLnTx/>
                <a:uFillTx/>
                <a:sym typeface="+mn-ea"/>
              </a:rPr>
              <a:t>；也可以保留。</a:t>
            </a:r>
            <a:endParaRPr lang="zh-CN" altLang="en-US" sz="2800" noProof="0" dirty="0" smtClean="0">
              <a:ln>
                <a:noFill/>
              </a:ln>
              <a:effectLst/>
              <a:uLnTx/>
              <a:uFillTx/>
              <a:sym typeface="+mn-ea"/>
            </a:endParaRPr>
          </a:p>
          <a:p>
            <a:pPr>
              <a:lnSpc>
                <a:spcPct val="150000"/>
              </a:lnSpc>
            </a:pPr>
            <a:r>
              <a:rPr lang="zh-CN" altLang="en-US" sz="2800" noProof="0" dirty="0" smtClean="0">
                <a:ln>
                  <a:noFill/>
                </a:ln>
                <a:solidFill>
                  <a:srgbClr val="FF0000"/>
                </a:solidFill>
                <a:effectLst/>
                <a:uLnTx/>
                <a:uFillTx/>
                <a:sym typeface="+mn-ea"/>
              </a:rPr>
              <a:t>冗余属性</a:t>
            </a:r>
            <a:r>
              <a:rPr lang="zh-CN" altLang="en-US" sz="2800" noProof="0" dirty="0" smtClean="0">
                <a:ln>
                  <a:noFill/>
                </a:ln>
                <a:effectLst/>
                <a:uLnTx/>
                <a:uFillTx/>
                <a:sym typeface="+mn-ea"/>
              </a:rPr>
              <a:t>：已修课程学分，可以保留。</a:t>
            </a:r>
          </a:p>
        </p:txBody>
      </p:sp>
    </p:spTree>
  </p:cSld>
  <p:clrMapOvr>
    <a:masterClrMapping/>
  </p:clrMapOvr>
  <p:transition advClick="0"/>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p:cNvSpPr>
            <a:spLocks noGrp="1"/>
          </p:cNvSpPr>
          <p:nvPr>
            <p:ph type="title"/>
          </p:nvPr>
        </p:nvSpPr>
        <p:spPr/>
        <p:txBody>
          <a:bodyPr vert="horz" wrap="square" lIns="91440" tIns="45720" rIns="91440" bIns="45720" anchor="b" anchorCtr="0"/>
          <a:lstStyle/>
          <a:p>
            <a:r>
              <a:rPr lang="zh-CN" altLang="en-US" dirty="0"/>
              <a:t>合并</a:t>
            </a:r>
          </a:p>
        </p:txBody>
      </p:sp>
      <p:pic>
        <p:nvPicPr>
          <p:cNvPr id="5" name="图片 4"/>
          <p:cNvPicPr>
            <a:picLocks noChangeAspect="1"/>
          </p:cNvPicPr>
          <p:nvPr/>
        </p:nvPicPr>
        <p:blipFill>
          <a:blip r:embed="rId2"/>
          <a:stretch>
            <a:fillRect/>
          </a:stretch>
        </p:blipFill>
        <p:spPr>
          <a:xfrm>
            <a:off x="3215640" y="188595"/>
            <a:ext cx="7319010" cy="6512560"/>
          </a:xfrm>
          <a:prstGeom prst="rect">
            <a:avLst/>
          </a:prstGeom>
        </p:spPr>
      </p:pic>
    </p:spTree>
  </p:cSld>
  <p:clrMapOvr>
    <a:masterClrMapping/>
  </p:clrMapOvr>
  <p:transition advClick="0"/>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67408" y="1083468"/>
            <a:ext cx="10441159" cy="5081836"/>
            <a:chOff x="1050925" y="879872"/>
            <a:chExt cx="7018338" cy="2616994"/>
          </a:xfrm>
        </p:grpSpPr>
        <p:sp>
          <p:nvSpPr>
            <p:cNvPr id="3" name="Line 73"/>
            <p:cNvSpPr/>
            <p:nvPr/>
          </p:nvSpPr>
          <p:spPr>
            <a:xfrm>
              <a:off x="1651000" y="2888456"/>
              <a:ext cx="0" cy="215504"/>
            </a:xfrm>
            <a:prstGeom prst="line">
              <a:avLst/>
            </a:prstGeom>
            <a:ln w="9525" cap="flat" cmpd="sng">
              <a:solidFill>
                <a:schemeClr val="tx1"/>
              </a:solidFill>
              <a:prstDash val="solid"/>
              <a:headEnd type="none" w="med" len="med"/>
              <a:tailEnd type="none" w="med" len="med"/>
            </a:ln>
          </p:spPr>
        </p:sp>
        <p:sp>
          <p:nvSpPr>
            <p:cNvPr id="4" name="Line 65"/>
            <p:cNvSpPr/>
            <p:nvPr/>
          </p:nvSpPr>
          <p:spPr>
            <a:xfrm>
              <a:off x="4818063" y="1760934"/>
              <a:ext cx="0" cy="403622"/>
            </a:xfrm>
            <a:prstGeom prst="line">
              <a:avLst/>
            </a:prstGeom>
            <a:ln w="9525" cap="flat" cmpd="sng">
              <a:solidFill>
                <a:schemeClr val="tx1"/>
              </a:solidFill>
              <a:prstDash val="solid"/>
              <a:headEnd type="none" w="med" len="med"/>
              <a:tailEnd type="none" w="med" len="med"/>
            </a:ln>
          </p:spPr>
        </p:sp>
        <p:sp>
          <p:nvSpPr>
            <p:cNvPr id="5" name="Rectangle 9"/>
            <p:cNvSpPr/>
            <p:nvPr/>
          </p:nvSpPr>
          <p:spPr>
            <a:xfrm>
              <a:off x="4481513" y="2055019"/>
              <a:ext cx="792162"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商品</a:t>
              </a:r>
            </a:p>
          </p:txBody>
        </p:sp>
        <p:sp>
          <p:nvSpPr>
            <p:cNvPr id="6" name="Rectangle 10"/>
            <p:cNvSpPr/>
            <p:nvPr/>
          </p:nvSpPr>
          <p:spPr>
            <a:xfrm>
              <a:off x="1385888" y="2055019"/>
              <a:ext cx="792162"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客户</a:t>
              </a:r>
            </a:p>
          </p:txBody>
        </p:sp>
        <p:sp>
          <p:nvSpPr>
            <p:cNvPr id="7" name="Rectangle 12"/>
            <p:cNvSpPr/>
            <p:nvPr/>
          </p:nvSpPr>
          <p:spPr>
            <a:xfrm>
              <a:off x="4410076" y="3189685"/>
              <a:ext cx="936625"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商品类别</a:t>
              </a:r>
            </a:p>
          </p:txBody>
        </p:sp>
        <p:sp>
          <p:nvSpPr>
            <p:cNvPr id="8" name="AutoShape 26"/>
            <p:cNvSpPr/>
            <p:nvPr/>
          </p:nvSpPr>
          <p:spPr>
            <a:xfrm>
              <a:off x="4359276" y="2595562"/>
              <a:ext cx="1058863" cy="377429"/>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分类</a:t>
              </a:r>
            </a:p>
          </p:txBody>
        </p:sp>
        <p:sp>
          <p:nvSpPr>
            <p:cNvPr id="9" name="Line 27"/>
            <p:cNvSpPr/>
            <p:nvPr/>
          </p:nvSpPr>
          <p:spPr>
            <a:xfrm>
              <a:off x="4873625" y="2972991"/>
              <a:ext cx="0" cy="215503"/>
            </a:xfrm>
            <a:prstGeom prst="line">
              <a:avLst/>
            </a:prstGeom>
            <a:ln w="9525" cap="flat" cmpd="sng">
              <a:solidFill>
                <a:schemeClr val="tx1"/>
              </a:solidFill>
              <a:prstDash val="solid"/>
              <a:headEnd type="none" w="med" len="med"/>
              <a:tailEnd type="none" w="med" len="med"/>
            </a:ln>
          </p:spPr>
        </p:sp>
        <p:sp>
          <p:nvSpPr>
            <p:cNvPr id="10" name="Line 28"/>
            <p:cNvSpPr/>
            <p:nvPr/>
          </p:nvSpPr>
          <p:spPr>
            <a:xfrm>
              <a:off x="4902200" y="2325292"/>
              <a:ext cx="0" cy="269081"/>
            </a:xfrm>
            <a:prstGeom prst="line">
              <a:avLst/>
            </a:prstGeom>
            <a:ln w="9525" cap="flat" cmpd="sng">
              <a:solidFill>
                <a:schemeClr val="tx1"/>
              </a:solidFill>
              <a:prstDash val="solid"/>
              <a:headEnd type="none" w="med" len="med"/>
              <a:tailEnd type="none" w="med" len="med"/>
            </a:ln>
          </p:spPr>
        </p:sp>
        <p:sp>
          <p:nvSpPr>
            <p:cNvPr id="11" name="Text Box 29"/>
            <p:cNvSpPr txBox="1"/>
            <p:nvPr/>
          </p:nvSpPr>
          <p:spPr>
            <a:xfrm>
              <a:off x="4913314" y="2378869"/>
              <a:ext cx="287337"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p>
          </p:txBody>
        </p:sp>
        <p:sp>
          <p:nvSpPr>
            <p:cNvPr id="12" name="Text Box 30"/>
            <p:cNvSpPr txBox="1"/>
            <p:nvPr/>
          </p:nvSpPr>
          <p:spPr>
            <a:xfrm>
              <a:off x="4913314" y="2918222"/>
              <a:ext cx="287337"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p>
          </p:txBody>
        </p:sp>
        <p:sp>
          <p:nvSpPr>
            <p:cNvPr id="13" name="Line 37"/>
            <p:cNvSpPr/>
            <p:nvPr/>
          </p:nvSpPr>
          <p:spPr>
            <a:xfrm>
              <a:off x="3854451" y="2165747"/>
              <a:ext cx="720725" cy="0"/>
            </a:xfrm>
            <a:prstGeom prst="line">
              <a:avLst/>
            </a:prstGeom>
            <a:ln w="9525" cap="flat" cmpd="sng">
              <a:solidFill>
                <a:schemeClr val="tx1"/>
              </a:solidFill>
              <a:prstDash val="solid"/>
              <a:headEnd type="none" w="med" len="med"/>
              <a:tailEnd type="none" w="med" len="med"/>
            </a:ln>
          </p:spPr>
        </p:sp>
        <p:sp>
          <p:nvSpPr>
            <p:cNvPr id="14" name="Text Box 39"/>
            <p:cNvSpPr txBox="1"/>
            <p:nvPr/>
          </p:nvSpPr>
          <p:spPr>
            <a:xfrm>
              <a:off x="4797425" y="1185862"/>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m</a:t>
              </a:r>
            </a:p>
          </p:txBody>
        </p:sp>
        <p:sp>
          <p:nvSpPr>
            <p:cNvPr id="15" name="Text Box 40"/>
            <p:cNvSpPr txBox="1"/>
            <p:nvPr/>
          </p:nvSpPr>
          <p:spPr>
            <a:xfrm>
              <a:off x="6786564" y="1947862"/>
              <a:ext cx="287337"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p>
          </p:txBody>
        </p:sp>
        <p:sp>
          <p:nvSpPr>
            <p:cNvPr id="16" name="AutoShape 54"/>
            <p:cNvSpPr/>
            <p:nvPr/>
          </p:nvSpPr>
          <p:spPr>
            <a:xfrm>
              <a:off x="5651501" y="2014537"/>
              <a:ext cx="1135063" cy="377429"/>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供应</a:t>
              </a:r>
            </a:p>
          </p:txBody>
        </p:sp>
        <p:sp>
          <p:nvSpPr>
            <p:cNvPr id="17" name="Rectangle 55"/>
            <p:cNvSpPr/>
            <p:nvPr/>
          </p:nvSpPr>
          <p:spPr>
            <a:xfrm>
              <a:off x="7078663" y="2055019"/>
              <a:ext cx="990600"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生产厂商</a:t>
              </a:r>
            </a:p>
          </p:txBody>
        </p:sp>
        <p:sp>
          <p:nvSpPr>
            <p:cNvPr id="18" name="Line 56"/>
            <p:cNvSpPr/>
            <p:nvPr/>
          </p:nvSpPr>
          <p:spPr>
            <a:xfrm flipH="1">
              <a:off x="5273676" y="2208610"/>
              <a:ext cx="377825" cy="9525"/>
            </a:xfrm>
            <a:prstGeom prst="line">
              <a:avLst/>
            </a:prstGeom>
            <a:ln w="9525" cap="flat" cmpd="sng">
              <a:solidFill>
                <a:schemeClr val="tx1"/>
              </a:solidFill>
              <a:prstDash val="solid"/>
              <a:headEnd type="none" w="med" len="med"/>
              <a:tailEnd type="none" w="med" len="med"/>
            </a:ln>
          </p:spPr>
        </p:sp>
        <p:sp>
          <p:nvSpPr>
            <p:cNvPr id="19" name="Line 57"/>
            <p:cNvSpPr/>
            <p:nvPr/>
          </p:nvSpPr>
          <p:spPr>
            <a:xfrm flipH="1">
              <a:off x="6786564" y="2208610"/>
              <a:ext cx="287337" cy="0"/>
            </a:xfrm>
            <a:prstGeom prst="line">
              <a:avLst/>
            </a:prstGeom>
            <a:ln w="9525" cap="flat" cmpd="sng">
              <a:solidFill>
                <a:schemeClr val="tx1"/>
              </a:solidFill>
              <a:prstDash val="solid"/>
              <a:headEnd type="none" w="med" len="med"/>
              <a:tailEnd type="none" w="med" len="med"/>
            </a:ln>
          </p:spPr>
        </p:sp>
        <p:sp>
          <p:nvSpPr>
            <p:cNvPr id="20" name="Text Box 58"/>
            <p:cNvSpPr txBox="1"/>
            <p:nvPr/>
          </p:nvSpPr>
          <p:spPr>
            <a:xfrm>
              <a:off x="5273675" y="1947862"/>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m</a:t>
              </a:r>
            </a:p>
          </p:txBody>
        </p:sp>
        <p:sp>
          <p:nvSpPr>
            <p:cNvPr id="21" name="Line 59"/>
            <p:cNvSpPr/>
            <p:nvPr/>
          </p:nvSpPr>
          <p:spPr>
            <a:xfrm flipH="1">
              <a:off x="2184401" y="1077516"/>
              <a:ext cx="385763" cy="0"/>
            </a:xfrm>
            <a:prstGeom prst="line">
              <a:avLst/>
            </a:prstGeom>
            <a:ln w="9525" cap="flat" cmpd="sng">
              <a:solidFill>
                <a:schemeClr val="tx1"/>
              </a:solidFill>
              <a:prstDash val="solid"/>
              <a:headEnd type="none" w="med" len="med"/>
              <a:tailEnd type="none" w="med" len="med"/>
            </a:ln>
          </p:spPr>
        </p:sp>
        <p:sp>
          <p:nvSpPr>
            <p:cNvPr id="22" name="Line 62"/>
            <p:cNvSpPr/>
            <p:nvPr/>
          </p:nvSpPr>
          <p:spPr>
            <a:xfrm flipV="1">
              <a:off x="3522663" y="1151335"/>
              <a:ext cx="912812" cy="475059"/>
            </a:xfrm>
            <a:prstGeom prst="line">
              <a:avLst/>
            </a:prstGeom>
            <a:ln w="9525" cap="flat" cmpd="sng">
              <a:solidFill>
                <a:schemeClr val="tx1"/>
              </a:solidFill>
              <a:prstDash val="solid"/>
              <a:headEnd type="none" w="med" len="med"/>
              <a:tailEnd type="none" w="med" len="med"/>
            </a:ln>
          </p:spPr>
        </p:sp>
        <p:sp>
          <p:nvSpPr>
            <p:cNvPr id="23" name="Line 63"/>
            <p:cNvSpPr/>
            <p:nvPr/>
          </p:nvSpPr>
          <p:spPr>
            <a:xfrm flipV="1">
              <a:off x="2159000" y="1618060"/>
              <a:ext cx="331788" cy="456009"/>
            </a:xfrm>
            <a:prstGeom prst="line">
              <a:avLst/>
            </a:prstGeom>
            <a:ln w="9525" cap="flat" cmpd="sng">
              <a:solidFill>
                <a:schemeClr val="tx1"/>
              </a:solidFill>
              <a:prstDash val="solid"/>
              <a:headEnd type="none" w="med" len="med"/>
              <a:tailEnd type="none" w="med" len="med"/>
            </a:ln>
          </p:spPr>
        </p:sp>
        <p:sp>
          <p:nvSpPr>
            <p:cNvPr id="24" name="AutoShape 64"/>
            <p:cNvSpPr/>
            <p:nvPr/>
          </p:nvSpPr>
          <p:spPr>
            <a:xfrm>
              <a:off x="2735264" y="1977629"/>
              <a:ext cx="1152525" cy="377428"/>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评论</a:t>
              </a:r>
            </a:p>
          </p:txBody>
        </p:sp>
        <p:sp>
          <p:nvSpPr>
            <p:cNvPr id="25" name="Line 66"/>
            <p:cNvSpPr/>
            <p:nvPr/>
          </p:nvSpPr>
          <p:spPr>
            <a:xfrm>
              <a:off x="2178051" y="2164556"/>
              <a:ext cx="588963" cy="0"/>
            </a:xfrm>
            <a:prstGeom prst="line">
              <a:avLst/>
            </a:prstGeom>
            <a:ln w="9525" cap="flat" cmpd="sng">
              <a:solidFill>
                <a:schemeClr val="tx1"/>
              </a:solidFill>
              <a:prstDash val="solid"/>
              <a:headEnd type="none" w="med" len="med"/>
              <a:tailEnd type="none" w="med" len="med"/>
            </a:ln>
          </p:spPr>
        </p:sp>
        <p:sp>
          <p:nvSpPr>
            <p:cNvPr id="26" name="Text Box 68"/>
            <p:cNvSpPr txBox="1"/>
            <p:nvPr/>
          </p:nvSpPr>
          <p:spPr>
            <a:xfrm>
              <a:off x="3944939" y="881062"/>
              <a:ext cx="288925"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p>
          </p:txBody>
        </p:sp>
        <p:sp>
          <p:nvSpPr>
            <p:cNvPr id="27" name="Text Box 69"/>
            <p:cNvSpPr txBox="1"/>
            <p:nvPr/>
          </p:nvSpPr>
          <p:spPr>
            <a:xfrm>
              <a:off x="4816476" y="1781175"/>
              <a:ext cx="288925"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p>
          </p:txBody>
        </p:sp>
        <p:sp>
          <p:nvSpPr>
            <p:cNvPr id="28" name="Text Box 70"/>
            <p:cNvSpPr txBox="1"/>
            <p:nvPr/>
          </p:nvSpPr>
          <p:spPr>
            <a:xfrm>
              <a:off x="2205039" y="879872"/>
              <a:ext cx="288925"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p>
          </p:txBody>
        </p:sp>
        <p:sp>
          <p:nvSpPr>
            <p:cNvPr id="29" name="Rectangle 71"/>
            <p:cNvSpPr/>
            <p:nvPr/>
          </p:nvSpPr>
          <p:spPr>
            <a:xfrm>
              <a:off x="1385888" y="975122"/>
              <a:ext cx="792162"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地址</a:t>
              </a:r>
            </a:p>
          </p:txBody>
        </p:sp>
        <p:sp>
          <p:nvSpPr>
            <p:cNvPr id="30" name="AutoShape 72"/>
            <p:cNvSpPr/>
            <p:nvPr/>
          </p:nvSpPr>
          <p:spPr>
            <a:xfrm>
              <a:off x="1125539" y="1460898"/>
              <a:ext cx="1157287" cy="377428"/>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所在</a:t>
              </a:r>
            </a:p>
          </p:txBody>
        </p:sp>
        <p:sp>
          <p:nvSpPr>
            <p:cNvPr id="31" name="Line 73"/>
            <p:cNvSpPr/>
            <p:nvPr/>
          </p:nvSpPr>
          <p:spPr>
            <a:xfrm>
              <a:off x="1744663" y="1839516"/>
              <a:ext cx="0" cy="215503"/>
            </a:xfrm>
            <a:prstGeom prst="line">
              <a:avLst/>
            </a:prstGeom>
            <a:ln w="9525" cap="flat" cmpd="sng">
              <a:solidFill>
                <a:schemeClr val="tx1"/>
              </a:solidFill>
              <a:prstDash val="solid"/>
              <a:headEnd type="none" w="med" len="med"/>
              <a:tailEnd type="none" w="med" len="med"/>
            </a:ln>
          </p:spPr>
        </p:sp>
        <p:sp>
          <p:nvSpPr>
            <p:cNvPr id="32" name="Text Box 74"/>
            <p:cNvSpPr txBox="1"/>
            <p:nvPr/>
          </p:nvSpPr>
          <p:spPr>
            <a:xfrm flipH="1">
              <a:off x="1817689" y="1208485"/>
              <a:ext cx="287337"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p>
          </p:txBody>
        </p:sp>
        <p:sp>
          <p:nvSpPr>
            <p:cNvPr id="33" name="Line 75"/>
            <p:cNvSpPr/>
            <p:nvPr/>
          </p:nvSpPr>
          <p:spPr>
            <a:xfrm>
              <a:off x="1744663" y="1245394"/>
              <a:ext cx="0" cy="215504"/>
            </a:xfrm>
            <a:prstGeom prst="line">
              <a:avLst/>
            </a:prstGeom>
            <a:ln w="9525" cap="flat" cmpd="sng">
              <a:solidFill>
                <a:schemeClr val="tx1"/>
              </a:solidFill>
              <a:prstDash val="solid"/>
              <a:headEnd type="none" w="med" len="med"/>
              <a:tailEnd type="none" w="med" len="med"/>
            </a:ln>
          </p:spPr>
        </p:sp>
        <p:sp>
          <p:nvSpPr>
            <p:cNvPr id="34" name="Text Box 76"/>
            <p:cNvSpPr txBox="1"/>
            <p:nvPr/>
          </p:nvSpPr>
          <p:spPr>
            <a:xfrm flipH="1">
              <a:off x="1817689" y="1785937"/>
              <a:ext cx="287337"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p>
          </p:txBody>
        </p:sp>
        <p:sp>
          <p:nvSpPr>
            <p:cNvPr id="35" name="Rectangle 77"/>
            <p:cNvSpPr/>
            <p:nvPr/>
          </p:nvSpPr>
          <p:spPr>
            <a:xfrm>
              <a:off x="4481513" y="2055019"/>
              <a:ext cx="792162"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商品</a:t>
              </a:r>
            </a:p>
          </p:txBody>
        </p:sp>
        <p:sp>
          <p:nvSpPr>
            <p:cNvPr id="36" name="Text Box 78"/>
            <p:cNvSpPr txBox="1"/>
            <p:nvPr/>
          </p:nvSpPr>
          <p:spPr>
            <a:xfrm>
              <a:off x="5273675" y="1947862"/>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m</a:t>
              </a:r>
            </a:p>
          </p:txBody>
        </p:sp>
        <p:sp>
          <p:nvSpPr>
            <p:cNvPr id="37" name="Text Box 85"/>
            <p:cNvSpPr txBox="1"/>
            <p:nvPr/>
          </p:nvSpPr>
          <p:spPr>
            <a:xfrm flipH="1">
              <a:off x="1817689" y="1785937"/>
              <a:ext cx="287337"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p>
          </p:txBody>
        </p:sp>
        <p:sp>
          <p:nvSpPr>
            <p:cNvPr id="38" name="Text Box 39"/>
            <p:cNvSpPr txBox="1"/>
            <p:nvPr/>
          </p:nvSpPr>
          <p:spPr>
            <a:xfrm>
              <a:off x="2349500" y="2102644"/>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m</a:t>
              </a:r>
            </a:p>
          </p:txBody>
        </p:sp>
        <p:sp>
          <p:nvSpPr>
            <p:cNvPr id="39" name="Line 65"/>
            <p:cNvSpPr/>
            <p:nvPr/>
          </p:nvSpPr>
          <p:spPr>
            <a:xfrm>
              <a:off x="4797425" y="1151335"/>
              <a:ext cx="0" cy="232172"/>
            </a:xfrm>
            <a:prstGeom prst="line">
              <a:avLst/>
            </a:prstGeom>
            <a:ln w="9525" cap="flat" cmpd="sng">
              <a:solidFill>
                <a:schemeClr val="tx1"/>
              </a:solidFill>
              <a:prstDash val="solid"/>
              <a:headEnd type="none" w="med" len="med"/>
              <a:tailEnd type="none" w="med" len="med"/>
            </a:ln>
          </p:spPr>
        </p:sp>
        <p:sp>
          <p:nvSpPr>
            <p:cNvPr id="40" name="Text Box 68"/>
            <p:cNvSpPr txBox="1"/>
            <p:nvPr/>
          </p:nvSpPr>
          <p:spPr>
            <a:xfrm>
              <a:off x="4070351" y="2102644"/>
              <a:ext cx="288925"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p>
          </p:txBody>
        </p:sp>
        <p:sp>
          <p:nvSpPr>
            <p:cNvPr id="41" name="Line 73"/>
            <p:cNvSpPr/>
            <p:nvPr/>
          </p:nvSpPr>
          <p:spPr>
            <a:xfrm>
              <a:off x="1614488" y="2324100"/>
              <a:ext cx="0" cy="215504"/>
            </a:xfrm>
            <a:prstGeom prst="line">
              <a:avLst/>
            </a:prstGeom>
            <a:ln w="9525" cap="flat" cmpd="sng">
              <a:solidFill>
                <a:schemeClr val="tx1"/>
              </a:solidFill>
              <a:prstDash val="solid"/>
              <a:headEnd type="none" w="med" len="med"/>
              <a:tailEnd type="none" w="med" len="med"/>
            </a:ln>
          </p:spPr>
        </p:sp>
        <p:sp>
          <p:nvSpPr>
            <p:cNvPr id="42" name="Rectangle 71"/>
            <p:cNvSpPr/>
            <p:nvPr/>
          </p:nvSpPr>
          <p:spPr>
            <a:xfrm>
              <a:off x="1265238" y="3071813"/>
              <a:ext cx="935037"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客户类别</a:t>
              </a:r>
            </a:p>
          </p:txBody>
        </p:sp>
        <p:sp>
          <p:nvSpPr>
            <p:cNvPr id="43" name="AutoShape 72"/>
            <p:cNvSpPr/>
            <p:nvPr/>
          </p:nvSpPr>
          <p:spPr>
            <a:xfrm>
              <a:off x="1050925" y="2533650"/>
              <a:ext cx="1149350" cy="377429"/>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分类</a:t>
              </a:r>
            </a:p>
          </p:txBody>
        </p:sp>
        <p:sp>
          <p:nvSpPr>
            <p:cNvPr id="44" name="Text Box 85"/>
            <p:cNvSpPr txBox="1"/>
            <p:nvPr/>
          </p:nvSpPr>
          <p:spPr>
            <a:xfrm flipH="1">
              <a:off x="1765300" y="2872978"/>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p>
          </p:txBody>
        </p:sp>
        <p:sp>
          <p:nvSpPr>
            <p:cNvPr id="45" name="Text Box 74"/>
            <p:cNvSpPr txBox="1"/>
            <p:nvPr/>
          </p:nvSpPr>
          <p:spPr>
            <a:xfrm flipH="1">
              <a:off x="1765300" y="2337197"/>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p>
          </p:txBody>
        </p:sp>
        <p:sp>
          <p:nvSpPr>
            <p:cNvPr id="46" name="AutoShape 72"/>
            <p:cNvSpPr/>
            <p:nvPr/>
          </p:nvSpPr>
          <p:spPr>
            <a:xfrm>
              <a:off x="4219576" y="1383506"/>
              <a:ext cx="1223963" cy="377429"/>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包含</a:t>
              </a:r>
            </a:p>
          </p:txBody>
        </p:sp>
        <p:sp>
          <p:nvSpPr>
            <p:cNvPr id="47" name="AutoShape 72"/>
            <p:cNvSpPr/>
            <p:nvPr/>
          </p:nvSpPr>
          <p:spPr>
            <a:xfrm>
              <a:off x="2490789" y="1438275"/>
              <a:ext cx="1031875" cy="377429"/>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拥有</a:t>
              </a:r>
            </a:p>
          </p:txBody>
        </p:sp>
        <p:sp>
          <p:nvSpPr>
            <p:cNvPr id="48" name="Line 59"/>
            <p:cNvSpPr/>
            <p:nvPr/>
          </p:nvSpPr>
          <p:spPr>
            <a:xfrm flipH="1">
              <a:off x="3522663" y="1066800"/>
              <a:ext cx="958850" cy="0"/>
            </a:xfrm>
            <a:prstGeom prst="line">
              <a:avLst/>
            </a:prstGeom>
            <a:ln w="9525" cap="flat" cmpd="sng">
              <a:solidFill>
                <a:schemeClr val="tx1"/>
              </a:solidFill>
              <a:prstDash val="solid"/>
              <a:headEnd type="none" w="med" len="med"/>
              <a:tailEnd type="none" w="med" len="med"/>
            </a:ln>
          </p:spPr>
        </p:sp>
        <p:sp>
          <p:nvSpPr>
            <p:cNvPr id="49" name="AutoShape 72"/>
            <p:cNvSpPr/>
            <p:nvPr/>
          </p:nvSpPr>
          <p:spPr>
            <a:xfrm>
              <a:off x="2563813" y="881062"/>
              <a:ext cx="1223962" cy="377429"/>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对应</a:t>
              </a:r>
            </a:p>
          </p:txBody>
        </p:sp>
        <p:sp>
          <p:nvSpPr>
            <p:cNvPr id="50" name="Rectangle 71"/>
            <p:cNvSpPr/>
            <p:nvPr/>
          </p:nvSpPr>
          <p:spPr>
            <a:xfrm>
              <a:off x="4435476" y="881063"/>
              <a:ext cx="792163"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订单</a:t>
              </a:r>
            </a:p>
          </p:txBody>
        </p:sp>
        <p:sp>
          <p:nvSpPr>
            <p:cNvPr id="51" name="Text Box 39"/>
            <p:cNvSpPr txBox="1"/>
            <p:nvPr/>
          </p:nvSpPr>
          <p:spPr>
            <a:xfrm>
              <a:off x="2282825" y="1781175"/>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p>
          </p:txBody>
        </p:sp>
        <p:sp>
          <p:nvSpPr>
            <p:cNvPr id="52" name="Text Box 69"/>
            <p:cNvSpPr txBox="1"/>
            <p:nvPr/>
          </p:nvSpPr>
          <p:spPr>
            <a:xfrm>
              <a:off x="3708401" y="1245394"/>
              <a:ext cx="288925"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p>
          </p:txBody>
        </p:sp>
        <p:sp>
          <p:nvSpPr>
            <p:cNvPr id="53" name="Rectangle 71"/>
            <p:cNvSpPr/>
            <p:nvPr/>
          </p:nvSpPr>
          <p:spPr>
            <a:xfrm>
              <a:off x="2779713" y="3226594"/>
              <a:ext cx="792162"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购物车</a:t>
              </a:r>
            </a:p>
          </p:txBody>
        </p:sp>
        <p:sp>
          <p:nvSpPr>
            <p:cNvPr id="54" name="AutoShape 72"/>
            <p:cNvSpPr/>
            <p:nvPr/>
          </p:nvSpPr>
          <p:spPr>
            <a:xfrm>
              <a:off x="2284413" y="2557463"/>
              <a:ext cx="965200" cy="361950"/>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属于</a:t>
              </a:r>
            </a:p>
          </p:txBody>
        </p:sp>
        <p:sp>
          <p:nvSpPr>
            <p:cNvPr id="55" name="AutoShape 72"/>
            <p:cNvSpPr/>
            <p:nvPr/>
          </p:nvSpPr>
          <p:spPr>
            <a:xfrm>
              <a:off x="3371850" y="2547938"/>
              <a:ext cx="965200" cy="361950"/>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包含</a:t>
              </a:r>
            </a:p>
          </p:txBody>
        </p:sp>
        <p:sp>
          <p:nvSpPr>
            <p:cNvPr id="56" name="Line 63"/>
            <p:cNvSpPr/>
            <p:nvPr/>
          </p:nvSpPr>
          <p:spPr>
            <a:xfrm flipH="1" flipV="1">
              <a:off x="2187575" y="2324100"/>
              <a:ext cx="579438" cy="233363"/>
            </a:xfrm>
            <a:prstGeom prst="line">
              <a:avLst/>
            </a:prstGeom>
            <a:ln w="9525" cap="flat" cmpd="sng">
              <a:solidFill>
                <a:schemeClr val="tx1"/>
              </a:solidFill>
              <a:prstDash val="solid"/>
              <a:headEnd type="none" w="med" len="med"/>
              <a:tailEnd type="none" w="med" len="med"/>
            </a:ln>
          </p:spPr>
        </p:sp>
        <p:sp>
          <p:nvSpPr>
            <p:cNvPr id="57" name="Line 63"/>
            <p:cNvSpPr/>
            <p:nvPr/>
          </p:nvSpPr>
          <p:spPr>
            <a:xfrm flipH="1" flipV="1">
              <a:off x="2735263" y="2902744"/>
              <a:ext cx="271462" cy="323850"/>
            </a:xfrm>
            <a:prstGeom prst="line">
              <a:avLst/>
            </a:prstGeom>
            <a:ln w="9525" cap="flat" cmpd="sng">
              <a:solidFill>
                <a:schemeClr val="tx1"/>
              </a:solidFill>
              <a:prstDash val="solid"/>
              <a:headEnd type="none" w="med" len="med"/>
              <a:tailEnd type="none" w="med" len="med"/>
            </a:ln>
          </p:spPr>
        </p:sp>
        <p:sp>
          <p:nvSpPr>
            <p:cNvPr id="58" name="Line 63"/>
            <p:cNvSpPr/>
            <p:nvPr/>
          </p:nvSpPr>
          <p:spPr>
            <a:xfrm flipH="1">
              <a:off x="3862389" y="2325291"/>
              <a:ext cx="712787" cy="244078"/>
            </a:xfrm>
            <a:prstGeom prst="line">
              <a:avLst/>
            </a:prstGeom>
            <a:ln w="9525" cap="flat" cmpd="sng">
              <a:solidFill>
                <a:schemeClr val="tx1"/>
              </a:solidFill>
              <a:prstDash val="solid"/>
              <a:headEnd type="none" w="med" len="med"/>
              <a:tailEnd type="none" w="med" len="med"/>
            </a:ln>
          </p:spPr>
        </p:sp>
        <p:sp>
          <p:nvSpPr>
            <p:cNvPr id="59" name="Line 63"/>
            <p:cNvSpPr/>
            <p:nvPr/>
          </p:nvSpPr>
          <p:spPr>
            <a:xfrm flipH="1">
              <a:off x="3557589" y="2902744"/>
              <a:ext cx="295275" cy="323850"/>
            </a:xfrm>
            <a:prstGeom prst="line">
              <a:avLst/>
            </a:prstGeom>
            <a:ln w="9525" cap="flat" cmpd="sng">
              <a:solidFill>
                <a:schemeClr val="tx1"/>
              </a:solidFill>
              <a:prstDash val="solid"/>
              <a:headEnd type="none" w="med" len="med"/>
              <a:tailEnd type="none" w="med" len="med"/>
            </a:ln>
          </p:spPr>
        </p:sp>
        <p:sp>
          <p:nvSpPr>
            <p:cNvPr id="60" name="Text Box 39"/>
            <p:cNvSpPr txBox="1"/>
            <p:nvPr/>
          </p:nvSpPr>
          <p:spPr>
            <a:xfrm>
              <a:off x="2276475" y="2355056"/>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p>
          </p:txBody>
        </p:sp>
        <p:sp>
          <p:nvSpPr>
            <p:cNvPr id="61" name="Text Box 39"/>
            <p:cNvSpPr txBox="1"/>
            <p:nvPr/>
          </p:nvSpPr>
          <p:spPr>
            <a:xfrm>
              <a:off x="2627314" y="2938462"/>
              <a:ext cx="287337"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p>
          </p:txBody>
        </p:sp>
        <p:sp>
          <p:nvSpPr>
            <p:cNvPr id="62" name="Text Box 39"/>
            <p:cNvSpPr txBox="1"/>
            <p:nvPr/>
          </p:nvSpPr>
          <p:spPr>
            <a:xfrm>
              <a:off x="4098925" y="2390775"/>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m</a:t>
              </a:r>
            </a:p>
          </p:txBody>
        </p:sp>
        <p:sp>
          <p:nvSpPr>
            <p:cNvPr id="63" name="Text Box 68"/>
            <p:cNvSpPr txBox="1"/>
            <p:nvPr/>
          </p:nvSpPr>
          <p:spPr>
            <a:xfrm>
              <a:off x="3598864" y="3007519"/>
              <a:ext cx="288925"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p>
          </p:txBody>
        </p:sp>
        <p:sp>
          <p:nvSpPr>
            <p:cNvPr id="64" name="Line 62"/>
            <p:cNvSpPr/>
            <p:nvPr/>
          </p:nvSpPr>
          <p:spPr>
            <a:xfrm flipV="1">
              <a:off x="3286761" y="1151573"/>
              <a:ext cx="1386205" cy="843915"/>
            </a:xfrm>
            <a:prstGeom prst="line">
              <a:avLst/>
            </a:prstGeom>
            <a:ln w="9525" cap="flat" cmpd="sng">
              <a:solidFill>
                <a:schemeClr val="tx1"/>
              </a:solidFill>
              <a:prstDash val="solid"/>
              <a:headEnd type="none" w="med" len="med"/>
              <a:tailEnd type="none" w="med" len="med"/>
            </a:ln>
          </p:spPr>
        </p:sp>
        <p:sp>
          <p:nvSpPr>
            <p:cNvPr id="65" name="Text Box 69"/>
            <p:cNvSpPr txBox="1"/>
            <p:nvPr/>
          </p:nvSpPr>
          <p:spPr>
            <a:xfrm>
              <a:off x="3708401" y="1618298"/>
              <a:ext cx="288925"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p</a:t>
              </a:r>
            </a:p>
          </p:txBody>
        </p:sp>
      </p:grpSp>
      <p:sp>
        <p:nvSpPr>
          <p:cNvPr id="66" name="标题 1"/>
          <p:cNvSpPr txBox="1">
            <a:spLocks/>
          </p:cNvSpPr>
          <p:nvPr/>
        </p:nvSpPr>
        <p:spPr>
          <a:xfrm>
            <a:off x="762000" y="214313"/>
            <a:ext cx="10668000" cy="735012"/>
          </a:xfrm>
          <a:prstGeom prst="rect">
            <a:avLst/>
          </a:prstGeom>
        </p:spPr>
        <p:txBody>
          <a:bodyPr vert="horz" wrap="square" lIns="91440" tIns="45720" rIns="91440" bIns="45720" anchor="b" anchorCtr="0"/>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dirty="0" smtClean="0"/>
              <a:t>购物系统示例</a:t>
            </a:r>
            <a:endParaRPr lang="zh-CN" altLang="en-US" dirty="0"/>
          </a:p>
        </p:txBody>
      </p:sp>
    </p:spTree>
    <p:extLst>
      <p:ext uri="{BB962C8B-B14F-4D97-AF65-F5344CB8AC3E}">
        <p14:creationId xmlns:p14="http://schemas.microsoft.com/office/powerpoint/2010/main" val="921099664"/>
      </p:ext>
    </p:extLst>
  </p:cSld>
  <p:clrMapOvr>
    <a:masterClrMapping/>
  </p:clrMapOvr>
  <p:transition advClick="0"/>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标题 1"/>
          <p:cNvSpPr>
            <a:spLocks noGrp="1"/>
          </p:cNvSpPr>
          <p:nvPr>
            <p:ph type="title"/>
          </p:nvPr>
        </p:nvSpPr>
        <p:spPr/>
        <p:txBody>
          <a:bodyPr vert="horz" wrap="square" lIns="91440" tIns="45720" rIns="91440" bIns="45720" anchor="b" anchorCtr="0"/>
          <a:lstStyle/>
          <a:p>
            <a:r>
              <a:rPr lang="en-US" altLang="zh-CN" dirty="0"/>
              <a:t>7.4 </a:t>
            </a:r>
            <a:r>
              <a:rPr lang="zh-CN" altLang="en-US" dirty="0"/>
              <a:t>逻辑结构设计</a:t>
            </a:r>
          </a:p>
        </p:txBody>
      </p:sp>
      <p:sp>
        <p:nvSpPr>
          <p:cNvPr id="112642" name="内容占位符 2"/>
          <p:cNvSpPr>
            <a:spLocks noGrp="1"/>
          </p:cNvSpPr>
          <p:nvPr>
            <p:ph idx="1"/>
          </p:nvPr>
        </p:nvSpPr>
        <p:spPr/>
        <p:txBody>
          <a:bodyPr vert="horz" wrap="square" lIns="91440" tIns="45720" rIns="91440" bIns="45720" anchor="t" anchorCtr="0"/>
          <a:lstStyle/>
          <a:p>
            <a:r>
              <a:rPr lang="en-US" altLang="zh-CN" dirty="0"/>
              <a:t>7.4.1 E-R</a:t>
            </a:r>
            <a:r>
              <a:rPr lang="zh-CN" altLang="en-US" dirty="0"/>
              <a:t>图向关系模型的转换</a:t>
            </a:r>
            <a:endParaRPr lang="en-US" altLang="zh-CN" dirty="0"/>
          </a:p>
          <a:p>
            <a:r>
              <a:rPr lang="en-US" altLang="zh-CN" dirty="0"/>
              <a:t>7.4.2 </a:t>
            </a:r>
            <a:r>
              <a:rPr lang="zh-CN" altLang="en-US" dirty="0"/>
              <a:t>数据模型的优化</a:t>
            </a:r>
            <a:endParaRPr lang="en-US" altLang="zh-CN" dirty="0"/>
          </a:p>
          <a:p>
            <a:r>
              <a:rPr lang="en-US" altLang="zh-CN" b="1" dirty="0">
                <a:solidFill>
                  <a:srgbClr val="FF0000"/>
                </a:solidFill>
              </a:rPr>
              <a:t>7.4.3 </a:t>
            </a:r>
            <a:r>
              <a:rPr lang="zh-CN" altLang="en-US" b="1" dirty="0">
                <a:solidFill>
                  <a:srgbClr val="FF0000"/>
                </a:solidFill>
              </a:rPr>
              <a:t>设计用户子模式</a:t>
            </a:r>
          </a:p>
          <a:p>
            <a:endParaRPr lang="zh-CN" altLang="en-US" dirty="0"/>
          </a:p>
        </p:txBody>
      </p:sp>
    </p:spTree>
  </p:cSld>
  <p:clrMapOvr>
    <a:masterClrMapping/>
  </p:clrMapOvr>
  <p:transition advClick="0"/>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内容占位符 2"/>
          <p:cNvSpPr>
            <a:spLocks noGrp="1"/>
          </p:cNvSpPr>
          <p:nvPr>
            <p:ph idx="1"/>
          </p:nvPr>
        </p:nvSpPr>
        <p:spPr>
          <a:xfrm>
            <a:off x="701040" y="1196340"/>
            <a:ext cx="10643235" cy="5066665"/>
          </a:xfrm>
        </p:spPr>
        <p:txBody>
          <a:bodyPr vert="horz" wrap="square" lIns="91440" tIns="45720" rIns="91440" bIns="45720" anchor="t" anchorCtr="0"/>
          <a:lstStyle/>
          <a:p>
            <a:r>
              <a:rPr lang="zh-CN" altLang="en-US" sz="2800" dirty="0"/>
              <a:t>定义数据库模式主要是从系统的</a:t>
            </a:r>
            <a:r>
              <a:rPr lang="zh-CN" altLang="en-US" sz="2800" b="1" dirty="0">
                <a:solidFill>
                  <a:srgbClr val="FF0000"/>
                </a:solidFill>
              </a:rPr>
              <a:t>时间效率、空间效率、易维护</a:t>
            </a:r>
            <a:r>
              <a:rPr lang="zh-CN" altLang="en-US" sz="2800" dirty="0"/>
              <a:t>等角度出发。</a:t>
            </a:r>
            <a:endParaRPr lang="en-US" altLang="zh-CN" sz="2800" dirty="0"/>
          </a:p>
          <a:p>
            <a:r>
              <a:rPr lang="zh-CN" altLang="en-US" sz="2800" dirty="0"/>
              <a:t> 定义用户</a:t>
            </a:r>
            <a:r>
              <a:rPr lang="zh-CN" altLang="en-US" sz="2800" b="1" dirty="0">
                <a:solidFill>
                  <a:srgbClr val="FF0000"/>
                </a:solidFill>
              </a:rPr>
              <a:t>外模式</a:t>
            </a:r>
            <a:r>
              <a:rPr lang="zh-CN" altLang="en-US" sz="2800" dirty="0"/>
              <a:t>时应该更注重考虑用户的习惯与方便。包括三个方面：</a:t>
            </a:r>
            <a:endParaRPr lang="en-US" altLang="zh-CN" sz="2800" dirty="0"/>
          </a:p>
          <a:p>
            <a:r>
              <a:rPr lang="zh-CN" altLang="en-US" sz="2400" dirty="0"/>
              <a:t>（</a:t>
            </a:r>
            <a:r>
              <a:rPr lang="en-US" altLang="zh-CN" sz="2400" dirty="0"/>
              <a:t>1</a:t>
            </a:r>
            <a:r>
              <a:rPr lang="zh-CN" altLang="en-US" sz="2400" dirty="0"/>
              <a:t>）使用更符合用户习惯的别名：用</a:t>
            </a:r>
            <a:r>
              <a:rPr lang="zh-CN" altLang="en-US" sz="2400" b="1" dirty="0">
                <a:solidFill>
                  <a:srgbClr val="FF0000"/>
                </a:solidFill>
              </a:rPr>
              <a:t>视图</a:t>
            </a:r>
            <a:r>
              <a:rPr lang="zh-CN" altLang="en-US" sz="2400" dirty="0"/>
              <a:t>机制可以在设计用户视图时可以重新定义某些属性名，使其与用户习惯一致，以方便使用。</a:t>
            </a:r>
            <a:endParaRPr lang="en-US" altLang="zh-CN" sz="2400" dirty="0"/>
          </a:p>
          <a:p>
            <a:r>
              <a:rPr lang="zh-CN" altLang="en-US" sz="2400" dirty="0"/>
              <a:t>（</a:t>
            </a:r>
            <a:r>
              <a:rPr lang="en-US" altLang="zh-CN" sz="2400" dirty="0"/>
              <a:t>2</a:t>
            </a:r>
            <a:r>
              <a:rPr lang="zh-CN" altLang="en-US" sz="2400" dirty="0"/>
              <a:t>）针对不同级别的用户定义不同的视图，以保证系统的安全性。</a:t>
            </a:r>
            <a:endParaRPr lang="en-US" altLang="zh-CN" sz="2400" dirty="0"/>
          </a:p>
          <a:p>
            <a:r>
              <a:rPr lang="zh-CN" altLang="en-US" sz="2400" dirty="0"/>
              <a:t>（</a:t>
            </a:r>
            <a:r>
              <a:rPr lang="en-US" altLang="zh-CN" sz="2400" dirty="0"/>
              <a:t>3</a:t>
            </a:r>
            <a:r>
              <a:rPr lang="zh-CN" altLang="en-US" sz="2400" dirty="0"/>
              <a:t>）简化用户对系统的使用 如果某些局部应用中经常要使用某些很复杂的查询，为了方便用户，可以将这些复杂查询定义为视图。</a:t>
            </a:r>
          </a:p>
        </p:txBody>
      </p:sp>
      <p:sp>
        <p:nvSpPr>
          <p:cNvPr id="113666" name="标题 1"/>
          <p:cNvSpPr>
            <a:spLocks noGrp="1"/>
          </p:cNvSpPr>
          <p:nvPr>
            <p:ph type="title"/>
          </p:nvPr>
        </p:nvSpPr>
        <p:spPr/>
        <p:txBody>
          <a:bodyPr vert="horz" wrap="square" lIns="91440" tIns="45720" rIns="91440" bIns="45720" anchor="b" anchorCtr="0"/>
          <a:lstStyle/>
          <a:p>
            <a:r>
              <a:rPr lang="en-US" altLang="zh-CN" b="1" dirty="0">
                <a:solidFill>
                  <a:srgbClr val="FF0000"/>
                </a:solidFill>
              </a:rPr>
              <a:t>7.4.3 </a:t>
            </a:r>
            <a:r>
              <a:rPr lang="zh-CN" altLang="en-US" b="1" dirty="0">
                <a:solidFill>
                  <a:srgbClr val="FF0000"/>
                </a:solidFill>
              </a:rPr>
              <a:t>设计用户子模式</a:t>
            </a:r>
          </a:p>
        </p:txBody>
      </p:sp>
    </p:spTree>
  </p:cSld>
  <p:clrMapOvr>
    <a:masterClrMapping/>
  </p:clrMapOvr>
  <p:transition advClick="0"/>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标题 1"/>
          <p:cNvSpPr>
            <a:spLocks noGrp="1"/>
          </p:cNvSpPr>
          <p:nvPr>
            <p:ph type="title"/>
          </p:nvPr>
        </p:nvSpPr>
        <p:spPr/>
        <p:txBody>
          <a:bodyPr vert="horz" wrap="square" lIns="91440" tIns="45720" rIns="91440" bIns="45720" anchor="b" anchorCtr="0"/>
          <a:lstStyle/>
          <a:p>
            <a:r>
              <a:rPr lang="zh-CN" altLang="en-US" dirty="0"/>
              <a:t>第七章 数据库设计</a:t>
            </a:r>
          </a:p>
        </p:txBody>
      </p:sp>
      <p:sp>
        <p:nvSpPr>
          <p:cNvPr id="114690" name="内容占位符 2"/>
          <p:cNvSpPr>
            <a:spLocks noGrp="1"/>
          </p:cNvSpPr>
          <p:nvPr>
            <p:ph idx="1"/>
          </p:nvPr>
        </p:nvSpPr>
        <p:spPr/>
        <p:txBody>
          <a:bodyPr vert="horz" wrap="square" lIns="91440" tIns="45720" rIns="91440" bIns="45720" anchor="t" anchorCtr="0"/>
          <a:lstStyle/>
          <a:p>
            <a:r>
              <a:rPr lang="en-US" altLang="zh-CN" dirty="0"/>
              <a:t>7.1 </a:t>
            </a:r>
            <a:r>
              <a:rPr lang="zh-CN" altLang="en-US" dirty="0"/>
              <a:t>数据库设计概述</a:t>
            </a:r>
            <a:endParaRPr lang="en-US" altLang="zh-CN" dirty="0"/>
          </a:p>
          <a:p>
            <a:r>
              <a:rPr lang="en-US" altLang="zh-CN" dirty="0"/>
              <a:t>7.2 </a:t>
            </a:r>
            <a:r>
              <a:rPr lang="zh-CN" altLang="en-US" dirty="0"/>
              <a:t>需求分析</a:t>
            </a:r>
            <a:endParaRPr lang="en-US" altLang="zh-CN" dirty="0"/>
          </a:p>
          <a:p>
            <a:r>
              <a:rPr lang="en-US" altLang="zh-CN" dirty="0"/>
              <a:t>7.3 </a:t>
            </a:r>
            <a:r>
              <a:rPr lang="zh-CN" altLang="en-US" dirty="0"/>
              <a:t>概念结构设计</a:t>
            </a:r>
            <a:endParaRPr lang="en-US" altLang="zh-CN" dirty="0"/>
          </a:p>
          <a:p>
            <a:r>
              <a:rPr lang="en-US" altLang="zh-CN" dirty="0"/>
              <a:t>7.4 </a:t>
            </a:r>
            <a:r>
              <a:rPr lang="zh-CN" altLang="en-US" dirty="0"/>
              <a:t>逻辑结构设计</a:t>
            </a:r>
            <a:endParaRPr lang="en-US" altLang="zh-CN" dirty="0"/>
          </a:p>
          <a:p>
            <a:r>
              <a:rPr lang="en-US" altLang="zh-CN" b="1" dirty="0">
                <a:solidFill>
                  <a:srgbClr val="FF0000"/>
                </a:solidFill>
              </a:rPr>
              <a:t>7.5 </a:t>
            </a:r>
            <a:r>
              <a:rPr lang="zh-CN" altLang="en-US" b="1" dirty="0">
                <a:solidFill>
                  <a:srgbClr val="FF0000"/>
                </a:solidFill>
              </a:rPr>
              <a:t>物理结构设计（不讲）</a:t>
            </a:r>
            <a:endParaRPr lang="en-US" altLang="zh-CN" b="1" dirty="0">
              <a:solidFill>
                <a:srgbClr val="FF0000"/>
              </a:solidFill>
            </a:endParaRPr>
          </a:p>
          <a:p>
            <a:r>
              <a:rPr lang="en-US" altLang="zh-CN" dirty="0"/>
              <a:t>7.6 </a:t>
            </a:r>
            <a:r>
              <a:rPr lang="zh-CN" altLang="en-US" dirty="0"/>
              <a:t>数据库的实施和维护</a:t>
            </a:r>
            <a:r>
              <a:rPr lang="zh-CN" altLang="en-US" b="1" dirty="0">
                <a:solidFill>
                  <a:srgbClr val="FF0000"/>
                </a:solidFill>
                <a:sym typeface="+mn-ea"/>
              </a:rPr>
              <a:t>（不讲）</a:t>
            </a:r>
            <a:endParaRPr lang="en-US" altLang="zh-CN" b="1" dirty="0">
              <a:solidFill>
                <a:srgbClr val="FF0000"/>
              </a:solidFill>
            </a:endParaRPr>
          </a:p>
          <a:p>
            <a:endParaRPr lang="zh-CN" altLang="en-US" dirty="0"/>
          </a:p>
        </p:txBody>
      </p:sp>
    </p:spTree>
  </p:cSld>
  <p:clrMapOvr>
    <a:masterClrMapping/>
  </p:clrMapOvr>
  <p:transition advClick="0"/>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标题 1"/>
          <p:cNvSpPr>
            <a:spLocks noGrp="1"/>
          </p:cNvSpPr>
          <p:nvPr>
            <p:ph type="title"/>
          </p:nvPr>
        </p:nvSpPr>
        <p:spPr/>
        <p:txBody>
          <a:bodyPr vert="horz" wrap="square" lIns="91440" tIns="45720" rIns="91440" bIns="45720" anchor="b" anchorCtr="0"/>
          <a:lstStyle/>
          <a:p>
            <a:r>
              <a:rPr lang="zh-CN" altLang="en-US" dirty="0"/>
              <a:t>什么是数据库的物理设计 </a:t>
            </a:r>
          </a:p>
        </p:txBody>
      </p:sp>
      <p:sp>
        <p:nvSpPr>
          <p:cNvPr id="115714" name="内容占位符 2"/>
          <p:cNvSpPr>
            <a:spLocks noGrp="1"/>
          </p:cNvSpPr>
          <p:nvPr>
            <p:ph idx="1"/>
          </p:nvPr>
        </p:nvSpPr>
        <p:spPr/>
        <p:txBody>
          <a:bodyPr vert="horz" wrap="square" lIns="91440" tIns="45720" rIns="91440" bIns="45720" anchor="t" anchorCtr="0"/>
          <a:lstStyle/>
          <a:p>
            <a:r>
              <a:rPr lang="zh-CN" altLang="en-US" dirty="0"/>
              <a:t>数据库在物理设备上的</a:t>
            </a:r>
            <a:r>
              <a:rPr lang="zh-CN" altLang="en-US" b="1" dirty="0">
                <a:solidFill>
                  <a:srgbClr val="FF0000"/>
                </a:solidFill>
              </a:rPr>
              <a:t>存储结构</a:t>
            </a:r>
            <a:r>
              <a:rPr lang="zh-CN" altLang="en-US" dirty="0"/>
              <a:t>与</a:t>
            </a:r>
            <a:r>
              <a:rPr lang="zh-CN" altLang="en-US" b="1" dirty="0">
                <a:solidFill>
                  <a:srgbClr val="FF0000"/>
                </a:solidFill>
              </a:rPr>
              <a:t>存取方法</a:t>
            </a:r>
            <a:r>
              <a:rPr lang="zh-CN" altLang="en-US" dirty="0"/>
              <a:t>称为数据库的物理结构，它依赖于选定的数据库管理系统。 </a:t>
            </a:r>
            <a:endParaRPr lang="en-US" altLang="zh-CN" dirty="0"/>
          </a:p>
          <a:p>
            <a:r>
              <a:rPr lang="zh-CN" altLang="en-US" dirty="0"/>
              <a:t>为一个给定的逻辑数据模型选取一个最适合应用要求的物理结构的过程，就是数据库的物理设计。</a:t>
            </a:r>
          </a:p>
        </p:txBody>
      </p:sp>
    </p:spTree>
  </p:cSld>
  <p:clrMapOvr>
    <a:masterClrMapping/>
  </p:clrMapOvr>
  <p:transition advClick="0"/>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标题 1"/>
          <p:cNvSpPr>
            <a:spLocks noGrp="1"/>
          </p:cNvSpPr>
          <p:nvPr>
            <p:ph type="title"/>
          </p:nvPr>
        </p:nvSpPr>
        <p:spPr/>
        <p:txBody>
          <a:bodyPr vert="horz" wrap="square" lIns="91440" tIns="45720" rIns="91440" bIns="45720" anchor="b" anchorCtr="0"/>
          <a:lstStyle/>
          <a:p>
            <a:r>
              <a:rPr lang="zh-CN" altLang="en-US" dirty="0"/>
              <a:t>数据库物理设计的步骤  </a:t>
            </a:r>
          </a:p>
        </p:txBody>
      </p:sp>
      <p:sp>
        <p:nvSpPr>
          <p:cNvPr id="116738" name="内容占位符 2"/>
          <p:cNvSpPr>
            <a:spLocks noGrp="1"/>
          </p:cNvSpPr>
          <p:nvPr>
            <p:ph idx="1"/>
          </p:nvPr>
        </p:nvSpPr>
        <p:spPr/>
        <p:txBody>
          <a:bodyPr vert="horz" wrap="square" lIns="91440" tIns="45720" rIns="91440" bIns="45720" anchor="t" anchorCtr="0"/>
          <a:lstStyle/>
          <a:p>
            <a:r>
              <a:rPr lang="zh-CN" altLang="en-US" dirty="0"/>
              <a:t>（</a:t>
            </a:r>
            <a:r>
              <a:rPr lang="en-US" altLang="zh-CN" dirty="0"/>
              <a:t>1</a:t>
            </a:r>
            <a:r>
              <a:rPr lang="zh-CN" altLang="en-US" dirty="0"/>
              <a:t>）确定数据库的物理结构 在关系数据库中主要指</a:t>
            </a:r>
            <a:r>
              <a:rPr lang="zh-CN" altLang="en-US" b="1" dirty="0">
                <a:solidFill>
                  <a:srgbClr val="FF0000"/>
                </a:solidFill>
              </a:rPr>
              <a:t>存取方法</a:t>
            </a:r>
            <a:r>
              <a:rPr lang="zh-CN" altLang="en-US" dirty="0"/>
              <a:t>和</a:t>
            </a:r>
            <a:r>
              <a:rPr lang="zh-CN" altLang="en-US" b="1" dirty="0">
                <a:solidFill>
                  <a:srgbClr val="FF0000"/>
                </a:solidFill>
              </a:rPr>
              <a:t>存储结构</a:t>
            </a:r>
            <a:endParaRPr lang="en-US" altLang="zh-CN" dirty="0">
              <a:solidFill>
                <a:srgbClr val="FF0000"/>
              </a:solidFill>
            </a:endParaRPr>
          </a:p>
          <a:p>
            <a:r>
              <a:rPr lang="zh-CN" altLang="en-US" dirty="0"/>
              <a:t>（</a:t>
            </a:r>
            <a:r>
              <a:rPr lang="en-US" altLang="zh-CN" dirty="0"/>
              <a:t>2</a:t>
            </a:r>
            <a:r>
              <a:rPr lang="zh-CN" altLang="en-US" dirty="0"/>
              <a:t>）对物理结构进行评价 评价的重点是</a:t>
            </a:r>
            <a:r>
              <a:rPr lang="zh-CN" altLang="en-US" b="1" dirty="0">
                <a:solidFill>
                  <a:srgbClr val="FF0000"/>
                </a:solidFill>
              </a:rPr>
              <a:t>时间和空间效率</a:t>
            </a:r>
            <a:r>
              <a:rPr lang="zh-CN" altLang="en-US" dirty="0"/>
              <a:t>  </a:t>
            </a:r>
            <a:endParaRPr lang="en-US" altLang="zh-CN" dirty="0"/>
          </a:p>
          <a:p>
            <a:r>
              <a:rPr lang="zh-CN" altLang="en-US" dirty="0"/>
              <a:t>若评价结果满足原设计要求，则可进入到物理实施阶段。否则，就需要</a:t>
            </a:r>
            <a:r>
              <a:rPr lang="zh-CN" altLang="en-US" dirty="0">
                <a:solidFill>
                  <a:srgbClr val="FF0000"/>
                </a:solidFill>
              </a:rPr>
              <a:t>重新设计或修改物理结构</a:t>
            </a:r>
            <a:r>
              <a:rPr lang="zh-CN" altLang="en-US" dirty="0"/>
              <a:t>，有时甚至要</a:t>
            </a:r>
            <a:r>
              <a:rPr lang="zh-CN" altLang="en-US" dirty="0">
                <a:solidFill>
                  <a:srgbClr val="FF0000"/>
                </a:solidFill>
              </a:rPr>
              <a:t>返回逻辑设计阶段</a:t>
            </a:r>
            <a:r>
              <a:rPr lang="zh-CN" altLang="en-US" dirty="0"/>
              <a:t>修改数据模型。</a:t>
            </a:r>
          </a:p>
        </p:txBody>
      </p:sp>
    </p:spTree>
  </p:cSld>
  <p:clrMapOvr>
    <a:masterClrMapping/>
  </p:clrMapOvr>
  <p:transition advClick="0"/>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标题 1"/>
          <p:cNvSpPr>
            <a:spLocks noGrp="1"/>
          </p:cNvSpPr>
          <p:nvPr>
            <p:ph type="title"/>
          </p:nvPr>
        </p:nvSpPr>
        <p:spPr/>
        <p:txBody>
          <a:bodyPr vert="horz" wrap="square" lIns="91440" tIns="45720" rIns="91440" bIns="45720" anchor="b" anchorCtr="0"/>
          <a:lstStyle/>
          <a:p>
            <a:r>
              <a:rPr lang="zh-CN" altLang="en-US" dirty="0"/>
              <a:t>存取方法</a:t>
            </a:r>
          </a:p>
        </p:txBody>
      </p:sp>
      <p:sp>
        <p:nvSpPr>
          <p:cNvPr id="117762" name="内容占位符 2"/>
          <p:cNvSpPr>
            <a:spLocks noGrp="1"/>
          </p:cNvSpPr>
          <p:nvPr>
            <p:ph idx="1"/>
          </p:nvPr>
        </p:nvSpPr>
        <p:spPr/>
        <p:txBody>
          <a:bodyPr vert="horz" wrap="square" lIns="91440" tIns="45720" rIns="91440" bIns="45720" anchor="t" anchorCtr="0"/>
          <a:lstStyle/>
          <a:p>
            <a:r>
              <a:rPr lang="zh-CN" altLang="en-US" dirty="0"/>
              <a:t>存取方法是快速存取数据库中数据的技术。常用的方法：</a:t>
            </a:r>
            <a:r>
              <a:rPr lang="zh-CN" altLang="en-US" dirty="0">
                <a:solidFill>
                  <a:srgbClr val="FF0000"/>
                </a:solidFill>
              </a:rPr>
              <a:t>索引和聚簇</a:t>
            </a:r>
            <a:endParaRPr lang="en-US" altLang="zh-CN" dirty="0">
              <a:solidFill>
                <a:srgbClr val="FF0000"/>
              </a:solidFill>
            </a:endParaRPr>
          </a:p>
          <a:p>
            <a:r>
              <a:rPr lang="zh-CN" altLang="en-US" dirty="0"/>
              <a:t>数据库管理系统常用存取方法</a:t>
            </a:r>
            <a:endParaRPr lang="en-US" altLang="zh-CN" dirty="0"/>
          </a:p>
          <a:p>
            <a:r>
              <a:rPr lang="en-US" altLang="zh-CN" dirty="0"/>
              <a:t>1. B+</a:t>
            </a:r>
            <a:r>
              <a:rPr lang="zh-CN" altLang="en-US" dirty="0"/>
              <a:t>树索引存取方法</a:t>
            </a:r>
            <a:endParaRPr lang="en-US" altLang="zh-CN" dirty="0"/>
          </a:p>
          <a:p>
            <a:r>
              <a:rPr lang="en-US" altLang="zh-CN" dirty="0"/>
              <a:t>2. Hash</a:t>
            </a:r>
            <a:r>
              <a:rPr lang="zh-CN" altLang="en-US" dirty="0"/>
              <a:t>索引存取方法</a:t>
            </a:r>
            <a:endParaRPr lang="en-US" altLang="zh-CN" dirty="0"/>
          </a:p>
          <a:p>
            <a:r>
              <a:rPr lang="en-US" altLang="zh-CN" dirty="0"/>
              <a:t>3. </a:t>
            </a:r>
            <a:r>
              <a:rPr lang="zh-CN" altLang="en-US" dirty="0"/>
              <a:t>聚簇存取方法</a:t>
            </a:r>
            <a:endParaRPr lang="en-US" altLang="zh-CN" dirty="0"/>
          </a:p>
          <a:p>
            <a:endParaRPr lang="zh-CN" altLang="en-US" dirty="0"/>
          </a:p>
        </p:txBody>
      </p:sp>
    </p:spTree>
  </p:cSld>
  <p:clrMapOvr>
    <a:masterClrMapping/>
  </p:clrMapOvr>
  <p:transition advClick="0"/>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标题 1"/>
          <p:cNvSpPr>
            <a:spLocks noGrp="1"/>
          </p:cNvSpPr>
          <p:nvPr>
            <p:ph type="title"/>
          </p:nvPr>
        </p:nvSpPr>
        <p:spPr/>
        <p:txBody>
          <a:bodyPr vert="horz" wrap="square" lIns="91440" tIns="45720" rIns="91440" bIns="45720" anchor="b" anchorCtr="0"/>
          <a:lstStyle/>
          <a:p>
            <a:r>
              <a:rPr lang="zh-CN" altLang="en-US" dirty="0"/>
              <a:t>存放位置和存储结构</a:t>
            </a:r>
          </a:p>
        </p:txBody>
      </p:sp>
      <p:sp>
        <p:nvSpPr>
          <p:cNvPr id="118786" name="内容占位符 2"/>
          <p:cNvSpPr>
            <a:spLocks noGrp="1"/>
          </p:cNvSpPr>
          <p:nvPr>
            <p:ph idx="1"/>
          </p:nvPr>
        </p:nvSpPr>
        <p:spPr/>
        <p:txBody>
          <a:bodyPr vert="horz" wrap="square" lIns="91440" tIns="45720" rIns="91440" bIns="45720" anchor="t" anchorCtr="0"/>
          <a:lstStyle/>
          <a:p>
            <a:r>
              <a:rPr lang="zh-CN" altLang="en-US" dirty="0"/>
              <a:t>确定数据库</a:t>
            </a:r>
            <a:r>
              <a:rPr lang="zh-CN" altLang="en-US" b="1" dirty="0">
                <a:solidFill>
                  <a:srgbClr val="FF0000"/>
                </a:solidFill>
              </a:rPr>
              <a:t>物理结构</a:t>
            </a:r>
            <a:r>
              <a:rPr lang="zh-CN" altLang="en-US" dirty="0"/>
              <a:t>主要指确定数据的</a:t>
            </a:r>
            <a:r>
              <a:rPr lang="zh-CN" altLang="en-US" b="1" dirty="0">
                <a:solidFill>
                  <a:srgbClr val="FF0000"/>
                </a:solidFill>
              </a:rPr>
              <a:t>存放位置和存储结构</a:t>
            </a:r>
            <a:r>
              <a:rPr lang="zh-CN" altLang="en-US" dirty="0">
                <a:solidFill>
                  <a:srgbClr val="FF0000"/>
                </a:solidFill>
              </a:rPr>
              <a:t>，</a:t>
            </a:r>
            <a:r>
              <a:rPr lang="zh-CN" altLang="en-US" dirty="0"/>
              <a:t>包括：确定关系、索引、聚簇、日志、备份等的存储安排和存储结构，确定系统配置等。 </a:t>
            </a:r>
            <a:endParaRPr lang="en-US" altLang="zh-CN" dirty="0"/>
          </a:p>
          <a:p>
            <a:r>
              <a:rPr lang="zh-CN" altLang="en-US" dirty="0"/>
              <a:t>确定数据的存放位置和存储结构要综合考虑</a:t>
            </a:r>
            <a:r>
              <a:rPr lang="zh-CN" altLang="en-US" b="1" dirty="0">
                <a:solidFill>
                  <a:srgbClr val="FF0000"/>
                </a:solidFill>
              </a:rPr>
              <a:t>存取时间、存储空间利用率和维护代价</a:t>
            </a:r>
            <a:r>
              <a:rPr lang="en-US" altLang="zh-CN" dirty="0"/>
              <a:t>3</a:t>
            </a:r>
            <a:r>
              <a:rPr lang="zh-CN" altLang="en-US" dirty="0"/>
              <a:t>个方面的因素。</a:t>
            </a:r>
          </a:p>
        </p:txBody>
      </p:sp>
    </p:spTree>
  </p:cSld>
  <p:clrMapOvr>
    <a:masterClrMapping/>
  </p:clrMapOvr>
  <p:transition advClick="0"/>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标题 1"/>
          <p:cNvSpPr>
            <a:spLocks noGrp="1"/>
          </p:cNvSpPr>
          <p:nvPr>
            <p:ph type="title"/>
          </p:nvPr>
        </p:nvSpPr>
        <p:spPr/>
        <p:txBody>
          <a:bodyPr vert="horz" wrap="square" lIns="91440" tIns="45720" rIns="91440" bIns="45720" anchor="b" anchorCtr="0"/>
          <a:lstStyle/>
          <a:p>
            <a:r>
              <a:rPr lang="en-US" altLang="zh-CN" dirty="0"/>
              <a:t>7.6 </a:t>
            </a:r>
            <a:r>
              <a:rPr lang="zh-CN" altLang="en-US" dirty="0"/>
              <a:t>数据库的实施和维护</a:t>
            </a:r>
          </a:p>
        </p:txBody>
      </p:sp>
      <p:sp>
        <p:nvSpPr>
          <p:cNvPr id="119810" name="内容占位符 2"/>
          <p:cNvSpPr>
            <a:spLocks noGrp="1"/>
          </p:cNvSpPr>
          <p:nvPr>
            <p:ph idx="1"/>
          </p:nvPr>
        </p:nvSpPr>
        <p:spPr/>
        <p:txBody>
          <a:bodyPr vert="horz" wrap="square" lIns="91440" tIns="45720" rIns="91440" bIns="45720" anchor="t" anchorCtr="0"/>
          <a:lstStyle/>
          <a:p>
            <a:r>
              <a:rPr lang="zh-CN" altLang="en-US" dirty="0"/>
              <a:t>用关系数据库管理系统（</a:t>
            </a:r>
            <a:r>
              <a:rPr lang="en-US" altLang="zh-CN" dirty="0"/>
              <a:t>DBMS</a:t>
            </a:r>
            <a:r>
              <a:rPr lang="zh-CN" altLang="en-US" dirty="0"/>
              <a:t>），如</a:t>
            </a:r>
            <a:r>
              <a:rPr lang="en-US" altLang="zh-CN" dirty="0"/>
              <a:t>MySQL</a:t>
            </a:r>
            <a:r>
              <a:rPr lang="zh-CN" altLang="en-US" dirty="0"/>
              <a:t>，提供的数据定义语言，创建表，载入数据，然后使用高级程序设计语言进行应用程序的编程和调试。</a:t>
            </a:r>
            <a:endParaRPr lang="en-US" altLang="zh-CN" dirty="0"/>
          </a:p>
          <a:p>
            <a:r>
              <a:rPr lang="zh-CN" altLang="en-US" b="1" dirty="0"/>
              <a:t>程序的设计</a:t>
            </a:r>
            <a:r>
              <a:rPr lang="zh-CN" altLang="en-US" dirty="0"/>
              <a:t>和</a:t>
            </a:r>
            <a:r>
              <a:rPr lang="zh-CN" altLang="en-US" b="1" dirty="0"/>
              <a:t>数据库的设计</a:t>
            </a:r>
            <a:r>
              <a:rPr lang="zh-CN" altLang="en-US" dirty="0"/>
              <a:t>同时进行</a:t>
            </a:r>
            <a:endParaRPr lang="en-US" altLang="zh-CN" dirty="0"/>
          </a:p>
          <a:p>
            <a:r>
              <a:rPr lang="zh-CN" altLang="en-US" dirty="0"/>
              <a:t>数据库的试运行：</a:t>
            </a:r>
            <a:r>
              <a:rPr lang="zh-CN" altLang="en-US" b="1" dirty="0"/>
              <a:t>先载入少量数据</a:t>
            </a:r>
            <a:r>
              <a:rPr lang="zh-CN" altLang="en-US" dirty="0"/>
              <a:t>，做好备份，</a:t>
            </a:r>
            <a:r>
              <a:rPr lang="zh-CN" altLang="en-US" b="1" dirty="0"/>
              <a:t>万一发生故障</a:t>
            </a:r>
            <a:r>
              <a:rPr lang="zh-CN" altLang="en-US" dirty="0"/>
              <a:t>需要恢复。</a:t>
            </a:r>
            <a:endParaRPr lang="en-US" altLang="zh-CN" dirty="0"/>
          </a:p>
          <a:p>
            <a:r>
              <a:rPr lang="zh-CN" altLang="en-US" dirty="0"/>
              <a:t>数据库的运行和维护：备份工作，完整性、安全性，系统性能，重组织重构造等。</a:t>
            </a:r>
          </a:p>
        </p:txBody>
      </p:sp>
    </p:spTree>
  </p:cSld>
  <p:clrMapOvr>
    <a:masterClrMapping/>
  </p:clrMapOvr>
  <p:transition advClick="0"/>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标题 1"/>
          <p:cNvSpPr>
            <a:spLocks noGrp="1"/>
          </p:cNvSpPr>
          <p:nvPr>
            <p:ph type="title"/>
          </p:nvPr>
        </p:nvSpPr>
        <p:spPr/>
        <p:txBody>
          <a:bodyPr vert="horz" wrap="square" lIns="91440" tIns="45720" rIns="91440" bIns="45720" anchor="b" anchorCtr="0"/>
          <a:lstStyle/>
          <a:p>
            <a:r>
              <a:rPr lang="zh-CN" altLang="en-US" dirty="0"/>
              <a:t>数据库各级模式的形成 ：</a:t>
            </a:r>
          </a:p>
        </p:txBody>
      </p:sp>
      <p:sp>
        <p:nvSpPr>
          <p:cNvPr id="121858" name="内容占位符 2"/>
          <p:cNvSpPr>
            <a:spLocks noGrp="1"/>
          </p:cNvSpPr>
          <p:nvPr>
            <p:ph idx="1"/>
          </p:nvPr>
        </p:nvSpPr>
        <p:spPr/>
        <p:txBody>
          <a:bodyPr vert="horz" wrap="square" lIns="91440" tIns="45720" rIns="91440" bIns="45720" anchor="t" anchorCtr="0"/>
          <a:lstStyle/>
          <a:p>
            <a:pPr marL="514350" indent="-514350">
              <a:buFont typeface="Verdana" panose="020B0604030504040204" pitchFamily="34" charset="0"/>
              <a:buAutoNum type="arabicPeriod"/>
            </a:pPr>
            <a:r>
              <a:rPr lang="zh-CN" altLang="en-US" dirty="0"/>
              <a:t>需求分析阶段：综合各个用户的应用需求（现实世界的需求）。 </a:t>
            </a:r>
            <a:endParaRPr lang="en-US" altLang="zh-CN" dirty="0"/>
          </a:p>
          <a:p>
            <a:pPr marL="514350" indent="-514350">
              <a:buFont typeface="Verdana" panose="020B0604030504040204" pitchFamily="34" charset="0"/>
              <a:buAutoNum type="arabicPeriod"/>
            </a:pPr>
            <a:r>
              <a:rPr lang="zh-CN" altLang="en-US" dirty="0"/>
              <a:t>概念设计阶段：概念模式（信息世界模型），用</a:t>
            </a:r>
            <a:r>
              <a:rPr lang="en-US" altLang="zh-CN" dirty="0"/>
              <a:t>E-R</a:t>
            </a:r>
            <a:r>
              <a:rPr lang="zh-CN" altLang="en-US" dirty="0"/>
              <a:t>图来描述。 </a:t>
            </a:r>
            <a:endParaRPr lang="en-US" altLang="zh-CN" dirty="0"/>
          </a:p>
          <a:p>
            <a:pPr marL="514350" indent="-514350">
              <a:buFont typeface="Verdana" panose="020B0604030504040204" pitchFamily="34" charset="0"/>
              <a:buAutoNum type="arabicPeriod"/>
            </a:pPr>
            <a:r>
              <a:rPr lang="zh-CN" altLang="en-US" dirty="0"/>
              <a:t>逻辑设计阶段：模式、外模式。</a:t>
            </a:r>
            <a:endParaRPr lang="en-US" altLang="zh-CN" dirty="0"/>
          </a:p>
          <a:p>
            <a:pPr marL="514350" indent="-514350">
              <a:buFont typeface="Verdana" panose="020B0604030504040204" pitchFamily="34" charset="0"/>
              <a:buAutoNum type="arabicPeriod"/>
            </a:pPr>
            <a:r>
              <a:rPr lang="zh-CN" altLang="en-US" dirty="0"/>
              <a:t>物理设计阶段：内模式。</a:t>
            </a:r>
          </a:p>
        </p:txBody>
      </p:sp>
    </p:spTree>
  </p:cSld>
  <p:clrMapOvr>
    <a:masterClrMapping/>
  </p:clrMapOvr>
  <p:transition advClick="0"/>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标题 1"/>
          <p:cNvSpPr>
            <a:spLocks noGrp="1"/>
          </p:cNvSpPr>
          <p:nvPr>
            <p:ph type="title"/>
          </p:nvPr>
        </p:nvSpPr>
        <p:spPr/>
        <p:txBody>
          <a:bodyPr vert="horz" wrap="square" lIns="91440" tIns="45720" rIns="91440" bIns="45720" anchor="b" anchorCtr="0"/>
          <a:lstStyle/>
          <a:p>
            <a:r>
              <a:rPr lang="zh-CN" altLang="en-US" dirty="0"/>
              <a:t>数据库设计的关键步骤</a:t>
            </a:r>
          </a:p>
        </p:txBody>
      </p:sp>
      <p:sp>
        <p:nvSpPr>
          <p:cNvPr id="122882" name="内容占位符 2"/>
          <p:cNvSpPr>
            <a:spLocks noGrp="1"/>
          </p:cNvSpPr>
          <p:nvPr>
            <p:ph idx="1"/>
          </p:nvPr>
        </p:nvSpPr>
        <p:spPr/>
        <p:txBody>
          <a:bodyPr vert="horz" wrap="square" lIns="91440" tIns="45720" rIns="91440" bIns="45720" anchor="t" anchorCtr="0"/>
          <a:lstStyle/>
          <a:p>
            <a:pPr marL="514350" indent="-514350">
              <a:buFont typeface="Verdana" panose="020B0604030504040204" pitchFamily="34" charset="0"/>
              <a:buAutoNum type="arabicPeriod"/>
            </a:pPr>
            <a:r>
              <a:rPr lang="zh-CN" altLang="en-US" sz="2800" dirty="0"/>
              <a:t>概念结构设计 ：</a:t>
            </a:r>
            <a:r>
              <a:rPr lang="en-US" altLang="zh-CN" sz="2800" b="1" dirty="0">
                <a:solidFill>
                  <a:srgbClr val="FF0000"/>
                </a:solidFill>
              </a:rPr>
              <a:t>E-R</a:t>
            </a:r>
            <a:r>
              <a:rPr lang="zh-CN" altLang="en-US" sz="2800" b="1" dirty="0">
                <a:solidFill>
                  <a:srgbClr val="FF0000"/>
                </a:solidFill>
              </a:rPr>
              <a:t>模型</a:t>
            </a:r>
            <a:r>
              <a:rPr lang="zh-CN" altLang="en-US" sz="2800" dirty="0"/>
              <a:t>的设计 </a:t>
            </a:r>
            <a:endParaRPr lang="en-US" altLang="zh-CN" sz="2800" dirty="0"/>
          </a:p>
          <a:p>
            <a:pPr marL="514350" indent="-514350">
              <a:buFont typeface="Verdana" panose="020B0604030504040204" pitchFamily="34" charset="0"/>
              <a:buAutoNum type="arabicPeriod"/>
            </a:pPr>
            <a:r>
              <a:rPr lang="zh-CN" altLang="en-US" sz="2800" dirty="0"/>
              <a:t>在逻辑设计阶段：将</a:t>
            </a:r>
            <a:r>
              <a:rPr lang="en-US" altLang="zh-CN" sz="2800" dirty="0"/>
              <a:t>E-R</a:t>
            </a:r>
            <a:r>
              <a:rPr lang="zh-CN" altLang="en-US" sz="2800" dirty="0"/>
              <a:t>图转换成具体的数据库产品支持的数据模型如关系模型，形成数据库逻辑</a:t>
            </a:r>
            <a:r>
              <a:rPr lang="zh-CN" altLang="en-US" sz="2800" b="1" dirty="0">
                <a:solidFill>
                  <a:srgbClr val="FF0000"/>
                </a:solidFill>
              </a:rPr>
              <a:t>模式</a:t>
            </a:r>
            <a:r>
              <a:rPr lang="zh-CN" altLang="en-US" sz="2800" dirty="0"/>
              <a:t>。 然后根据用户处理的要求，安全性的考虑，在基本表的基础上再建立必要的视图，形成数据的</a:t>
            </a:r>
            <a:r>
              <a:rPr lang="zh-CN" altLang="en-US" sz="2800" b="1" dirty="0">
                <a:solidFill>
                  <a:srgbClr val="FF0000"/>
                </a:solidFill>
              </a:rPr>
              <a:t>外模式</a:t>
            </a:r>
            <a:r>
              <a:rPr lang="zh-CN" altLang="en-US" sz="2800" dirty="0">
                <a:solidFill>
                  <a:srgbClr val="FF0000"/>
                </a:solidFill>
              </a:rPr>
              <a:t> </a:t>
            </a:r>
            <a:endParaRPr lang="en-US" altLang="zh-CN" sz="2800" dirty="0">
              <a:solidFill>
                <a:srgbClr val="FF0000"/>
              </a:solidFill>
            </a:endParaRPr>
          </a:p>
          <a:p>
            <a:pPr marL="514350" indent="-514350">
              <a:buFont typeface="Verdana" panose="020B0604030504040204" pitchFamily="34" charset="0"/>
              <a:buAutoNum type="arabicPeriod"/>
            </a:pPr>
            <a:r>
              <a:rPr lang="zh-CN" altLang="en-US" sz="2800" dirty="0"/>
              <a:t>在物理设计阶段：根据</a:t>
            </a:r>
            <a:r>
              <a:rPr lang="en-US" altLang="zh-CN" sz="2800" dirty="0"/>
              <a:t>DBMS</a:t>
            </a:r>
            <a:r>
              <a:rPr lang="zh-CN" altLang="en-US" sz="2800" dirty="0"/>
              <a:t>特点和处理的需要，进行物理存储安排，设计索引，形成数据库</a:t>
            </a:r>
            <a:r>
              <a:rPr lang="zh-CN" altLang="en-US" sz="2800" b="1" dirty="0">
                <a:solidFill>
                  <a:srgbClr val="FF0000"/>
                </a:solidFill>
              </a:rPr>
              <a:t>内模式</a:t>
            </a:r>
          </a:p>
        </p:txBody>
      </p:sp>
    </p:spTree>
  </p:cSld>
  <p:clrMapOvr>
    <a:masterClrMapping/>
  </p:clrMapOvr>
  <p:transition advClick="0"/>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标题 1"/>
          <p:cNvSpPr>
            <a:spLocks noGrp="1"/>
          </p:cNvSpPr>
          <p:nvPr>
            <p:ph type="title"/>
          </p:nvPr>
        </p:nvSpPr>
        <p:spPr/>
        <p:txBody>
          <a:bodyPr vert="horz" wrap="square" lIns="91440" tIns="45720" rIns="91440" bIns="45720" anchor="b" anchorCtr="0"/>
          <a:lstStyle/>
          <a:p>
            <a:r>
              <a:rPr lang="zh-CN" altLang="en-US" dirty="0"/>
              <a:t>小结</a:t>
            </a:r>
          </a:p>
        </p:txBody>
      </p:sp>
      <p:sp>
        <p:nvSpPr>
          <p:cNvPr id="120834" name="内容占位符 2"/>
          <p:cNvSpPr>
            <a:spLocks noGrp="1"/>
          </p:cNvSpPr>
          <p:nvPr>
            <p:ph idx="1"/>
          </p:nvPr>
        </p:nvSpPr>
        <p:spPr/>
        <p:txBody>
          <a:bodyPr vert="horz" wrap="square" lIns="91440" tIns="45720" rIns="91440" bIns="45720" anchor="t" anchorCtr="0"/>
          <a:lstStyle/>
          <a:p>
            <a:r>
              <a:rPr lang="zh-CN" altLang="en-US" dirty="0"/>
              <a:t>数据库的设计过程 ：</a:t>
            </a:r>
            <a:endParaRPr lang="en-US" altLang="zh-CN" dirty="0"/>
          </a:p>
          <a:p>
            <a:r>
              <a:rPr lang="zh-CN" altLang="en-US" dirty="0"/>
              <a:t>需求分析 </a:t>
            </a:r>
            <a:endParaRPr lang="en-US" altLang="zh-CN" dirty="0"/>
          </a:p>
          <a:p>
            <a:r>
              <a:rPr lang="zh-CN" altLang="en-US" dirty="0"/>
              <a:t>概念结构设计 </a:t>
            </a:r>
            <a:endParaRPr lang="en-US" altLang="zh-CN" dirty="0"/>
          </a:p>
          <a:p>
            <a:r>
              <a:rPr lang="zh-CN" altLang="en-US" dirty="0"/>
              <a:t>逻辑结构设计 </a:t>
            </a:r>
            <a:endParaRPr lang="en-US" altLang="zh-CN" dirty="0"/>
          </a:p>
          <a:p>
            <a:r>
              <a:rPr lang="zh-CN" altLang="en-US" dirty="0"/>
              <a:t>物理结构设计 </a:t>
            </a:r>
            <a:endParaRPr lang="en-US" altLang="zh-CN" dirty="0"/>
          </a:p>
          <a:p>
            <a:r>
              <a:rPr lang="zh-CN" altLang="en-US" dirty="0"/>
              <a:t>数据库实施 </a:t>
            </a:r>
            <a:endParaRPr lang="en-US" altLang="zh-CN" dirty="0"/>
          </a:p>
          <a:p>
            <a:r>
              <a:rPr lang="zh-CN" altLang="en-US" dirty="0"/>
              <a:t>数据库运行维护 </a:t>
            </a:r>
            <a:endParaRPr lang="en-US" altLang="zh-CN" dirty="0"/>
          </a:p>
          <a:p>
            <a:r>
              <a:rPr lang="zh-CN" altLang="en-US" dirty="0"/>
              <a:t>设计过程中往往还会有许多反复</a:t>
            </a:r>
          </a:p>
        </p:txBody>
      </p:sp>
    </p:spTree>
  </p:cSld>
  <p:clrMapOvr>
    <a:masterClrMapping/>
  </p:clrMapOvr>
  <p:transition advClick="0"/>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42.12742759795566,&quot;left&quot;:374.62503937007875,&quot;top&quot;:228.2,&quot;width&quot;:524.1}"/>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42.12742759795566,&quot;left&quot;:374.62503937007875,&quot;top&quot;:228.2,&quot;width&quot;:524.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42.12742759795566,&quot;left&quot;:374.62503937007875,&quot;top&quot;:228.2,&quot;width&quot;:524.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42.12742759795566,&quot;left&quot;:374.62503937007875,&quot;top&quot;:228.2,&quot;width&quot;:524.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42.12742759795566,&quot;left&quot;:374.62503937007875,&quot;top&quot;:228.2,&quot;width&quot;:524.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42.12742759795566,&quot;left&quot;:374.62503937007875,&quot;top&quot;:228.2,&quot;width&quot;:524.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42.12742759795566,&quot;left&quot;:374.62503937007875,&quot;top&quot;:228.2,&quot;width&quot;:524.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42.12742759795566,&quot;left&quot;:374.62503937007875,&quot;top&quot;:228.2,&quot;width&quot;:524.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42.12742759795566,&quot;left&quot;:374.62503937007875,&quot;top&quot;:228.2,&quot;width&quot;:524.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42.12742759795566,&quot;left&quot;:374.62503937007875,&quot;top&quot;:228.2,&quot;width&quot;:524.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42.12742759795566,&quot;left&quot;:374.62503937007875,&quot;top&quot;:228.2,&quot;width&quot;:524.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42.12742759795566,&quot;left&quot;:374.62503937007875,&quot;top&quot;:228.2,&quot;width&quot;:524.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13.75000000000006,&quot;left&quot;:405,&quot;top&quot;:153.12503937007872,&quot;width&quot;:303.1250393700787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162,&quot;left&quot;:153.55,&quot;top&quot;:286.65,&quot;width&quot;:599.55}"/>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2_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46</TotalTime>
  <Words>5823</Words>
  <Application>Microsoft Office PowerPoint</Application>
  <PresentationFormat>自定义</PresentationFormat>
  <Paragraphs>805</Paragraphs>
  <Slides>115</Slides>
  <Notes>6</Notes>
  <HiddenSlides>0</HiddenSlides>
  <MMClips>0</MMClips>
  <ScaleCrop>false</ScaleCrop>
  <HeadingPairs>
    <vt:vector size="6" baseType="variant">
      <vt:variant>
        <vt:lpstr>主题</vt:lpstr>
      </vt:variant>
      <vt:variant>
        <vt:i4>2</vt:i4>
      </vt:variant>
      <vt:variant>
        <vt:lpstr>嵌入 OLE 服务器</vt:lpstr>
      </vt:variant>
      <vt:variant>
        <vt:i4>0</vt:i4>
      </vt:variant>
      <vt:variant>
        <vt:lpstr>幻灯片标题</vt:lpstr>
      </vt:variant>
      <vt:variant>
        <vt:i4>115</vt:i4>
      </vt:variant>
    </vt:vector>
  </HeadingPairs>
  <TitlesOfParts>
    <vt:vector size="117" baseType="lpstr">
      <vt:lpstr>Profile</vt:lpstr>
      <vt:lpstr>2_Profile</vt:lpstr>
      <vt:lpstr>数据库设计选题</vt:lpstr>
      <vt:lpstr>第七章  数据库设计</vt:lpstr>
      <vt:lpstr>7.1 数据库设计概述</vt:lpstr>
      <vt:lpstr>7.1 数据库设计概述</vt:lpstr>
      <vt:lpstr>7.1 数据库设计概述</vt:lpstr>
      <vt:lpstr>7.1.1 数据库设计的特点</vt:lpstr>
      <vt:lpstr>7.1.1 数据库设计的特点</vt:lpstr>
      <vt:lpstr>PowerPoint 演示文稿</vt:lpstr>
      <vt:lpstr>7.1.2 数据库设计方法</vt:lpstr>
      <vt:lpstr>7.1.2 数据库设计方法</vt:lpstr>
      <vt:lpstr>7.1.3 数据库设计的基本步骤</vt:lpstr>
      <vt:lpstr>PowerPoint 演示文稿</vt:lpstr>
      <vt:lpstr>参加数据库设计的人员 </vt:lpstr>
      <vt:lpstr>数据库设计的基本步骤</vt:lpstr>
      <vt:lpstr>数据库设计的基本步骤（续）</vt:lpstr>
      <vt:lpstr>数据库设计的基本步骤（续）</vt:lpstr>
      <vt:lpstr>PowerPoint 演示文稿</vt:lpstr>
      <vt:lpstr>数据库设计过程中的各级模式</vt:lpstr>
      <vt:lpstr>第七章  数据库设计</vt:lpstr>
      <vt:lpstr>7.2  需求分析</vt:lpstr>
      <vt:lpstr>需求分析（续）</vt:lpstr>
      <vt:lpstr>一、需求分析的任务</vt:lpstr>
      <vt:lpstr>二、需求分析的重点</vt:lpstr>
      <vt:lpstr>三、需求分析的难点</vt:lpstr>
      <vt:lpstr>7.2  需求分析</vt:lpstr>
      <vt:lpstr>7.2.2  需求分析的方法</vt:lpstr>
      <vt:lpstr>一、 调查与初步分析用户需求</vt:lpstr>
      <vt:lpstr>调查与初步分析用户需求（续）</vt:lpstr>
      <vt:lpstr>调查与初步分析用户需求（续）</vt:lpstr>
      <vt:lpstr>调查与初步分析用户需求（续）</vt:lpstr>
      <vt:lpstr>二、常用调查方法</vt:lpstr>
      <vt:lpstr>常用调查方法（续）</vt:lpstr>
      <vt:lpstr>常用调查方法（续）</vt:lpstr>
      <vt:lpstr>三、进一步分析和表达用户需求</vt:lpstr>
      <vt:lpstr>进一步分析和表达用户需求（续）</vt:lpstr>
      <vt:lpstr>进一步分析和表达用户需求（续）</vt:lpstr>
      <vt:lpstr>进一步分析和表达用户需求（续）</vt:lpstr>
      <vt:lpstr>四、需求分析过程</vt:lpstr>
      <vt:lpstr>7.2  需求分析</vt:lpstr>
      <vt:lpstr>一、数据字典</vt:lpstr>
      <vt:lpstr>二、数据字典的内容</vt:lpstr>
      <vt:lpstr>⒈ 数据项</vt:lpstr>
      <vt:lpstr>数据项举例</vt:lpstr>
      <vt:lpstr>⒉ 数据结构</vt:lpstr>
      <vt:lpstr>数据结构举例</vt:lpstr>
      <vt:lpstr>⒊ 数据流</vt:lpstr>
      <vt:lpstr>数据流举例1</vt:lpstr>
      <vt:lpstr>数据流举例2</vt:lpstr>
      <vt:lpstr>⒋ 数据存储</vt:lpstr>
      <vt:lpstr>数据存储举例</vt:lpstr>
      <vt:lpstr>⒌ 处理过程</vt:lpstr>
      <vt:lpstr>处理过程（续）</vt:lpstr>
      <vt:lpstr>处理过程举例</vt:lpstr>
      <vt:lpstr>强调两点</vt:lpstr>
      <vt:lpstr> 第七章 数据库设计 </vt:lpstr>
      <vt:lpstr>7.4 逻辑结构设计</vt:lpstr>
      <vt:lpstr>转换内容 </vt:lpstr>
      <vt:lpstr>转换原则 </vt:lpstr>
      <vt:lpstr>（1）1:1的联系 </vt:lpstr>
      <vt:lpstr>例题：</vt:lpstr>
      <vt:lpstr>提问：</vt:lpstr>
      <vt:lpstr>（2）1:n的联系 </vt:lpstr>
      <vt:lpstr>例题：</vt:lpstr>
      <vt:lpstr>提问：</vt:lpstr>
      <vt:lpstr>（3） m:n的联系 </vt:lpstr>
      <vt:lpstr>提问</vt:lpstr>
      <vt:lpstr>（4）三个或三个以上实体间联系</vt:lpstr>
      <vt:lpstr>提问：</vt:lpstr>
      <vt:lpstr>（5）一个实体内部的联系</vt:lpstr>
      <vt:lpstr>一个实例</vt:lpstr>
      <vt:lpstr>（5）具有相同码的关系</vt:lpstr>
      <vt:lpstr>综合例题</vt:lpstr>
      <vt:lpstr>7.4 逻辑结构设计</vt:lpstr>
      <vt:lpstr>数据模型的优化</vt:lpstr>
      <vt:lpstr>优化数据模型的方法:</vt:lpstr>
      <vt:lpstr>优化数据模型的方法:</vt:lpstr>
      <vt:lpstr>优化数据模型的方法:</vt:lpstr>
      <vt:lpstr>优化数据模型的方法:</vt:lpstr>
      <vt:lpstr>7.3  概念结构设计</vt:lpstr>
      <vt:lpstr>7.3.1  概念结构</vt:lpstr>
      <vt:lpstr>概念结构（续）</vt:lpstr>
      <vt:lpstr>7.3 概念结构设计</vt:lpstr>
      <vt:lpstr>7.3.2 E-R模型</vt:lpstr>
      <vt:lpstr>实体之间的联系</vt:lpstr>
      <vt:lpstr>实体之间的联系</vt:lpstr>
      <vt:lpstr>实体之间的联系</vt:lpstr>
      <vt:lpstr>一个实例</vt:lpstr>
      <vt:lpstr>学籍管理系统实例</vt:lpstr>
      <vt:lpstr>7.3 概念结构设计</vt:lpstr>
      <vt:lpstr>1. 实体与属性的划分原则 </vt:lpstr>
      <vt:lpstr>1. 实体与属性的划分原则 </vt:lpstr>
      <vt:lpstr>1. 实体与属性的划分原则 </vt:lpstr>
      <vt:lpstr>1. 实体与属性的划分原则 </vt:lpstr>
      <vt:lpstr>1. 实体与属性的划分原则 </vt:lpstr>
      <vt:lpstr>2.E-R图的集成</vt:lpstr>
      <vt:lpstr>教师，教学班，学生</vt:lpstr>
      <vt:lpstr>排课：教学班，时间片，教室</vt:lpstr>
      <vt:lpstr>汇总</vt:lpstr>
      <vt:lpstr>集成两步走</vt:lpstr>
      <vt:lpstr>“教师教学管理”，“学生选课系统”合并</vt:lpstr>
      <vt:lpstr>集成两步走</vt:lpstr>
      <vt:lpstr>冗余举例：</vt:lpstr>
      <vt:lpstr>合并</vt:lpstr>
      <vt:lpstr>PowerPoint 演示文稿</vt:lpstr>
      <vt:lpstr>7.4 逻辑结构设计</vt:lpstr>
      <vt:lpstr>7.4.3 设计用户子模式</vt:lpstr>
      <vt:lpstr>第七章 数据库设计</vt:lpstr>
      <vt:lpstr>什么是数据库的物理设计 </vt:lpstr>
      <vt:lpstr>数据库物理设计的步骤  </vt:lpstr>
      <vt:lpstr>存取方法</vt:lpstr>
      <vt:lpstr>存放位置和存储结构</vt:lpstr>
      <vt:lpstr>7.6 数据库的实施和维护</vt:lpstr>
      <vt:lpstr>数据库各级模式的形成 ：</vt:lpstr>
      <vt:lpstr>数据库设计的关键步骤</vt:lpstr>
      <vt:lpstr>小结</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补充知识</dc:title>
  <dc:creator>微软用户</dc:creator>
  <cp:lastModifiedBy>Windows 用户</cp:lastModifiedBy>
  <cp:revision>306</cp:revision>
  <dcterms:created xsi:type="dcterms:W3CDTF">2014-03-04T01:24:00Z</dcterms:created>
  <dcterms:modified xsi:type="dcterms:W3CDTF">2026-06-03T14:24:41Z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A4A5E6F1EF674154852693CBB75A7CA5_12</vt:lpwstr>
  </property>
  <property fmtid="{D5CDD505-2E9C-101B-9397-08002B2CF9AE}" pid="3" name="KSOProductBuildVer">
    <vt:lpwstr>2052-12.1.0.26375</vt:lpwstr>
  </property>
</Properties>
</file>